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1778000" y="1752600"/>
            <a:ext cx="5588000" cy="8001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4400">
                <a:solidFill>
                  <a:srgbClr val="FFFFFF"/>
                </a:solidFill>
                <a:latin typeface="Microsoft YaHei"/>
              </a:rPr>
              <a:t>Typography Test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2667000"/>
            <a:ext cx="7874000" cy="711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2000">
                <a:solidFill>
                  <a:srgbClr val="9FA8DA"/>
                </a:solidFill>
                <a:latin typeface="Microsoft YaHei"/>
              </a:rPr>
              <a:t>Testing all heading levels, font sizes and text styles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508000"/>
            <a:ext cx="7874000" cy="6477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3600">
                <a:latin typeface="Microsoft YaHei"/>
              </a:rPr>
              <a:t>Heading 1 — 36pt Bold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874000" cy="5080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800">
                <a:solidFill>
                  <a:srgbClr val="1A237E"/>
                </a:solidFill>
                <a:latin typeface="Microsoft YaHei"/>
              </a:rPr>
              <a:t>Heading 2 — 28pt Bold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35000" y="2019300"/>
            <a:ext cx="7874000" cy="4445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latin typeface="Microsoft YaHei"/>
              </a:rPr>
              <a:t>Heading 3 — 24pt Bold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635000" y="2578100"/>
            <a:ext cx="7874000" cy="3556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000">
                <a:latin typeface="Microsoft YaHei"/>
              </a:rPr>
              <a:t>Heading 4 — 20pt Bold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635000" y="3060700"/>
            <a:ext cx="7874000" cy="330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1800">
                <a:latin typeface="Microsoft YaHei"/>
              </a:rPr>
              <a:t>Heading 5 — 18pt Bold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635000" y="3505200"/>
            <a:ext cx="7874000" cy="2921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1600">
                <a:latin typeface="Microsoft YaHei"/>
              </a:rPr>
              <a:t>Heading 6 — 16pt Bold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635000" y="3911600"/>
            <a:ext cx="7874000" cy="330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800">
                <a:latin typeface="Microsoft YaHei"/>
              </a:rPr>
              <a:t>Normal paragraph text — 18pt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508000"/>
            <a:ext cx="7874000" cy="5080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800">
                <a:solidFill>
                  <a:srgbClr val="1A237E"/>
                </a:solidFill>
                <a:latin typeface="Microsoft YaHei"/>
              </a:rPr>
              <a:t>Inline Formatting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57300"/>
            <a:ext cx="7874000" cy="330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800">
                <a:latin typeface="Microsoft YaHei"/>
              </a:rPr>
              <a:t>This is </a:t>
            </a:r>
            <a:r>
              <a:rPr lang="en-US" b="true" i="false" u="none" sz="1800">
                <a:latin typeface="Microsoft YaHei"/>
              </a:rPr>
              <a:t>bold text</a:t>
            </a:r>
            <a:r>
              <a:rPr lang="en-US" b="false" i="false" u="none" sz="1800">
                <a:latin typeface="Microsoft YaHei"/>
              </a:rPr>
              <a:t> within a paragraph.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35000" y="1701800"/>
            <a:ext cx="7874000" cy="330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800">
                <a:latin typeface="Microsoft YaHei"/>
              </a:rPr>
              <a:t>This is </a:t>
            </a:r>
            <a:r>
              <a:rPr lang="en-US" b="false" i="true" u="none" sz="1800">
                <a:latin typeface="Microsoft YaHei"/>
              </a:rPr>
              <a:t>italic text</a:t>
            </a:r>
            <a:r>
              <a:rPr lang="en-US" b="false" i="false" u="none" sz="1800">
                <a:latin typeface="Microsoft YaHei"/>
              </a:rPr>
              <a:t> within a paragraph.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635000" y="2146300"/>
            <a:ext cx="7874000" cy="330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800">
                <a:latin typeface="Microsoft YaHei"/>
              </a:rPr>
              <a:t>This is </a:t>
            </a:r>
            <a:r>
              <a:rPr lang="en-US" b="false" i="false" u="sng" sz="1800">
                <a:latin typeface="Microsoft YaHei"/>
              </a:rPr>
              <a:t>underlined text</a:t>
            </a:r>
            <a:r>
              <a:rPr lang="en-US" b="false" i="false" u="none" sz="1800">
                <a:latin typeface="Microsoft YaHei"/>
              </a:rPr>
              <a:t> within a paragraph.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635000" y="2590800"/>
            <a:ext cx="7874000" cy="330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800">
                <a:latin typeface="Microsoft YaHei"/>
              </a:rPr>
              <a:t>This is </a:t>
            </a:r>
            <a:r>
              <a:rPr lang="en-US" b="true" i="false" u="none" sz="1800">
                <a:latin typeface="Microsoft YaHei"/>
              </a:rPr>
              <a:t>bold italic</a:t>
            </a:r>
            <a:r>
              <a:rPr lang="en-US" b="false" i="false" u="none" sz="1800">
                <a:latin typeface="Microsoft YaHei"/>
              </a:rPr>
              <a:t> combined.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635000" y="3048000"/>
            <a:ext cx="7874000" cy="330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800">
                <a:latin typeface="Microsoft YaHei"/>
              </a:rPr>
              <a:t>This has </a:t>
            </a:r>
            <a:r>
              <a:rPr lang="en-US" b="true" i="false" u="none" sz="1800">
                <a:latin typeface="Microsoft YaHei"/>
              </a:rPr>
              <a:t>bold</a:t>
            </a:r>
            <a:r>
              <a:rPr lang="en-US" b="false" i="false" u="none" sz="1800">
                <a:latin typeface="Microsoft YaHei"/>
              </a:rPr>
              <a:t>, </a:t>
            </a:r>
            <a:r>
              <a:rPr lang="en-US" b="false" i="true" u="none" sz="1800">
                <a:latin typeface="Microsoft YaHei"/>
              </a:rPr>
              <a:t>italic</a:t>
            </a:r>
            <a:r>
              <a:rPr lang="en-US" b="false" i="false" u="none" sz="1800">
                <a:latin typeface="Microsoft YaHei"/>
              </a:rPr>
              <a:t>, and </a:t>
            </a:r>
            <a:r>
              <a:rPr lang="en-US" b="false" i="false" u="sng" sz="1800">
                <a:latin typeface="Microsoft YaHei"/>
              </a:rPr>
              <a:t>underline</a:t>
            </a:r>
            <a:r>
              <a:rPr lang="en-US" b="false" i="false" u="none" sz="1800">
                <a:latin typeface="Microsoft YaHei"/>
              </a:rPr>
              <a:t> mixed in one line.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635000" y="3492500"/>
            <a:ext cx="7874000" cy="330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800">
                <a:latin typeface="Microsoft YaHei"/>
              </a:rPr>
              <a:t>Using </a:t>
            </a:r>
            <a:r>
              <a:rPr lang="en-US" b="true" i="false" u="none" sz="1800">
                <a:latin typeface="Microsoft YaHei"/>
              </a:rPr>
              <a:t>strong</a:t>
            </a:r>
            <a:r>
              <a:rPr lang="en-US" b="false" i="false" u="none" sz="1800">
                <a:latin typeface="Microsoft YaHei"/>
              </a:rPr>
              <a:t> and </a:t>
            </a:r>
            <a:r>
              <a:rPr lang="en-US" b="false" i="true" u="none" sz="1800">
                <a:latin typeface="Microsoft YaHei"/>
              </a:rPr>
              <a:t>emphasis</a:t>
            </a:r>
            <a:r>
              <a:rPr lang="en-US" b="false" i="false" u="none" sz="1800">
                <a:latin typeface="Microsoft YaHei"/>
              </a:rPr>
              <a:t> tags.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508000"/>
            <a:ext cx="7874000" cy="5080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800">
                <a:solidFill>
                  <a:srgbClr val="1A237E"/>
                </a:solidFill>
                <a:latin typeface="Microsoft YaHei"/>
              </a:rPr>
              <a:t>Font Size Scale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635000" y="1257300"/>
            <a:ext cx="7874000" cy="3378200"/>
            <a:chOff x="0" y="0"/>
            <a:chExt cx="7874000" cy="33782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7874000" cy="3378200"/>
              <a:chOff x="0" y="0"/>
              <a:chExt cx="7874000" cy="3378200"/>
            </a:xfrm>
          </p:grpSpPr>
          <p:sp>
            <p:nvSpPr>
              <p:cNvPr name="AutoShape 5" id="5"/>
              <p:cNvSpPr/>
              <p:nvPr/>
            </p:nvSpPr>
            <p:spPr>
              <a:xfrm>
                <a:off x="0" y="0"/>
                <a:ext cx="7874000" cy="520700"/>
              </a:xfrm>
              <a:prstGeom prst="roundRect">
                <a:avLst/>
              </a:prstGeom>
              <a:solidFill>
                <a:srgbClr val="E8EAF6"/>
              </a:solidFill>
              <a:ln>
                <a:noFill/>
              </a:ln>
            </p:spPr>
          </p:sp>
          <p:grpSp>
            <p:nvGrpSpPr>
              <p:cNvPr name="Group 6" id="6"/>
              <p:cNvGrpSpPr/>
              <p:nvPr/>
            </p:nvGrpSpPr>
            <p:grpSpPr>
              <a:xfrm>
                <a:off x="0" y="0"/>
                <a:ext cx="7874000" cy="520700"/>
                <a:chOff x="0" y="0"/>
                <a:chExt cx="7874000" cy="520700"/>
              </a:xfrm>
            </p:grpSpPr>
            <p:sp>
              <p:nvSpPr>
                <p:cNvPr name="TextBox 7" id="7"/>
                <p:cNvSpPr txBox="true"/>
                <p:nvPr/>
              </p:nvSpPr>
              <p:spPr>
                <a:xfrm>
                  <a:off x="152400" y="152400"/>
                  <a:ext cx="7569200" cy="2159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200">
                      <a:latin typeface="Microsoft YaHei"/>
                    </a:rPr>
                    <a:t>12pt — Small caption text</a:t>
                  </a:r>
                </a:p>
              </p:txBody>
            </p:sp>
          </p:grpSp>
          <p:sp>
            <p:nvSpPr>
              <p:cNvPr name="AutoShape 8" id="8"/>
              <p:cNvSpPr/>
              <p:nvPr/>
            </p:nvSpPr>
            <p:spPr>
              <a:xfrm>
                <a:off x="0" y="622300"/>
                <a:ext cx="7874000" cy="622300"/>
              </a:xfrm>
              <a:prstGeom prst="roundRect">
                <a:avLst/>
              </a:prstGeom>
              <a:solidFill>
                <a:srgbClr val="E8EAF6"/>
              </a:solidFill>
              <a:ln>
                <a:noFill/>
              </a:ln>
            </p:spPr>
          </p:sp>
          <p:grpSp>
            <p:nvGrpSpPr>
              <p:cNvPr name="Group 9" id="9"/>
              <p:cNvGrpSpPr/>
              <p:nvPr/>
            </p:nvGrpSpPr>
            <p:grpSpPr>
              <a:xfrm>
                <a:off x="0" y="622300"/>
                <a:ext cx="7874000" cy="622300"/>
                <a:chOff x="0" y="0"/>
                <a:chExt cx="7874000" cy="622300"/>
              </a:xfrm>
            </p:grpSpPr>
            <p:sp>
              <p:nvSpPr>
                <p:cNvPr name="TextBox 10" id="10"/>
                <p:cNvSpPr txBox="true"/>
                <p:nvPr/>
              </p:nvSpPr>
              <p:spPr>
                <a:xfrm>
                  <a:off x="152400" y="152400"/>
                  <a:ext cx="7569200" cy="330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800">
                      <a:latin typeface="Microsoft YaHei"/>
                    </a:rPr>
                    <a:t>18pt — Body text</a:t>
                  </a:r>
                </a:p>
              </p:txBody>
            </p:sp>
          </p:grpSp>
          <p:sp>
            <p:nvSpPr>
              <p:cNvPr name="AutoShape 11" id="11"/>
              <p:cNvSpPr/>
              <p:nvPr/>
            </p:nvSpPr>
            <p:spPr>
              <a:xfrm>
                <a:off x="0" y="1346200"/>
                <a:ext cx="7874000" cy="800100"/>
              </a:xfrm>
              <a:prstGeom prst="roundRect">
                <a:avLst/>
              </a:prstGeom>
              <a:solidFill>
                <a:srgbClr val="E8EAF6"/>
              </a:solidFill>
              <a:ln>
                <a:noFill/>
              </a:ln>
            </p:spPr>
          </p:sp>
          <p:grpSp>
            <p:nvGrpSpPr>
              <p:cNvPr name="Group 12" id="12"/>
              <p:cNvGrpSpPr/>
              <p:nvPr/>
            </p:nvGrpSpPr>
            <p:grpSpPr>
              <a:xfrm>
                <a:off x="0" y="1346200"/>
                <a:ext cx="7874000" cy="800100"/>
                <a:chOff x="0" y="0"/>
                <a:chExt cx="7874000" cy="800100"/>
              </a:xfrm>
            </p:grpSpPr>
            <p:sp>
              <p:nvSpPr>
                <p:cNvPr name="TextBox 13" id="13"/>
                <p:cNvSpPr txBox="true"/>
                <p:nvPr/>
              </p:nvSpPr>
              <p:spPr>
                <a:xfrm>
                  <a:off x="152400" y="152400"/>
                  <a:ext cx="7569200" cy="5080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2800">
                      <a:latin typeface="Microsoft YaHei"/>
                    </a:rPr>
                    <a:t>28pt — Large heading</a:t>
                  </a:r>
                </a:p>
              </p:txBody>
            </p:sp>
          </p:grpSp>
          <p:sp>
            <p:nvSpPr>
              <p:cNvPr name="AutoShape 14" id="14"/>
              <p:cNvSpPr/>
              <p:nvPr/>
            </p:nvSpPr>
            <p:spPr>
              <a:xfrm>
                <a:off x="0" y="2247900"/>
                <a:ext cx="7874000" cy="952500"/>
              </a:xfrm>
              <a:prstGeom prst="roundRect">
                <a:avLst/>
              </a:prstGeom>
              <a:solidFill>
                <a:srgbClr val="E8EAF6"/>
              </a:solidFill>
              <a:ln>
                <a:noFill/>
              </a:ln>
            </p:spPr>
          </p:sp>
          <p:grpSp>
            <p:nvGrpSpPr>
              <p:cNvPr name="Group 15" id="15"/>
              <p:cNvGrpSpPr/>
              <p:nvPr/>
            </p:nvGrpSpPr>
            <p:grpSpPr>
              <a:xfrm>
                <a:off x="0" y="2247900"/>
                <a:ext cx="7874000" cy="952500"/>
                <a:chOff x="0" y="0"/>
                <a:chExt cx="7874000" cy="952500"/>
              </a:xfrm>
            </p:grpSpPr>
            <p:sp>
              <p:nvSpPr>
                <p:cNvPr name="TextBox 16" id="16"/>
                <p:cNvSpPr txBox="true"/>
                <p:nvPr/>
              </p:nvSpPr>
              <p:spPr>
                <a:xfrm>
                  <a:off x="152400" y="152400"/>
                  <a:ext cx="7569200" cy="6477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3600">
                      <a:latin typeface="Microsoft YaHei"/>
                    </a:rPr>
                    <a:t>36pt — Extra large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508000"/>
            <a:ext cx="7874000" cy="5080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800">
                <a:solidFill>
                  <a:srgbClr val="1A237E"/>
                </a:solidFill>
                <a:latin typeface="Microsoft YaHei"/>
              </a:rPr>
              <a:t>CJK 混合文本测试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57300"/>
            <a:ext cx="7874000" cy="330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800">
                <a:ea typeface="Microsoft YaHei"/>
              </a:rPr>
              <a:t>纯中文：这是一段中文测试文本，用于验证排版效果。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35000" y="1701800"/>
            <a:ext cx="7874000" cy="6477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800">
                <a:latin typeface="Microsoft YaHei"/>
              </a:rPr>
              <a:t>Pure English: The quick brown fox jumps over the lazy dog.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635000" y="2463800"/>
            <a:ext cx="7874000" cy="330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800">
                <a:ea typeface="Microsoft YaHei"/>
              </a:rPr>
              <a:t>混合 Mixed: 在React 18中实现了Server Components功能。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635000" y="2921000"/>
            <a:ext cx="7874000" cy="330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800">
                <a:ea typeface="Microsoft YaHei"/>
              </a:rPr>
              <a:t>日本語テスト：これはテストです。한국어 테스트입니다。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635000" y="3365500"/>
            <a:ext cx="7874000" cy="330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800">
                <a:ea typeface="Microsoft YaHei"/>
              </a:rPr>
              <a:t>数字和符号：2024年Q4季度 — Revenue: ¥1,234,567 (+15.3%)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