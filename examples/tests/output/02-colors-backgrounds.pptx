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193800" y="1955800"/>
            <a:ext cx="6756400" cy="711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4000">
                <a:solidFill>
                  <a:srgbClr val="FFFFFF"/>
                </a:solidFill>
                <a:latin typeface="Microsoft YaHei"/>
              </a:rPr>
              <a:t>Colors &amp; Backgrounds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676400" y="2857500"/>
            <a:ext cx="57912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solidFill>
                  <a:srgbClr val="90CAF9"/>
                </a:solidFill>
                <a:latin typeface="Microsoft YaHei"/>
              </a:rPr>
              <a:t>Testing color formats and background fills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874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1A237E"/>
                </a:solidFill>
                <a:latin typeface="Microsoft YaHei"/>
              </a:rPr>
              <a:t>Hex Colors (#RRGGBB)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635000" y="1193800"/>
            <a:ext cx="7874000" cy="1625600"/>
            <a:chOff x="0" y="0"/>
            <a:chExt cx="7874000" cy="16256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1828800" cy="1625600"/>
            </a:xfrm>
            <a:prstGeom prst="roundRect">
              <a:avLst/>
            </a:prstGeom>
            <a:solidFill>
              <a:srgbClr val="E53935"/>
            </a:solidFill>
            <a:ln>
              <a:noFill/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1828800" cy="1625600"/>
              <a:chOff x="0" y="0"/>
              <a:chExt cx="1828800" cy="1625600"/>
            </a:xfrm>
          </p:grpSpPr>
          <p:sp>
            <p:nvSpPr>
              <p:cNvPr name="TextBox 6" id="6"/>
              <p:cNvSpPr txBox="true"/>
              <p:nvPr/>
            </p:nvSpPr>
            <p:spPr>
              <a:xfrm>
                <a:off x="520700" y="558800"/>
                <a:ext cx="7747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#e53935</a:t>
                </a:r>
              </a:p>
            </p:txBody>
          </p:sp>
          <p:sp>
            <p:nvSpPr>
              <p:cNvPr name="TextBox 7" id="7"/>
              <p:cNvSpPr txBox="true"/>
              <p:nvPr/>
            </p:nvSpPr>
            <p:spPr>
              <a:xfrm>
                <a:off x="736600" y="800100"/>
                <a:ext cx="3556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Red</a:t>
                </a:r>
              </a:p>
            </p:txBody>
          </p:sp>
        </p:grpSp>
        <p:sp>
          <p:nvSpPr>
            <p:cNvPr name="AutoShape 8" id="8"/>
            <p:cNvSpPr/>
            <p:nvPr/>
          </p:nvSpPr>
          <p:spPr>
            <a:xfrm>
              <a:off x="2019300" y="0"/>
              <a:ext cx="1828800" cy="1625600"/>
            </a:xfrm>
            <a:prstGeom prst="roundRect">
              <a:avLst/>
            </a:prstGeom>
            <a:solidFill>
              <a:srgbClr val="43A047"/>
            </a:solidFill>
            <a:ln>
              <a:noFill/>
            </a:ln>
          </p:spPr>
        </p:sp>
        <p:grpSp>
          <p:nvGrpSpPr>
            <p:cNvPr name="Group 9" id="9"/>
            <p:cNvGrpSpPr/>
            <p:nvPr/>
          </p:nvGrpSpPr>
          <p:grpSpPr>
            <a:xfrm>
              <a:off x="2019300" y="0"/>
              <a:ext cx="1828800" cy="1625600"/>
              <a:chOff x="0" y="0"/>
              <a:chExt cx="1828800" cy="1625600"/>
            </a:xfrm>
          </p:grpSpPr>
          <p:sp>
            <p:nvSpPr>
              <p:cNvPr name="TextBox 10" id="10"/>
              <p:cNvSpPr txBox="true"/>
              <p:nvPr/>
            </p:nvSpPr>
            <p:spPr>
              <a:xfrm>
                <a:off x="520700" y="558800"/>
                <a:ext cx="7747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#43a047</a:t>
                </a:r>
              </a:p>
            </p:txBody>
          </p:sp>
          <p:sp>
            <p:nvSpPr>
              <p:cNvPr name="TextBox 11" id="11"/>
              <p:cNvSpPr txBox="true"/>
              <p:nvPr/>
            </p:nvSpPr>
            <p:spPr>
              <a:xfrm>
                <a:off x="635000" y="800100"/>
                <a:ext cx="5715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Green</a:t>
                </a:r>
              </a:p>
            </p:txBody>
          </p:sp>
        </p:grpSp>
        <p:sp>
          <p:nvSpPr>
            <p:cNvPr name="AutoShape 12" id="12"/>
            <p:cNvSpPr/>
            <p:nvPr/>
          </p:nvSpPr>
          <p:spPr>
            <a:xfrm>
              <a:off x="4038600" y="0"/>
              <a:ext cx="1816100" cy="1625600"/>
            </a:xfrm>
            <a:prstGeom prst="roundRect">
              <a:avLst/>
            </a:prstGeom>
            <a:solidFill>
              <a:srgbClr val="1E88E5"/>
            </a:solidFill>
            <a:ln>
              <a:noFill/>
            </a:ln>
          </p:spPr>
        </p:sp>
        <p:grpSp>
          <p:nvGrpSpPr>
            <p:cNvPr name="Group 13" id="13"/>
            <p:cNvGrpSpPr/>
            <p:nvPr/>
          </p:nvGrpSpPr>
          <p:grpSpPr>
            <a:xfrm>
              <a:off x="4038600" y="0"/>
              <a:ext cx="1816100" cy="1625600"/>
              <a:chOff x="0" y="0"/>
              <a:chExt cx="1816100" cy="1625600"/>
            </a:xfrm>
          </p:grpSpPr>
          <p:sp>
            <p:nvSpPr>
              <p:cNvPr name="TextBox 14" id="14"/>
              <p:cNvSpPr txBox="true"/>
              <p:nvPr/>
            </p:nvSpPr>
            <p:spPr>
              <a:xfrm>
                <a:off x="520700" y="558800"/>
                <a:ext cx="7747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#1e88e5</a:t>
                </a:r>
              </a:p>
            </p:txBody>
          </p:sp>
          <p:sp>
            <p:nvSpPr>
              <p:cNvPr name="TextBox 15" id="15"/>
              <p:cNvSpPr txBox="true"/>
              <p:nvPr/>
            </p:nvSpPr>
            <p:spPr>
              <a:xfrm>
                <a:off x="685800" y="800100"/>
                <a:ext cx="4445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Blue</a:t>
                </a:r>
              </a:p>
            </p:txBody>
          </p:sp>
        </p:grpSp>
        <p:sp>
          <p:nvSpPr>
            <p:cNvPr name="AutoShape 16" id="16"/>
            <p:cNvSpPr/>
            <p:nvPr/>
          </p:nvSpPr>
          <p:spPr>
            <a:xfrm>
              <a:off x="6045200" y="0"/>
              <a:ext cx="1828800" cy="1625600"/>
            </a:xfrm>
            <a:prstGeom prst="roundRect">
              <a:avLst/>
            </a:prstGeom>
            <a:solidFill>
              <a:srgbClr val="8E24AA"/>
            </a:solidFill>
            <a:ln>
              <a:noFill/>
            </a:ln>
          </p:spPr>
        </p:sp>
        <p:grpSp>
          <p:nvGrpSpPr>
            <p:cNvPr name="Group 17" id="17"/>
            <p:cNvGrpSpPr/>
            <p:nvPr/>
          </p:nvGrpSpPr>
          <p:grpSpPr>
            <a:xfrm>
              <a:off x="6045200" y="0"/>
              <a:ext cx="1828800" cy="1625600"/>
              <a:chOff x="0" y="0"/>
              <a:chExt cx="1828800" cy="1625600"/>
            </a:xfrm>
          </p:grpSpPr>
          <p:sp>
            <p:nvSpPr>
              <p:cNvPr name="TextBox 18" id="18"/>
              <p:cNvSpPr txBox="true"/>
              <p:nvPr/>
            </p:nvSpPr>
            <p:spPr>
              <a:xfrm>
                <a:off x="520700" y="558800"/>
                <a:ext cx="7747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#8e24aa</a:t>
                </a:r>
              </a:p>
            </p:txBody>
          </p:sp>
          <p:sp>
            <p:nvSpPr>
              <p:cNvPr name="TextBox 19" id="19"/>
              <p:cNvSpPr txBox="true"/>
              <p:nvPr/>
            </p:nvSpPr>
            <p:spPr>
              <a:xfrm>
                <a:off x="571500" y="800100"/>
                <a:ext cx="6731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Purple</a:t>
                </a: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>
            <a:off x="635000" y="3009900"/>
            <a:ext cx="7874000" cy="1625600"/>
            <a:chOff x="0" y="0"/>
            <a:chExt cx="7874000" cy="1625600"/>
          </a:xfrm>
        </p:grpSpPr>
        <p:sp>
          <p:nvSpPr>
            <p:cNvPr name="AutoShape 21" id="21"/>
            <p:cNvSpPr/>
            <p:nvPr/>
          </p:nvSpPr>
          <p:spPr>
            <a:xfrm>
              <a:off x="0" y="0"/>
              <a:ext cx="1828800" cy="1625600"/>
            </a:xfrm>
            <a:prstGeom prst="roundRect">
              <a:avLst/>
            </a:prstGeom>
            <a:solidFill>
              <a:srgbClr val="F57C00"/>
            </a:solidFill>
            <a:ln>
              <a:noFill/>
            </a:ln>
          </p:spPr>
        </p:sp>
        <p:grpSp>
          <p:nvGrpSpPr>
            <p:cNvPr name="Group 22" id="22"/>
            <p:cNvGrpSpPr/>
            <p:nvPr/>
          </p:nvGrpSpPr>
          <p:grpSpPr>
            <a:xfrm>
              <a:off x="0" y="0"/>
              <a:ext cx="1828800" cy="1625600"/>
              <a:chOff x="0" y="0"/>
              <a:chExt cx="1828800" cy="1625600"/>
            </a:xfrm>
          </p:grpSpPr>
          <p:sp>
            <p:nvSpPr>
              <p:cNvPr name="TextBox 23" id="23"/>
              <p:cNvSpPr txBox="true"/>
              <p:nvPr/>
            </p:nvSpPr>
            <p:spPr>
              <a:xfrm>
                <a:off x="520700" y="558800"/>
                <a:ext cx="7747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#f57c00</a:t>
                </a:r>
              </a:p>
            </p:txBody>
          </p:sp>
          <p:sp>
            <p:nvSpPr>
              <p:cNvPr name="TextBox 24" id="24"/>
              <p:cNvSpPr txBox="true"/>
              <p:nvPr/>
            </p:nvSpPr>
            <p:spPr>
              <a:xfrm>
                <a:off x="571500" y="800100"/>
                <a:ext cx="6731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Orange</a:t>
                </a:r>
              </a:p>
            </p:txBody>
          </p:sp>
        </p:grpSp>
        <p:sp>
          <p:nvSpPr>
            <p:cNvPr name="AutoShape 25" id="25"/>
            <p:cNvSpPr/>
            <p:nvPr/>
          </p:nvSpPr>
          <p:spPr>
            <a:xfrm>
              <a:off x="2019300" y="0"/>
              <a:ext cx="1828800" cy="1625600"/>
            </a:xfrm>
            <a:prstGeom prst="roundRect">
              <a:avLst/>
            </a:prstGeom>
            <a:solidFill>
              <a:srgbClr val="00897B"/>
            </a:solidFill>
            <a:ln>
              <a:noFill/>
            </a:ln>
          </p:spPr>
        </p:sp>
        <p:grpSp>
          <p:nvGrpSpPr>
            <p:cNvPr name="Group 26" id="26"/>
            <p:cNvGrpSpPr/>
            <p:nvPr/>
          </p:nvGrpSpPr>
          <p:grpSpPr>
            <a:xfrm>
              <a:off x="2019300" y="0"/>
              <a:ext cx="1828800" cy="1625600"/>
              <a:chOff x="0" y="0"/>
              <a:chExt cx="1828800" cy="1625600"/>
            </a:xfrm>
          </p:grpSpPr>
          <p:sp>
            <p:nvSpPr>
              <p:cNvPr name="TextBox 27" id="27"/>
              <p:cNvSpPr txBox="true"/>
              <p:nvPr/>
            </p:nvSpPr>
            <p:spPr>
              <a:xfrm>
                <a:off x="520700" y="558800"/>
                <a:ext cx="7747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#00897b</a:t>
                </a:r>
              </a:p>
            </p:txBody>
          </p:sp>
          <p:sp>
            <p:nvSpPr>
              <p:cNvPr name="TextBox 28" id="28"/>
              <p:cNvSpPr txBox="true"/>
              <p:nvPr/>
            </p:nvSpPr>
            <p:spPr>
              <a:xfrm>
                <a:off x="685800" y="800100"/>
                <a:ext cx="4445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Teal</a:t>
                </a:r>
              </a:p>
            </p:txBody>
          </p:sp>
        </p:grpSp>
        <p:sp>
          <p:nvSpPr>
            <p:cNvPr name="AutoShape 29" id="29"/>
            <p:cNvSpPr/>
            <p:nvPr/>
          </p:nvSpPr>
          <p:spPr>
            <a:xfrm>
              <a:off x="4038600" y="0"/>
              <a:ext cx="1816100" cy="1625600"/>
            </a:xfrm>
            <a:prstGeom prst="roundRect">
              <a:avLst/>
            </a:prstGeom>
            <a:solidFill>
              <a:srgbClr val="FDD835"/>
            </a:solidFill>
            <a:ln>
              <a:noFill/>
            </a:ln>
          </p:spPr>
        </p:sp>
        <p:grpSp>
          <p:nvGrpSpPr>
            <p:cNvPr name="Group 30" id="30"/>
            <p:cNvGrpSpPr/>
            <p:nvPr/>
          </p:nvGrpSpPr>
          <p:grpSpPr>
            <a:xfrm>
              <a:off x="4038600" y="0"/>
              <a:ext cx="1816100" cy="1625600"/>
              <a:chOff x="0" y="0"/>
              <a:chExt cx="1816100" cy="1625600"/>
            </a:xfrm>
          </p:grpSpPr>
          <p:sp>
            <p:nvSpPr>
              <p:cNvPr name="TextBox 31" id="31"/>
              <p:cNvSpPr txBox="true"/>
              <p:nvPr/>
            </p:nvSpPr>
            <p:spPr>
              <a:xfrm>
                <a:off x="520700" y="558800"/>
                <a:ext cx="7747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333333"/>
                    </a:solidFill>
                    <a:latin typeface="Microsoft YaHei"/>
                  </a:rPr>
                  <a:t>#fdd835</a:t>
                </a:r>
              </a:p>
            </p:txBody>
          </p:sp>
          <p:sp>
            <p:nvSpPr>
              <p:cNvPr name="TextBox 32" id="32"/>
              <p:cNvSpPr txBox="true"/>
              <p:nvPr/>
            </p:nvSpPr>
            <p:spPr>
              <a:xfrm>
                <a:off x="571500" y="800100"/>
                <a:ext cx="6731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333333"/>
                    </a:solidFill>
                    <a:latin typeface="Microsoft YaHei"/>
                  </a:rPr>
                  <a:t>Yellow</a:t>
                </a:r>
              </a:p>
            </p:txBody>
          </p:sp>
        </p:grpSp>
        <p:sp>
          <p:nvSpPr>
            <p:cNvPr name="AutoShape 33" id="33"/>
            <p:cNvSpPr/>
            <p:nvPr/>
          </p:nvSpPr>
          <p:spPr>
            <a:xfrm>
              <a:off x="6045200" y="0"/>
              <a:ext cx="1828800" cy="1625600"/>
            </a:xfrm>
            <a:prstGeom prst="roundRect">
              <a:avLst/>
            </a:prstGeom>
            <a:solidFill>
              <a:srgbClr val="E0E0E0"/>
            </a:solidFill>
            <a:ln>
              <a:noFill/>
            </a:ln>
          </p:spPr>
        </p:sp>
        <p:grpSp>
          <p:nvGrpSpPr>
            <p:cNvPr name="Group 34" id="34"/>
            <p:cNvGrpSpPr/>
            <p:nvPr/>
          </p:nvGrpSpPr>
          <p:grpSpPr>
            <a:xfrm>
              <a:off x="6045200" y="0"/>
              <a:ext cx="1828800" cy="1625600"/>
              <a:chOff x="0" y="0"/>
              <a:chExt cx="1828800" cy="1625600"/>
            </a:xfrm>
          </p:grpSpPr>
          <p:sp>
            <p:nvSpPr>
              <p:cNvPr name="TextBox 35" id="35"/>
              <p:cNvSpPr txBox="true"/>
              <p:nvPr/>
            </p:nvSpPr>
            <p:spPr>
              <a:xfrm>
                <a:off x="520700" y="558800"/>
                <a:ext cx="774700" cy="2667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333333"/>
                    </a:solidFill>
                    <a:latin typeface="Microsoft YaHei"/>
                  </a:rPr>
                  <a:t>#e0e0e0</a:t>
                </a:r>
              </a:p>
            </p:txBody>
          </p:sp>
          <p:sp>
            <p:nvSpPr>
              <p:cNvPr name="TextBox 36" id="36"/>
              <p:cNvSpPr txBox="true"/>
              <p:nvPr/>
            </p:nvSpPr>
            <p:spPr>
              <a:xfrm>
                <a:off x="685800" y="800100"/>
                <a:ext cx="4445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333333"/>
                    </a:solidFill>
                    <a:latin typeface="Microsoft YaHei"/>
                  </a:rPr>
                  <a:t>Gray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874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1A237E"/>
                </a:solidFill>
                <a:latin typeface="Microsoft YaHei"/>
              </a:rPr>
              <a:t>Short Hex &amp; Named Colors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635000" y="1193800"/>
            <a:ext cx="7874000" cy="1625600"/>
            <a:chOff x="0" y="0"/>
            <a:chExt cx="7874000" cy="16256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1828800" cy="162560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1828800" cy="1625600"/>
              <a:chOff x="0" y="0"/>
              <a:chExt cx="1828800" cy="1625600"/>
            </a:xfrm>
          </p:grpSpPr>
          <p:sp>
            <p:nvSpPr>
              <p:cNvPr name="TextBox 6" id="6"/>
              <p:cNvSpPr txBox="true"/>
              <p:nvPr/>
            </p:nvSpPr>
            <p:spPr>
              <a:xfrm>
                <a:off x="685800" y="685800"/>
                <a:ext cx="4445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#F00</a:t>
                </a: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2019300" y="0"/>
              <a:ext cx="1828800" cy="1625600"/>
            </a:xfrm>
            <a:prstGeom prst="roundRect">
              <a:avLst/>
            </a:prstGeom>
            <a:solidFill>
              <a:srgbClr val="00FF00"/>
            </a:solidFill>
            <a:ln>
              <a:noFill/>
            </a:ln>
          </p:spPr>
        </p:sp>
        <p:grpSp>
          <p:nvGrpSpPr>
            <p:cNvPr name="Group 8" id="8"/>
            <p:cNvGrpSpPr/>
            <p:nvPr/>
          </p:nvGrpSpPr>
          <p:grpSpPr>
            <a:xfrm>
              <a:off x="2019300" y="0"/>
              <a:ext cx="1828800" cy="1625600"/>
              <a:chOff x="0" y="0"/>
              <a:chExt cx="1828800" cy="1625600"/>
            </a:xfrm>
          </p:grpSpPr>
          <p:sp>
            <p:nvSpPr>
              <p:cNvPr name="TextBox 9" id="9"/>
              <p:cNvSpPr txBox="true"/>
              <p:nvPr/>
            </p:nvSpPr>
            <p:spPr>
              <a:xfrm>
                <a:off x="685800" y="685800"/>
                <a:ext cx="4445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#0F0</a:t>
                </a:r>
              </a:p>
            </p:txBody>
          </p:sp>
        </p:grpSp>
        <p:sp>
          <p:nvSpPr>
            <p:cNvPr name="AutoShape 10" id="10"/>
            <p:cNvSpPr/>
            <p:nvPr/>
          </p:nvSpPr>
          <p:spPr>
            <a:xfrm>
              <a:off x="4038600" y="0"/>
              <a:ext cx="1816100" cy="1625600"/>
            </a:xfrm>
            <a:prstGeom prst="roundRect">
              <a:avLst/>
            </a:prstGeom>
            <a:solidFill>
              <a:srgbClr val="0000FF"/>
            </a:solidFill>
            <a:ln>
              <a:noFill/>
            </a:ln>
          </p:spPr>
        </p:sp>
        <p:grpSp>
          <p:nvGrpSpPr>
            <p:cNvPr name="Group 11" id="11"/>
            <p:cNvGrpSpPr/>
            <p:nvPr/>
          </p:nvGrpSpPr>
          <p:grpSpPr>
            <a:xfrm>
              <a:off x="4038600" y="0"/>
              <a:ext cx="1816100" cy="1625600"/>
              <a:chOff x="0" y="0"/>
              <a:chExt cx="1816100" cy="1625600"/>
            </a:xfrm>
          </p:grpSpPr>
          <p:sp>
            <p:nvSpPr>
              <p:cNvPr name="TextBox 12" id="12"/>
              <p:cNvSpPr txBox="true"/>
              <p:nvPr/>
            </p:nvSpPr>
            <p:spPr>
              <a:xfrm>
                <a:off x="685800" y="685800"/>
                <a:ext cx="4445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#00F</a:t>
                </a:r>
              </a:p>
            </p:txBody>
          </p:sp>
        </p:grpSp>
        <p:sp>
          <p:nvSpPr>
            <p:cNvPr name="AutoShape 13" id="13"/>
            <p:cNvSpPr/>
            <p:nvPr/>
          </p:nvSpPr>
          <p:spPr>
            <a:xfrm>
              <a:off x="6045200" y="0"/>
              <a:ext cx="1828800" cy="1625600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</p:spPr>
        </p:sp>
        <p:grpSp>
          <p:nvGrpSpPr>
            <p:cNvPr name="Group 14" id="14"/>
            <p:cNvGrpSpPr/>
            <p:nvPr/>
          </p:nvGrpSpPr>
          <p:grpSpPr>
            <a:xfrm>
              <a:off x="6045200" y="0"/>
              <a:ext cx="1828800" cy="1625600"/>
              <a:chOff x="0" y="0"/>
              <a:chExt cx="1828800" cy="1625600"/>
            </a:xfrm>
          </p:grpSpPr>
          <p:sp>
            <p:nvSpPr>
              <p:cNvPr name="TextBox 15" id="15"/>
              <p:cNvSpPr txBox="true"/>
              <p:nvPr/>
            </p:nvSpPr>
            <p:spPr>
              <a:xfrm>
                <a:off x="685800" y="685800"/>
                <a:ext cx="4445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333333"/>
                    </a:solidFill>
                    <a:latin typeface="Microsoft YaHei"/>
                  </a:rPr>
                  <a:t>#FF0</a:t>
                </a: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>
            <a:off x="635000" y="3009900"/>
            <a:ext cx="7874000" cy="1625600"/>
            <a:chOff x="0" y="0"/>
            <a:chExt cx="7874000" cy="1625600"/>
          </a:xfrm>
        </p:grpSpPr>
        <p:sp>
          <p:nvSpPr>
            <p:cNvPr name="AutoShape 17" id="17"/>
            <p:cNvSpPr/>
            <p:nvPr/>
          </p:nvSpPr>
          <p:spPr>
            <a:xfrm>
              <a:off x="0" y="0"/>
              <a:ext cx="1828800" cy="1625600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</p:sp>
        <p:grpSp>
          <p:nvGrpSpPr>
            <p:cNvPr name="Group 18" id="18"/>
            <p:cNvGrpSpPr/>
            <p:nvPr/>
          </p:nvGrpSpPr>
          <p:grpSpPr>
            <a:xfrm>
              <a:off x="0" y="0"/>
              <a:ext cx="1828800" cy="1625600"/>
              <a:chOff x="0" y="0"/>
              <a:chExt cx="1828800" cy="1625600"/>
            </a:xfrm>
          </p:grpSpPr>
          <p:sp>
            <p:nvSpPr>
              <p:cNvPr name="TextBox 19" id="19"/>
              <p:cNvSpPr txBox="true"/>
              <p:nvPr/>
            </p:nvSpPr>
            <p:spPr>
              <a:xfrm>
                <a:off x="736600" y="685800"/>
                <a:ext cx="3556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red</a:t>
                </a:r>
              </a:p>
            </p:txBody>
          </p:sp>
        </p:grpSp>
        <p:sp>
          <p:nvSpPr>
            <p:cNvPr name="AutoShape 20" id="20"/>
            <p:cNvSpPr/>
            <p:nvPr/>
          </p:nvSpPr>
          <p:spPr>
            <a:xfrm>
              <a:off x="2019300" y="0"/>
              <a:ext cx="1828800" cy="1625600"/>
            </a:xfrm>
            <a:prstGeom prst="roundRect">
              <a:avLst/>
            </a:prstGeom>
            <a:solidFill>
              <a:srgbClr val="000080"/>
            </a:solidFill>
            <a:ln>
              <a:noFill/>
            </a:ln>
          </p:spPr>
        </p:sp>
        <p:grpSp>
          <p:nvGrpSpPr>
            <p:cNvPr name="Group 21" id="21"/>
            <p:cNvGrpSpPr/>
            <p:nvPr/>
          </p:nvGrpSpPr>
          <p:grpSpPr>
            <a:xfrm>
              <a:off x="2019300" y="0"/>
              <a:ext cx="1828800" cy="1625600"/>
              <a:chOff x="0" y="0"/>
              <a:chExt cx="1828800" cy="1625600"/>
            </a:xfrm>
          </p:grpSpPr>
          <p:sp>
            <p:nvSpPr>
              <p:cNvPr name="TextBox 22" id="22"/>
              <p:cNvSpPr txBox="true"/>
              <p:nvPr/>
            </p:nvSpPr>
            <p:spPr>
              <a:xfrm>
                <a:off x="685800" y="685800"/>
                <a:ext cx="4445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navy</a:t>
                </a:r>
              </a:p>
            </p:txBody>
          </p:sp>
        </p:grpSp>
        <p:sp>
          <p:nvSpPr>
            <p:cNvPr name="AutoShape 23" id="23"/>
            <p:cNvSpPr/>
            <p:nvPr/>
          </p:nvSpPr>
          <p:spPr>
            <a:xfrm>
              <a:off x="4038600" y="0"/>
              <a:ext cx="1816100" cy="1625600"/>
            </a:xfrm>
            <a:prstGeom prst="roundRect">
              <a:avLst/>
            </a:prstGeom>
            <a:solidFill>
              <a:srgbClr val="008080"/>
            </a:solidFill>
            <a:ln>
              <a:noFill/>
            </a:ln>
          </p:spPr>
        </p:sp>
        <p:grpSp>
          <p:nvGrpSpPr>
            <p:cNvPr name="Group 24" id="24"/>
            <p:cNvGrpSpPr/>
            <p:nvPr/>
          </p:nvGrpSpPr>
          <p:grpSpPr>
            <a:xfrm>
              <a:off x="4038600" y="0"/>
              <a:ext cx="1816100" cy="1625600"/>
              <a:chOff x="0" y="0"/>
              <a:chExt cx="1816100" cy="1625600"/>
            </a:xfrm>
          </p:grpSpPr>
          <p:sp>
            <p:nvSpPr>
              <p:cNvPr name="TextBox 25" id="25"/>
              <p:cNvSpPr txBox="true"/>
              <p:nvPr/>
            </p:nvSpPr>
            <p:spPr>
              <a:xfrm>
                <a:off x="685800" y="685800"/>
                <a:ext cx="4445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teal</a:t>
                </a:r>
              </a:p>
            </p:txBody>
          </p:sp>
        </p:grpSp>
        <p:sp>
          <p:nvSpPr>
            <p:cNvPr name="AutoShape 26" id="26"/>
            <p:cNvSpPr/>
            <p:nvPr/>
          </p:nvSpPr>
          <p:spPr>
            <a:xfrm>
              <a:off x="6045200" y="0"/>
              <a:ext cx="1828800" cy="1625600"/>
            </a:xfrm>
            <a:prstGeom prst="roundRect">
              <a:avLst/>
            </a:prstGeom>
            <a:solidFill>
              <a:srgbClr val="800080"/>
            </a:solidFill>
            <a:ln>
              <a:noFill/>
            </a:ln>
          </p:spPr>
        </p:sp>
        <p:grpSp>
          <p:nvGrpSpPr>
            <p:cNvPr name="Group 27" id="27"/>
            <p:cNvGrpSpPr/>
            <p:nvPr/>
          </p:nvGrpSpPr>
          <p:grpSpPr>
            <a:xfrm>
              <a:off x="6045200" y="0"/>
              <a:ext cx="1828800" cy="1625600"/>
              <a:chOff x="0" y="0"/>
              <a:chExt cx="1828800" cy="1625600"/>
            </a:xfrm>
          </p:grpSpPr>
          <p:sp>
            <p:nvSpPr>
              <p:cNvPr name="TextBox 28" id="28"/>
              <p:cNvSpPr txBox="true"/>
              <p:nvPr/>
            </p:nvSpPr>
            <p:spPr>
              <a:xfrm>
                <a:off x="571500" y="685800"/>
                <a:ext cx="6731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purple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874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1A237E"/>
                </a:solidFill>
                <a:latin typeface="Microsoft YaHei"/>
              </a:rPr>
              <a:t>RGB Colors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635000" y="1193800"/>
            <a:ext cx="7874000" cy="3441700"/>
            <a:chOff x="0" y="0"/>
            <a:chExt cx="7874000" cy="34417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1828800" cy="3441700"/>
            </a:xfrm>
            <a:prstGeom prst="roundRect">
              <a:avLst/>
            </a:prstGeom>
            <a:solidFill>
              <a:srgbClr val="E91E63"/>
            </a:solidFill>
            <a:ln>
              <a:noFill/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1828800" cy="3441700"/>
              <a:chOff x="0" y="0"/>
              <a:chExt cx="1828800" cy="3441700"/>
            </a:xfrm>
          </p:grpSpPr>
          <p:sp>
            <p:nvSpPr>
              <p:cNvPr name="TextBox 6" id="6"/>
              <p:cNvSpPr txBox="true"/>
              <p:nvPr/>
            </p:nvSpPr>
            <p:spPr>
              <a:xfrm>
                <a:off x="190500" y="1346200"/>
                <a:ext cx="1447800" cy="508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rgb(233,30,99)</a:t>
                </a:r>
              </a:p>
            </p:txBody>
          </p:sp>
          <p:sp>
            <p:nvSpPr>
              <p:cNvPr name="TextBox 7" id="7"/>
              <p:cNvSpPr txBox="true"/>
              <p:nvPr/>
            </p:nvSpPr>
            <p:spPr>
              <a:xfrm>
                <a:off x="685800" y="1841500"/>
                <a:ext cx="4445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Pink</a:t>
                </a:r>
              </a:p>
            </p:txBody>
          </p:sp>
        </p:grpSp>
        <p:sp>
          <p:nvSpPr>
            <p:cNvPr name="AutoShape 8" id="8"/>
            <p:cNvSpPr/>
            <p:nvPr/>
          </p:nvSpPr>
          <p:spPr>
            <a:xfrm>
              <a:off x="2019300" y="0"/>
              <a:ext cx="1828800" cy="3441700"/>
            </a:xfrm>
            <a:prstGeom prst="roundRect">
              <a:avLst/>
            </a:prstGeom>
            <a:solidFill>
              <a:srgbClr val="3F51B5"/>
            </a:solidFill>
            <a:ln>
              <a:noFill/>
            </a:ln>
          </p:spPr>
        </p:sp>
        <p:grpSp>
          <p:nvGrpSpPr>
            <p:cNvPr name="Group 9" id="9"/>
            <p:cNvGrpSpPr/>
            <p:nvPr/>
          </p:nvGrpSpPr>
          <p:grpSpPr>
            <a:xfrm>
              <a:off x="2019300" y="0"/>
              <a:ext cx="1828800" cy="3441700"/>
              <a:chOff x="0" y="0"/>
              <a:chExt cx="1828800" cy="3441700"/>
            </a:xfrm>
          </p:grpSpPr>
          <p:sp>
            <p:nvSpPr>
              <p:cNvPr name="TextBox 10" id="10"/>
              <p:cNvSpPr txBox="true"/>
              <p:nvPr/>
            </p:nvSpPr>
            <p:spPr>
              <a:xfrm>
                <a:off x="190500" y="1346200"/>
                <a:ext cx="1460500" cy="508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rgb(63,81,181)</a:t>
                </a:r>
              </a:p>
            </p:txBody>
          </p:sp>
          <p:sp>
            <p:nvSpPr>
              <p:cNvPr name="TextBox 11" id="11"/>
              <p:cNvSpPr txBox="true"/>
              <p:nvPr/>
            </p:nvSpPr>
            <p:spPr>
              <a:xfrm>
                <a:off x="571500" y="1841500"/>
                <a:ext cx="6731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Indigo</a:t>
                </a:r>
              </a:p>
            </p:txBody>
          </p:sp>
        </p:grpSp>
        <p:sp>
          <p:nvSpPr>
            <p:cNvPr name="AutoShape 12" id="12"/>
            <p:cNvSpPr/>
            <p:nvPr/>
          </p:nvSpPr>
          <p:spPr>
            <a:xfrm>
              <a:off x="4038600" y="0"/>
              <a:ext cx="1816100" cy="3441700"/>
            </a:xfrm>
            <a:prstGeom prst="roundRect">
              <a:avLst/>
            </a:prstGeom>
            <a:solidFill>
              <a:srgbClr val="009688"/>
            </a:solidFill>
            <a:ln>
              <a:noFill/>
            </a:ln>
          </p:spPr>
        </p:sp>
        <p:grpSp>
          <p:nvGrpSpPr>
            <p:cNvPr name="Group 13" id="13"/>
            <p:cNvGrpSpPr/>
            <p:nvPr/>
          </p:nvGrpSpPr>
          <p:grpSpPr>
            <a:xfrm>
              <a:off x="4038600" y="0"/>
              <a:ext cx="1816100" cy="3441700"/>
              <a:chOff x="0" y="0"/>
              <a:chExt cx="1816100" cy="3441700"/>
            </a:xfrm>
          </p:grpSpPr>
          <p:sp>
            <p:nvSpPr>
              <p:cNvPr name="TextBox 14" id="14"/>
              <p:cNvSpPr txBox="true"/>
              <p:nvPr/>
            </p:nvSpPr>
            <p:spPr>
              <a:xfrm>
                <a:off x="190500" y="1346200"/>
                <a:ext cx="1460500" cy="508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rgb(0,150,136)</a:t>
                </a:r>
              </a:p>
            </p:txBody>
          </p:sp>
          <p:sp>
            <p:nvSpPr>
              <p:cNvPr name="TextBox 15" id="15"/>
              <p:cNvSpPr txBox="true"/>
              <p:nvPr/>
            </p:nvSpPr>
            <p:spPr>
              <a:xfrm>
                <a:off x="685800" y="1841500"/>
                <a:ext cx="4445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FFFFFF"/>
                    </a:solidFill>
                    <a:latin typeface="Microsoft YaHei"/>
                  </a:rPr>
                  <a:t>Teal</a:t>
                </a:r>
              </a:p>
            </p:txBody>
          </p:sp>
        </p:grpSp>
        <p:sp>
          <p:nvSpPr>
            <p:cNvPr name="AutoShape 16" id="16"/>
            <p:cNvSpPr/>
            <p:nvPr/>
          </p:nvSpPr>
          <p:spPr>
            <a:xfrm>
              <a:off x="6045200" y="0"/>
              <a:ext cx="1828800" cy="3441700"/>
            </a:xfrm>
            <a:prstGeom prst="roundRect">
              <a:avLst/>
            </a:prstGeom>
            <a:solidFill>
              <a:srgbClr val="FFEB3B"/>
            </a:solidFill>
            <a:ln>
              <a:noFill/>
            </a:ln>
          </p:spPr>
        </p:sp>
        <p:grpSp>
          <p:nvGrpSpPr>
            <p:cNvPr name="Group 17" id="17"/>
            <p:cNvGrpSpPr/>
            <p:nvPr/>
          </p:nvGrpSpPr>
          <p:grpSpPr>
            <a:xfrm>
              <a:off x="6045200" y="0"/>
              <a:ext cx="1828800" cy="3441700"/>
              <a:chOff x="0" y="0"/>
              <a:chExt cx="1828800" cy="3441700"/>
            </a:xfrm>
          </p:grpSpPr>
          <p:sp>
            <p:nvSpPr>
              <p:cNvPr name="TextBox 18" id="18"/>
              <p:cNvSpPr txBox="true"/>
              <p:nvPr/>
            </p:nvSpPr>
            <p:spPr>
              <a:xfrm>
                <a:off x="190500" y="1346200"/>
                <a:ext cx="1447800" cy="508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333333"/>
                    </a:solidFill>
                    <a:latin typeface="Microsoft YaHei"/>
                  </a:rPr>
                  <a:t>rgb(255,235,59)</a:t>
                </a:r>
              </a:p>
            </p:txBody>
          </p:sp>
          <p:sp>
            <p:nvSpPr>
              <p:cNvPr name="TextBox 19" id="19"/>
              <p:cNvSpPr txBox="true"/>
              <p:nvPr/>
            </p:nvSpPr>
            <p:spPr>
              <a:xfrm>
                <a:off x="571500" y="1841500"/>
                <a:ext cx="673100" cy="2540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400">
                    <a:solidFill>
                      <a:srgbClr val="333333"/>
                    </a:solidFill>
                    <a:latin typeface="Microsoft YaHei"/>
                  </a:rPr>
                  <a:t>Yellow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371600" y="1714500"/>
            <a:ext cx="6400800" cy="6604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3600">
                <a:solidFill>
                  <a:srgbClr val="FFFFFF"/>
                </a:solidFill>
                <a:latin typeface="Microsoft YaHei"/>
              </a:rPr>
              <a:t>Dark Slide Background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892300" y="2552700"/>
            <a:ext cx="5359400" cy="3556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2000">
                <a:solidFill>
                  <a:srgbClr val="B0BEC5"/>
                </a:solidFill>
                <a:latin typeface="Microsoft YaHei"/>
              </a:rPr>
              <a:t>Background: #263238 (Blue Grey 900)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193800" y="3098800"/>
            <a:ext cx="67437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solidFill>
                  <a:srgbClr val="80CBC4"/>
                </a:solidFill>
                <a:latin typeface="Microsoft YaHei"/>
              </a:rPr>
              <a:t>This tests dark slide backgrounds with light text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508000"/>
            <a:ext cx="7874000" cy="5080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800">
                <a:solidFill>
                  <a:srgbClr val="1A237E"/>
                </a:solidFill>
                <a:latin typeface="Microsoft YaHei"/>
              </a:rPr>
              <a:t>Text Colors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193800"/>
            <a:ext cx="7874000" cy="3556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2000">
                <a:solidFill>
                  <a:srgbClr val="D32F2F"/>
                </a:solidFill>
                <a:latin typeface="Microsoft YaHei"/>
              </a:rPr>
              <a:t>Red text on white background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35000" y="1739900"/>
            <a:ext cx="7874000" cy="3556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2000">
                <a:solidFill>
                  <a:srgbClr val="1976D2"/>
                </a:solidFill>
                <a:latin typeface="Microsoft YaHei"/>
              </a:rPr>
              <a:t>Blue text on white background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635000" y="2286000"/>
            <a:ext cx="7874000" cy="3556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2000">
                <a:solidFill>
                  <a:srgbClr val="388E3C"/>
                </a:solidFill>
                <a:latin typeface="Microsoft YaHei"/>
              </a:rPr>
              <a:t>Green text on white background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635000" y="2832100"/>
            <a:ext cx="7874000" cy="3556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2000">
                <a:solidFill>
                  <a:srgbClr val="F57C00"/>
                </a:solidFill>
                <a:latin typeface="Microsoft YaHei"/>
              </a:rPr>
              <a:t>Orange text on white background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635000" y="3378200"/>
            <a:ext cx="7874000" cy="3556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2000">
                <a:solidFill>
                  <a:srgbClr val="7B1FA2"/>
                </a:solidFill>
                <a:latin typeface="Microsoft YaHei"/>
              </a:rPr>
              <a:t>Purple text on white background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635000" y="3924300"/>
            <a:ext cx="7874000" cy="3556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2000">
                <a:solidFill>
                  <a:srgbClr val="455A64"/>
                </a:solidFill>
                <a:latin typeface="Microsoft YaHei"/>
              </a:rPr>
              <a:t>Blue Grey text on white background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