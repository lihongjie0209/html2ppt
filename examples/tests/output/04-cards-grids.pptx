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311B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193800" y="1955800"/>
            <a:ext cx="6756400" cy="711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4000">
                <a:solidFill>
                  <a:srgbClr val="FFFFFF"/>
                </a:solidFill>
                <a:latin typeface="Microsoft YaHei"/>
              </a:rPr>
              <a:t>Cards &amp; Grid Layouts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257300" y="2857500"/>
            <a:ext cx="66294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solidFill>
                  <a:srgbClr val="B39DDB"/>
                </a:solidFill>
                <a:latin typeface="Microsoft YaHei"/>
              </a:rPr>
              <a:t>Testing card patterns and grid-like arrangements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311B92"/>
                </a:solidFill>
                <a:latin typeface="Microsoft YaHei"/>
              </a:rPr>
              <a:t>Metric Dashboard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03300"/>
            <a:ext cx="8128000" cy="3759200"/>
            <a:chOff x="0" y="0"/>
            <a:chExt cx="8128000" cy="37592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1892300" cy="3759200"/>
            </a:xfrm>
            <a:prstGeom prst="roundRect">
              <a:avLst/>
            </a:prstGeom>
            <a:solidFill>
              <a:srgbClr val="F3E5F5"/>
            </a:solidFill>
            <a:ln>
              <a:noFill/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1892300" cy="3759200"/>
              <a:chOff x="0" y="0"/>
              <a:chExt cx="1892300" cy="3759200"/>
            </a:xfrm>
          </p:grpSpPr>
          <p:sp>
            <p:nvSpPr>
              <p:cNvPr name="TextBox 6" id="6"/>
              <p:cNvSpPr txBox="true"/>
              <p:nvPr/>
            </p:nvSpPr>
            <p:spPr>
              <a:xfrm>
                <a:off x="254000" y="254000"/>
                <a:ext cx="13843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600">
                    <a:solidFill>
                      <a:srgbClr val="333333"/>
                    </a:solidFill>
                    <a:latin typeface="Microsoft YaHei"/>
                  </a:rPr>
                  <a:t>Revenue</a:t>
                </a:r>
              </a:p>
            </p:txBody>
          </p:sp>
          <p:sp>
            <p:nvSpPr>
              <p:cNvPr name="TextBox 7" id="7"/>
              <p:cNvSpPr txBox="true"/>
              <p:nvPr/>
            </p:nvSpPr>
            <p:spPr>
              <a:xfrm>
                <a:off x="254000" y="635000"/>
                <a:ext cx="1384300" cy="508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2800">
                    <a:solidFill>
                      <a:srgbClr val="7B1FA2"/>
                    </a:solidFill>
                    <a:latin typeface="Microsoft YaHei"/>
                  </a:rPr>
                  <a:t>$2.4M</a:t>
                </a:r>
              </a:p>
            </p:txBody>
          </p:sp>
          <p:sp>
            <p:nvSpPr>
              <p:cNvPr name="TextBox 8" id="8"/>
              <p:cNvSpPr txBox="true"/>
              <p:nvPr/>
            </p:nvSpPr>
            <p:spPr>
              <a:xfrm>
                <a:off x="254000" y="1231900"/>
                <a:ext cx="1384300" cy="4318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757575"/>
                    </a:solidFill>
                    <a:latin typeface="Microsoft YaHei"/>
                  </a:rPr>
                  <a:t>+12% vs last quarter</a:t>
                </a:r>
              </a:p>
            </p:txBody>
          </p:sp>
        </p:grpSp>
        <p:sp>
          <p:nvSpPr>
            <p:cNvPr name="AutoShape 9" id="9"/>
            <p:cNvSpPr/>
            <p:nvPr/>
          </p:nvSpPr>
          <p:spPr>
            <a:xfrm>
              <a:off x="2082800" y="0"/>
              <a:ext cx="1892300" cy="3759200"/>
            </a:xfrm>
            <a:prstGeom prst="roundRect">
              <a:avLst/>
            </a:prstGeom>
            <a:solidFill>
              <a:srgbClr val="E3F2FD"/>
            </a:solidFill>
            <a:ln>
              <a:noFill/>
            </a:ln>
          </p:spPr>
        </p:sp>
        <p:grpSp>
          <p:nvGrpSpPr>
            <p:cNvPr name="Group 10" id="10"/>
            <p:cNvGrpSpPr/>
            <p:nvPr/>
          </p:nvGrpSpPr>
          <p:grpSpPr>
            <a:xfrm>
              <a:off x="2082800" y="0"/>
              <a:ext cx="1892300" cy="3759200"/>
              <a:chOff x="0" y="0"/>
              <a:chExt cx="1892300" cy="3759200"/>
            </a:xfrm>
          </p:grpSpPr>
          <p:sp>
            <p:nvSpPr>
              <p:cNvPr name="TextBox 11" id="11"/>
              <p:cNvSpPr txBox="true"/>
              <p:nvPr/>
            </p:nvSpPr>
            <p:spPr>
              <a:xfrm>
                <a:off x="254000" y="254000"/>
                <a:ext cx="13970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600">
                    <a:solidFill>
                      <a:srgbClr val="333333"/>
                    </a:solidFill>
                    <a:latin typeface="Microsoft YaHei"/>
                  </a:rPr>
                  <a:t>Users</a:t>
                </a:r>
              </a:p>
            </p:txBody>
          </p:sp>
          <p:sp>
            <p:nvSpPr>
              <p:cNvPr name="TextBox 12" id="12"/>
              <p:cNvSpPr txBox="true"/>
              <p:nvPr/>
            </p:nvSpPr>
            <p:spPr>
              <a:xfrm>
                <a:off x="254000" y="635000"/>
                <a:ext cx="1397000" cy="508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2800">
                    <a:solidFill>
                      <a:srgbClr val="1565C0"/>
                    </a:solidFill>
                    <a:latin typeface="Microsoft YaHei"/>
                  </a:rPr>
                  <a:t>48.2K</a:t>
                </a:r>
              </a:p>
            </p:txBody>
          </p:sp>
          <p:sp>
            <p:nvSpPr>
              <p:cNvPr name="TextBox 13" id="13"/>
              <p:cNvSpPr txBox="true"/>
              <p:nvPr/>
            </p:nvSpPr>
            <p:spPr>
              <a:xfrm>
                <a:off x="254000" y="1231900"/>
                <a:ext cx="1397000" cy="2159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757575"/>
                    </a:solidFill>
                    <a:latin typeface="Microsoft YaHei"/>
                  </a:rPr>
                  <a:t>+8.5% growth</a:t>
                </a:r>
              </a:p>
            </p:txBody>
          </p:sp>
        </p:grpSp>
        <p:sp>
          <p:nvSpPr>
            <p:cNvPr name="AutoShape 14" id="14"/>
            <p:cNvSpPr/>
            <p:nvPr/>
          </p:nvSpPr>
          <p:spPr>
            <a:xfrm>
              <a:off x="4165600" y="0"/>
              <a:ext cx="1879600" cy="3759200"/>
            </a:xfrm>
            <a:prstGeom prst="roundRect">
              <a:avLst/>
            </a:prstGeom>
            <a:solidFill>
              <a:srgbClr val="E8F5E9"/>
            </a:solidFill>
            <a:ln>
              <a:noFill/>
            </a:ln>
          </p:spPr>
        </p:sp>
        <p:grpSp>
          <p:nvGrpSpPr>
            <p:cNvPr name="Group 15" id="15"/>
            <p:cNvGrpSpPr/>
            <p:nvPr/>
          </p:nvGrpSpPr>
          <p:grpSpPr>
            <a:xfrm>
              <a:off x="4165600" y="0"/>
              <a:ext cx="1879600" cy="3759200"/>
              <a:chOff x="0" y="0"/>
              <a:chExt cx="1879600" cy="3759200"/>
            </a:xfrm>
          </p:grpSpPr>
          <p:sp>
            <p:nvSpPr>
              <p:cNvPr name="TextBox 16" id="16"/>
              <p:cNvSpPr txBox="true"/>
              <p:nvPr/>
            </p:nvSpPr>
            <p:spPr>
              <a:xfrm>
                <a:off x="254000" y="254000"/>
                <a:ext cx="13970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600">
                    <a:solidFill>
                      <a:srgbClr val="333333"/>
                    </a:solidFill>
                    <a:latin typeface="Microsoft YaHei"/>
                  </a:rPr>
                  <a:t>Conversion</a:t>
                </a:r>
              </a:p>
            </p:txBody>
          </p:sp>
          <p:sp>
            <p:nvSpPr>
              <p:cNvPr name="TextBox 17" id="17"/>
              <p:cNvSpPr txBox="true"/>
              <p:nvPr/>
            </p:nvSpPr>
            <p:spPr>
              <a:xfrm>
                <a:off x="254000" y="635000"/>
                <a:ext cx="1397000" cy="508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2800">
                    <a:solidFill>
                      <a:srgbClr val="2E7D32"/>
                    </a:solidFill>
                    <a:latin typeface="Microsoft YaHei"/>
                  </a:rPr>
                  <a:t>3.8%</a:t>
                </a:r>
              </a:p>
            </p:txBody>
          </p:sp>
          <p:sp>
            <p:nvSpPr>
              <p:cNvPr name="TextBox 18" id="18"/>
              <p:cNvSpPr txBox="true"/>
              <p:nvPr/>
            </p:nvSpPr>
            <p:spPr>
              <a:xfrm>
                <a:off x="254000" y="1231900"/>
                <a:ext cx="1397000" cy="4318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757575"/>
                    </a:solidFill>
                    <a:latin typeface="Microsoft YaHei"/>
                  </a:rPr>
                  <a:t>+0.5pp improvement</a:t>
                </a:r>
              </a:p>
            </p:txBody>
          </p:sp>
        </p:grpSp>
        <p:sp>
          <p:nvSpPr>
            <p:cNvPr name="AutoShape 19" id="19"/>
            <p:cNvSpPr/>
            <p:nvPr/>
          </p:nvSpPr>
          <p:spPr>
            <a:xfrm>
              <a:off x="6235700" y="0"/>
              <a:ext cx="1892300" cy="3759200"/>
            </a:xfrm>
            <a:prstGeom prst="roundRect">
              <a:avLst/>
            </a:prstGeom>
            <a:solidFill>
              <a:srgbClr val="FFF3E0"/>
            </a:solidFill>
            <a:ln>
              <a:noFill/>
            </a:ln>
          </p:spPr>
        </p:sp>
        <p:grpSp>
          <p:nvGrpSpPr>
            <p:cNvPr name="Group 20" id="20"/>
            <p:cNvGrpSpPr/>
            <p:nvPr/>
          </p:nvGrpSpPr>
          <p:grpSpPr>
            <a:xfrm>
              <a:off x="6235700" y="0"/>
              <a:ext cx="1892300" cy="3759200"/>
              <a:chOff x="0" y="0"/>
              <a:chExt cx="1892300" cy="3759200"/>
            </a:xfrm>
          </p:grpSpPr>
          <p:sp>
            <p:nvSpPr>
              <p:cNvPr name="TextBox 21" id="21"/>
              <p:cNvSpPr txBox="true"/>
              <p:nvPr/>
            </p:nvSpPr>
            <p:spPr>
              <a:xfrm>
                <a:off x="254000" y="254000"/>
                <a:ext cx="13843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600">
                    <a:solidFill>
                      <a:srgbClr val="333333"/>
                    </a:solidFill>
                    <a:latin typeface="Microsoft YaHei"/>
                  </a:rPr>
                  <a:t>NPS Score</a:t>
                </a:r>
              </a:p>
            </p:txBody>
          </p:sp>
          <p:sp>
            <p:nvSpPr>
              <p:cNvPr name="TextBox 22" id="22"/>
              <p:cNvSpPr txBox="true"/>
              <p:nvPr/>
            </p:nvSpPr>
            <p:spPr>
              <a:xfrm>
                <a:off x="254000" y="635000"/>
                <a:ext cx="1384300" cy="508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2800">
                    <a:solidFill>
                      <a:srgbClr val="E65100"/>
                    </a:solidFill>
                    <a:latin typeface="Microsoft YaHei"/>
                  </a:rPr>
                  <a:t>72</a:t>
                </a:r>
              </a:p>
            </p:txBody>
          </p:sp>
          <p:sp>
            <p:nvSpPr>
              <p:cNvPr name="TextBox 23" id="23"/>
              <p:cNvSpPr txBox="true"/>
              <p:nvPr/>
            </p:nvSpPr>
            <p:spPr>
              <a:xfrm>
                <a:off x="254000" y="1231900"/>
                <a:ext cx="1384300" cy="4318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757575"/>
                    </a:solidFill>
                    <a:latin typeface="Microsoft YaHei"/>
                  </a:rPr>
                  <a:t>Industry avg: 45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311B92"/>
                </a:solidFill>
                <a:latin typeface="Microsoft YaHei"/>
              </a:rPr>
              <a:t>Feature Grid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03300"/>
            <a:ext cx="8128000" cy="1778000"/>
            <a:chOff x="0" y="0"/>
            <a:chExt cx="8128000" cy="17780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3975100" cy="1778000"/>
            </a:xfrm>
            <a:prstGeom prst="roundRect">
              <a:avLst/>
            </a:prstGeom>
            <a:solidFill>
              <a:srgbClr val="E3F2FD"/>
            </a:solidFill>
            <a:ln>
              <a:noFill/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3975100" cy="1778000"/>
              <a:chOff x="0" y="0"/>
              <a:chExt cx="3975100" cy="1778000"/>
            </a:xfrm>
          </p:grpSpPr>
          <p:sp>
            <p:nvSpPr>
              <p:cNvPr name="TextBox 6" id="6"/>
              <p:cNvSpPr txBox="true"/>
              <p:nvPr/>
            </p:nvSpPr>
            <p:spPr>
              <a:xfrm>
                <a:off x="254000" y="254000"/>
                <a:ext cx="34671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600">
                    <a:solidFill>
                      <a:srgbClr val="333333"/>
                    </a:solidFill>
                    <a:latin typeface="Microsoft YaHei"/>
                  </a:rPr>
                  <a:t>Fast Compilation</a:t>
                </a:r>
              </a:p>
            </p:txBody>
          </p:sp>
          <p:sp>
            <p:nvSpPr>
              <p:cNvPr name="TextBox 7" id="7"/>
              <p:cNvSpPr txBox="true"/>
              <p:nvPr/>
            </p:nvSpPr>
            <p:spPr>
              <a:xfrm>
                <a:off x="254000" y="635000"/>
                <a:ext cx="3467100" cy="749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HTML+CSS source files compile to .pptx in under 2 seconds for typical presentations.</a:t>
                </a:r>
              </a:p>
            </p:txBody>
          </p:sp>
        </p:grpSp>
        <p:sp>
          <p:nvSpPr>
            <p:cNvPr name="AutoShape 8" id="8"/>
            <p:cNvSpPr/>
            <p:nvPr/>
          </p:nvSpPr>
          <p:spPr>
            <a:xfrm>
              <a:off x="4165600" y="0"/>
              <a:ext cx="3962400" cy="1778000"/>
            </a:xfrm>
            <a:prstGeom prst="roundRect">
              <a:avLst/>
            </a:prstGeom>
            <a:solidFill>
              <a:srgbClr val="E8F5E9"/>
            </a:solidFill>
            <a:ln>
              <a:noFill/>
            </a:ln>
          </p:spPr>
        </p:sp>
        <p:grpSp>
          <p:nvGrpSpPr>
            <p:cNvPr name="Group 9" id="9"/>
            <p:cNvGrpSpPr/>
            <p:nvPr/>
          </p:nvGrpSpPr>
          <p:grpSpPr>
            <a:xfrm>
              <a:off x="4165600" y="0"/>
              <a:ext cx="3962400" cy="1778000"/>
              <a:chOff x="0" y="0"/>
              <a:chExt cx="3962400" cy="1778000"/>
            </a:xfrm>
          </p:grpSpPr>
          <p:sp>
            <p:nvSpPr>
              <p:cNvPr name="TextBox 10" id="10"/>
              <p:cNvSpPr txBox="true"/>
              <p:nvPr/>
            </p:nvSpPr>
            <p:spPr>
              <a:xfrm>
                <a:off x="254000" y="254000"/>
                <a:ext cx="34671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600">
                    <a:solidFill>
                      <a:srgbClr val="333333"/>
                    </a:solidFill>
                    <a:latin typeface="Microsoft YaHei"/>
                  </a:rPr>
                  <a:t>Flexbox Layout</a:t>
                </a:r>
              </a:p>
            </p:txBody>
          </p:sp>
          <p:sp>
            <p:nvSpPr>
              <p:cNvPr name="TextBox 11" id="11"/>
              <p:cNvSpPr txBox="true"/>
              <p:nvPr/>
            </p:nvSpPr>
            <p:spPr>
              <a:xfrm>
                <a:off x="254000" y="635000"/>
                <a:ext cx="3467100" cy="749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Full CSS flexbox support via Yoga engine including gap, wrap, grow and shrink.</a:t>
                </a: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>
            <a:off x="508000" y="2971800"/>
            <a:ext cx="8128000" cy="1790700"/>
            <a:chOff x="0" y="0"/>
            <a:chExt cx="8128000" cy="1790700"/>
          </a:xfrm>
        </p:grpSpPr>
        <p:sp>
          <p:nvSpPr>
            <p:cNvPr name="AutoShape 13" id="13"/>
            <p:cNvSpPr/>
            <p:nvPr/>
          </p:nvSpPr>
          <p:spPr>
            <a:xfrm>
              <a:off x="0" y="0"/>
              <a:ext cx="3975100" cy="1790700"/>
            </a:xfrm>
            <a:prstGeom prst="roundRect">
              <a:avLst/>
            </a:prstGeom>
            <a:solidFill>
              <a:srgbClr val="FFF3E0"/>
            </a:solidFill>
            <a:ln>
              <a:noFill/>
            </a:ln>
          </p:spPr>
        </p:sp>
        <p:grpSp>
          <p:nvGrpSpPr>
            <p:cNvPr name="Group 14" id="14"/>
            <p:cNvGrpSpPr/>
            <p:nvPr/>
          </p:nvGrpSpPr>
          <p:grpSpPr>
            <a:xfrm>
              <a:off x="0" y="0"/>
              <a:ext cx="3975100" cy="1790700"/>
              <a:chOff x="0" y="0"/>
              <a:chExt cx="3975100" cy="1790700"/>
            </a:xfrm>
          </p:grpSpPr>
          <p:sp>
            <p:nvSpPr>
              <p:cNvPr name="TextBox 15" id="15"/>
              <p:cNvSpPr txBox="true"/>
              <p:nvPr/>
            </p:nvSpPr>
            <p:spPr>
              <a:xfrm>
                <a:off x="254000" y="254000"/>
                <a:ext cx="34671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600">
                    <a:solidFill>
                      <a:srgbClr val="333333"/>
                    </a:solidFill>
                    <a:latin typeface="Microsoft YaHei"/>
                  </a:rPr>
                  <a:t>Rich Text</a:t>
                </a:r>
              </a:p>
            </p:txBody>
          </p:sp>
          <p:sp>
            <p:nvSpPr>
              <p:cNvPr name="TextBox 16" id="16"/>
              <p:cNvSpPr txBox="true"/>
              <p:nvPr/>
            </p:nvSpPr>
            <p:spPr>
              <a:xfrm>
                <a:off x="254000" y="635000"/>
                <a:ext cx="3467100" cy="762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Bold, italic, underline with mixed CJK/Latin text and custom fonts.</a:t>
                </a:r>
              </a:p>
            </p:txBody>
          </p:sp>
        </p:grpSp>
        <p:sp>
          <p:nvSpPr>
            <p:cNvPr name="AutoShape 17" id="17"/>
            <p:cNvSpPr/>
            <p:nvPr/>
          </p:nvSpPr>
          <p:spPr>
            <a:xfrm>
              <a:off x="4165600" y="0"/>
              <a:ext cx="3962400" cy="1790700"/>
            </a:xfrm>
            <a:prstGeom prst="roundRect">
              <a:avLst/>
            </a:prstGeom>
            <a:solidFill>
              <a:srgbClr val="F3E5F5"/>
            </a:solidFill>
            <a:ln>
              <a:noFill/>
            </a:ln>
          </p:spPr>
        </p:sp>
        <p:grpSp>
          <p:nvGrpSpPr>
            <p:cNvPr name="Group 18" id="18"/>
            <p:cNvGrpSpPr/>
            <p:nvPr/>
          </p:nvGrpSpPr>
          <p:grpSpPr>
            <a:xfrm>
              <a:off x="4165600" y="0"/>
              <a:ext cx="3962400" cy="1790700"/>
              <a:chOff x="0" y="0"/>
              <a:chExt cx="3962400" cy="1790700"/>
            </a:xfrm>
          </p:grpSpPr>
          <p:sp>
            <p:nvSpPr>
              <p:cNvPr name="TextBox 19" id="19"/>
              <p:cNvSpPr txBox="true"/>
              <p:nvPr/>
            </p:nvSpPr>
            <p:spPr>
              <a:xfrm>
                <a:off x="254000" y="254000"/>
                <a:ext cx="34671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600">
                    <a:solidFill>
                      <a:srgbClr val="333333"/>
                    </a:solidFill>
                    <a:latin typeface="Microsoft YaHei"/>
                  </a:rPr>
                  <a:t>Debug Mode</a:t>
                </a:r>
              </a:p>
            </p:txBody>
          </p:sp>
          <p:sp>
            <p:nvSpPr>
              <p:cNvPr name="TextBox 20" id="20"/>
              <p:cNvSpPr txBox="true"/>
              <p:nvPr/>
            </p:nvSpPr>
            <p:spPr>
              <a:xfrm>
                <a:off x="254000" y="635000"/>
                <a:ext cx="3467100" cy="508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Layout debug output shows computed positions for every element.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311B92"/>
                </a:solidFill>
                <a:latin typeface="Microsoft YaHei"/>
              </a:rPr>
              <a:t>Team Members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03300"/>
            <a:ext cx="8128000" cy="3759200"/>
            <a:chOff x="0" y="0"/>
            <a:chExt cx="8128000" cy="37592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2578100" cy="3759200"/>
            </a:xfrm>
            <a:prstGeom prst="roundRect">
              <a:avLst/>
            </a:prstGeom>
            <a:solidFill>
              <a:srgbClr val="FAFAFA"/>
            </a:solidFill>
            <a:ln>
              <a:noFill/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2578100" cy="3759200"/>
              <a:chOff x="0" y="0"/>
              <a:chExt cx="2578100" cy="3759200"/>
            </a:xfrm>
          </p:grpSpPr>
          <p:sp>
            <p:nvSpPr>
              <p:cNvPr name="AutoShape 6" id="6"/>
              <p:cNvSpPr/>
              <p:nvPr/>
            </p:nvSpPr>
            <p:spPr>
              <a:xfrm>
                <a:off x="914400" y="317500"/>
                <a:ext cx="762000" cy="762000"/>
              </a:xfrm>
              <a:prstGeom prst="roundRect">
                <a:avLst/>
              </a:prstGeom>
              <a:solidFill>
                <a:srgbClr val="90CAF9"/>
              </a:solidFill>
              <a:ln>
                <a:noFill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520700" y="1206500"/>
                <a:ext cx="1536700" cy="330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800">
                    <a:solidFill>
                      <a:srgbClr val="1A237E"/>
                    </a:solidFill>
                    <a:latin typeface="Microsoft YaHei"/>
                  </a:rPr>
                  <a:t>Alice Chen</a:t>
                </a:r>
              </a:p>
            </p:txBody>
          </p:sp>
          <p:sp>
            <p:nvSpPr>
              <p:cNvPr name="TextBox 8" id="8"/>
              <p:cNvSpPr txBox="true"/>
              <p:nvPr/>
            </p:nvSpPr>
            <p:spPr>
              <a:xfrm>
                <a:off x="800100" y="1651000"/>
                <a:ext cx="9779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757575"/>
                    </a:solidFill>
                    <a:latin typeface="Microsoft YaHei"/>
                  </a:rPr>
                  <a:t>Tech Lead</a:t>
                </a:r>
              </a:p>
            </p:txBody>
          </p:sp>
          <p:grpSp>
            <p:nvGrpSpPr>
              <p:cNvPr name="Group 9" id="9"/>
              <p:cNvGrpSpPr/>
              <p:nvPr/>
            </p:nvGrpSpPr>
            <p:grpSpPr>
              <a:xfrm>
                <a:off x="685800" y="2032000"/>
                <a:ext cx="1219200" cy="558800"/>
                <a:chOff x="0" y="0"/>
                <a:chExt cx="1219200" cy="558800"/>
              </a:xfrm>
            </p:grpSpPr>
            <p:grpSp>
              <p:nvGrpSpPr>
                <p:cNvPr name="Group 10" id="10"/>
                <p:cNvGrpSpPr/>
                <p:nvPr/>
              </p:nvGrpSpPr>
              <p:grpSpPr>
                <a:xfrm>
                  <a:off x="0" y="0"/>
                  <a:ext cx="596900" cy="558800"/>
                  <a:chOff x="0" y="0"/>
                  <a:chExt cx="596900" cy="558800"/>
                </a:xfrm>
              </p:grpSpPr>
              <p:sp>
                <p:nvSpPr>
                  <p:cNvPr name="TextBox 11" id="11"/>
                  <p:cNvSpPr txBox="true"/>
                  <p:nvPr/>
                </p:nvSpPr>
                <p:spPr>
                  <a:xfrm>
                    <a:off x="25400" y="0"/>
                    <a:ext cx="546100" cy="355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true" i="false" u="none" sz="2000">
                        <a:solidFill>
                          <a:srgbClr val="1A237E"/>
                        </a:solidFill>
                        <a:latin typeface="Microsoft YaHei"/>
                      </a:rPr>
                      <a:t>142</a:t>
                    </a:r>
                  </a:p>
                </p:txBody>
              </p:sp>
              <p:sp>
                <p:nvSpPr>
                  <p:cNvPr name="TextBox 12" id="12"/>
                  <p:cNvSpPr txBox="true"/>
                  <p:nvPr/>
                </p:nvSpPr>
                <p:spPr>
                  <a:xfrm>
                    <a:off x="0" y="355600"/>
                    <a:ext cx="622300" cy="2032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100">
                        <a:solidFill>
                          <a:srgbClr val="9E9E9E"/>
                        </a:solidFill>
                        <a:latin typeface="Microsoft YaHei"/>
                      </a:rPr>
                      <a:t>Commits</a:t>
                    </a:r>
                  </a:p>
                </p:txBody>
              </p:sp>
            </p:grpSp>
            <p:grpSp>
              <p:nvGrpSpPr>
                <p:cNvPr name="Group 13" id="13"/>
                <p:cNvGrpSpPr/>
                <p:nvPr/>
              </p:nvGrpSpPr>
              <p:grpSpPr>
                <a:xfrm>
                  <a:off x="850900" y="0"/>
                  <a:ext cx="368300" cy="558800"/>
                  <a:chOff x="0" y="0"/>
                  <a:chExt cx="368300" cy="558800"/>
                </a:xfrm>
              </p:grpSpPr>
              <p:sp>
                <p:nvSpPr>
                  <p:cNvPr name="TextBox 14" id="14"/>
                  <p:cNvSpPr txBox="true"/>
                  <p:nvPr/>
                </p:nvSpPr>
                <p:spPr>
                  <a:xfrm>
                    <a:off x="0" y="0"/>
                    <a:ext cx="368300" cy="355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true" i="false" u="none" sz="2000">
                        <a:solidFill>
                          <a:srgbClr val="1A237E"/>
                        </a:solidFill>
                        <a:latin typeface="Microsoft YaHei"/>
                      </a:rPr>
                      <a:t>38</a:t>
                    </a:r>
                  </a:p>
                </p:txBody>
              </p:sp>
              <p:sp>
                <p:nvSpPr>
                  <p:cNvPr name="TextBox 15" id="15"/>
                  <p:cNvSpPr txBox="true"/>
                  <p:nvPr/>
                </p:nvSpPr>
                <p:spPr>
                  <a:xfrm>
                    <a:off x="38100" y="355600"/>
                    <a:ext cx="279400" cy="2032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100">
                        <a:solidFill>
                          <a:srgbClr val="9E9E9E"/>
                        </a:solidFill>
                        <a:latin typeface="Microsoft YaHei"/>
                      </a:rPr>
                      <a:t>PRs</a:t>
                    </a:r>
                  </a:p>
                </p:txBody>
              </p:sp>
            </p:grpSp>
          </p:grpSp>
        </p:grpSp>
        <p:sp>
          <p:nvSpPr>
            <p:cNvPr name="AutoShape 16" id="16"/>
            <p:cNvSpPr/>
            <p:nvPr/>
          </p:nvSpPr>
          <p:spPr>
            <a:xfrm>
              <a:off x="2768600" y="0"/>
              <a:ext cx="2590800" cy="3759200"/>
            </a:xfrm>
            <a:prstGeom prst="roundRect">
              <a:avLst/>
            </a:prstGeom>
            <a:solidFill>
              <a:srgbClr val="FAFAFA"/>
            </a:solidFill>
            <a:ln>
              <a:noFill/>
            </a:ln>
          </p:spPr>
        </p:sp>
        <p:grpSp>
          <p:nvGrpSpPr>
            <p:cNvPr name="Group 17" id="17"/>
            <p:cNvGrpSpPr/>
            <p:nvPr/>
          </p:nvGrpSpPr>
          <p:grpSpPr>
            <a:xfrm>
              <a:off x="2768600" y="0"/>
              <a:ext cx="2590800" cy="3759200"/>
              <a:chOff x="0" y="0"/>
              <a:chExt cx="2590800" cy="3759200"/>
            </a:xfrm>
          </p:grpSpPr>
          <p:sp>
            <p:nvSpPr>
              <p:cNvPr name="AutoShape 18" id="18"/>
              <p:cNvSpPr/>
              <p:nvPr/>
            </p:nvSpPr>
            <p:spPr>
              <a:xfrm>
                <a:off x="914400" y="317500"/>
                <a:ext cx="762000" cy="762000"/>
              </a:xfrm>
              <a:prstGeom prst="roundRect">
                <a:avLst/>
              </a:prstGeom>
              <a:solidFill>
                <a:srgbClr val="A5D6A7"/>
              </a:solidFill>
              <a:ln>
                <a:noFill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673100" y="1206500"/>
                <a:ext cx="1244600" cy="330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800">
                    <a:solidFill>
                      <a:srgbClr val="1A237E"/>
                    </a:solidFill>
                    <a:latin typeface="Microsoft YaHei"/>
                  </a:rPr>
                  <a:t>Bob Wang</a:t>
                </a:r>
              </a:p>
            </p:txBody>
          </p:sp>
          <p:sp>
            <p:nvSpPr>
              <p:cNvPr name="TextBox 20" id="20"/>
              <p:cNvSpPr txBox="true"/>
              <p:nvPr/>
            </p:nvSpPr>
            <p:spPr>
              <a:xfrm>
                <a:off x="685800" y="1651000"/>
                <a:ext cx="11938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757575"/>
                    </a:solidFill>
                    <a:latin typeface="Microsoft YaHei"/>
                  </a:rPr>
                  <a:t>Backend Dev</a:t>
                </a:r>
              </a:p>
            </p:txBody>
          </p:sp>
          <p:grpSp>
            <p:nvGrpSpPr>
              <p:cNvPr name="Group 21" id="21"/>
              <p:cNvGrpSpPr/>
              <p:nvPr/>
            </p:nvGrpSpPr>
            <p:grpSpPr>
              <a:xfrm>
                <a:off x="685800" y="2032000"/>
                <a:ext cx="1219200" cy="558800"/>
                <a:chOff x="0" y="0"/>
                <a:chExt cx="1219200" cy="558800"/>
              </a:xfrm>
            </p:grpSpPr>
            <p:grpSp>
              <p:nvGrpSpPr>
                <p:cNvPr name="Group 22" id="22"/>
                <p:cNvGrpSpPr/>
                <p:nvPr/>
              </p:nvGrpSpPr>
              <p:grpSpPr>
                <a:xfrm>
                  <a:off x="0" y="0"/>
                  <a:ext cx="596900" cy="558800"/>
                  <a:chOff x="0" y="0"/>
                  <a:chExt cx="596900" cy="558800"/>
                </a:xfrm>
              </p:grpSpPr>
              <p:sp>
                <p:nvSpPr>
                  <p:cNvPr name="TextBox 23" id="23"/>
                  <p:cNvSpPr txBox="true"/>
                  <p:nvPr/>
                </p:nvSpPr>
                <p:spPr>
                  <a:xfrm>
                    <a:off x="114300" y="0"/>
                    <a:ext cx="368300" cy="355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true" i="false" u="none" sz="2000">
                        <a:solidFill>
                          <a:srgbClr val="1A237E"/>
                        </a:solidFill>
                        <a:latin typeface="Microsoft YaHei"/>
                      </a:rPr>
                      <a:t>98</a:t>
                    </a:r>
                  </a:p>
                </p:txBody>
              </p:sp>
              <p:sp>
                <p:nvSpPr>
                  <p:cNvPr name="TextBox 24" id="24"/>
                  <p:cNvSpPr txBox="true"/>
                  <p:nvPr/>
                </p:nvSpPr>
                <p:spPr>
                  <a:xfrm>
                    <a:off x="0" y="355600"/>
                    <a:ext cx="609600" cy="2032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100">
                        <a:solidFill>
                          <a:srgbClr val="9E9E9E"/>
                        </a:solidFill>
                        <a:latin typeface="Microsoft YaHei"/>
                      </a:rPr>
                      <a:t>Commits</a:t>
                    </a:r>
                  </a:p>
                </p:txBody>
              </p:sp>
            </p:grpSp>
            <p:grpSp>
              <p:nvGrpSpPr>
                <p:cNvPr name="Group 25" id="25"/>
                <p:cNvGrpSpPr/>
                <p:nvPr/>
              </p:nvGrpSpPr>
              <p:grpSpPr>
                <a:xfrm>
                  <a:off x="850900" y="0"/>
                  <a:ext cx="368300" cy="558800"/>
                  <a:chOff x="0" y="0"/>
                  <a:chExt cx="368300" cy="558800"/>
                </a:xfrm>
              </p:grpSpPr>
              <p:sp>
                <p:nvSpPr>
                  <p:cNvPr name="TextBox 26" id="26"/>
                  <p:cNvSpPr txBox="true"/>
                  <p:nvPr/>
                </p:nvSpPr>
                <p:spPr>
                  <a:xfrm>
                    <a:off x="0" y="0"/>
                    <a:ext cx="368300" cy="355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true" i="false" u="none" sz="2000">
                        <a:solidFill>
                          <a:srgbClr val="1A237E"/>
                        </a:solidFill>
                        <a:latin typeface="Microsoft YaHei"/>
                      </a:rPr>
                      <a:t>25</a:t>
                    </a:r>
                  </a:p>
                </p:txBody>
              </p:sp>
              <p:sp>
                <p:nvSpPr>
                  <p:cNvPr name="TextBox 27" id="27"/>
                  <p:cNvSpPr txBox="true"/>
                  <p:nvPr/>
                </p:nvSpPr>
                <p:spPr>
                  <a:xfrm>
                    <a:off x="38100" y="355600"/>
                    <a:ext cx="279400" cy="2032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100">
                        <a:solidFill>
                          <a:srgbClr val="9E9E9E"/>
                        </a:solidFill>
                        <a:latin typeface="Microsoft YaHei"/>
                      </a:rPr>
                      <a:t>PRs</a:t>
                    </a:r>
                  </a:p>
                </p:txBody>
              </p:sp>
            </p:grpSp>
          </p:grpSp>
        </p:grpSp>
        <p:sp>
          <p:nvSpPr>
            <p:cNvPr name="AutoShape 28" id="28"/>
            <p:cNvSpPr/>
            <p:nvPr/>
          </p:nvSpPr>
          <p:spPr>
            <a:xfrm>
              <a:off x="5549900" y="0"/>
              <a:ext cx="2578100" cy="3759200"/>
            </a:xfrm>
            <a:prstGeom prst="roundRect">
              <a:avLst/>
            </a:prstGeom>
            <a:solidFill>
              <a:srgbClr val="FAFAFA"/>
            </a:solidFill>
            <a:ln>
              <a:noFill/>
            </a:ln>
          </p:spPr>
        </p:sp>
        <p:grpSp>
          <p:nvGrpSpPr>
            <p:cNvPr name="Group 29" id="29"/>
            <p:cNvGrpSpPr/>
            <p:nvPr/>
          </p:nvGrpSpPr>
          <p:grpSpPr>
            <a:xfrm>
              <a:off x="5549900" y="0"/>
              <a:ext cx="2578100" cy="3759200"/>
              <a:chOff x="0" y="0"/>
              <a:chExt cx="2578100" cy="3759200"/>
            </a:xfrm>
          </p:grpSpPr>
          <p:sp>
            <p:nvSpPr>
              <p:cNvPr name="AutoShape 30" id="30"/>
              <p:cNvSpPr/>
              <p:nvPr/>
            </p:nvSpPr>
            <p:spPr>
              <a:xfrm>
                <a:off x="914400" y="317500"/>
                <a:ext cx="762000" cy="762000"/>
              </a:xfrm>
              <a:prstGeom prst="roundRect">
                <a:avLst/>
              </a:prstGeom>
              <a:solidFill>
                <a:srgbClr val="EF9A9A"/>
              </a:solidFill>
              <a:ln>
                <a:noFill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673100" y="1206500"/>
                <a:ext cx="1244600" cy="330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800">
                    <a:solidFill>
                      <a:srgbClr val="1A237E"/>
                    </a:solidFill>
                    <a:latin typeface="Microsoft YaHei"/>
                  </a:rPr>
                  <a:t>Carol Li</a:t>
                </a:r>
              </a:p>
            </p:txBody>
          </p:sp>
          <p:sp>
            <p:nvSpPr>
              <p:cNvPr name="TextBox 32" id="32"/>
              <p:cNvSpPr txBox="true"/>
              <p:nvPr/>
            </p:nvSpPr>
            <p:spPr>
              <a:xfrm>
                <a:off x="850900" y="1651000"/>
                <a:ext cx="8763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757575"/>
                    </a:solidFill>
                    <a:latin typeface="Microsoft YaHei"/>
                  </a:rPr>
                  <a:t>Designer</a:t>
                </a:r>
              </a:p>
            </p:txBody>
          </p:sp>
          <p:grpSp>
            <p:nvGrpSpPr>
              <p:cNvPr name="Group 33" id="33"/>
              <p:cNvGrpSpPr/>
              <p:nvPr/>
            </p:nvGrpSpPr>
            <p:grpSpPr>
              <a:xfrm>
                <a:off x="685800" y="2032000"/>
                <a:ext cx="1219200" cy="558800"/>
                <a:chOff x="0" y="0"/>
                <a:chExt cx="1219200" cy="558800"/>
              </a:xfrm>
            </p:grpSpPr>
            <p:grpSp>
              <p:nvGrpSpPr>
                <p:cNvPr name="Group 34" id="34"/>
                <p:cNvGrpSpPr/>
                <p:nvPr/>
              </p:nvGrpSpPr>
              <p:grpSpPr>
                <a:xfrm>
                  <a:off x="0" y="0"/>
                  <a:ext cx="609600" cy="558800"/>
                  <a:chOff x="0" y="0"/>
                  <a:chExt cx="609600" cy="558800"/>
                </a:xfrm>
              </p:grpSpPr>
              <p:sp>
                <p:nvSpPr>
                  <p:cNvPr name="TextBox 35" id="35"/>
                  <p:cNvSpPr txBox="true"/>
                  <p:nvPr/>
                </p:nvSpPr>
                <p:spPr>
                  <a:xfrm>
                    <a:off x="114300" y="0"/>
                    <a:ext cx="381000" cy="355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true" i="false" u="none" sz="2000">
                        <a:solidFill>
                          <a:srgbClr val="1A237E"/>
                        </a:solidFill>
                        <a:latin typeface="Microsoft YaHei"/>
                      </a:rPr>
                      <a:t>67</a:t>
                    </a:r>
                  </a:p>
                </p:txBody>
              </p:sp>
              <p:sp>
                <p:nvSpPr>
                  <p:cNvPr name="TextBox 36" id="36"/>
                  <p:cNvSpPr txBox="true"/>
                  <p:nvPr/>
                </p:nvSpPr>
                <p:spPr>
                  <a:xfrm>
                    <a:off x="0" y="355600"/>
                    <a:ext cx="609600" cy="2032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100">
                        <a:solidFill>
                          <a:srgbClr val="9E9E9E"/>
                        </a:solidFill>
                        <a:latin typeface="Microsoft YaHei"/>
                      </a:rPr>
                      <a:t>Commits</a:t>
                    </a:r>
                  </a:p>
                </p:txBody>
              </p:sp>
            </p:grpSp>
            <p:grpSp>
              <p:nvGrpSpPr>
                <p:cNvPr name="Group 37" id="37"/>
                <p:cNvGrpSpPr/>
                <p:nvPr/>
              </p:nvGrpSpPr>
              <p:grpSpPr>
                <a:xfrm>
                  <a:off x="850900" y="0"/>
                  <a:ext cx="355600" cy="558800"/>
                  <a:chOff x="0" y="0"/>
                  <a:chExt cx="355600" cy="558800"/>
                </a:xfrm>
              </p:grpSpPr>
              <p:sp>
                <p:nvSpPr>
                  <p:cNvPr name="TextBox 38" id="38"/>
                  <p:cNvSpPr txBox="true"/>
                  <p:nvPr/>
                </p:nvSpPr>
                <p:spPr>
                  <a:xfrm>
                    <a:off x="0" y="0"/>
                    <a:ext cx="381000" cy="355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true" i="false" u="none" sz="2000">
                        <a:solidFill>
                          <a:srgbClr val="1A237E"/>
                        </a:solidFill>
                        <a:latin typeface="Microsoft YaHei"/>
                      </a:rPr>
                      <a:t>15</a:t>
                    </a:r>
                  </a:p>
                </p:txBody>
              </p:sp>
              <p:sp>
                <p:nvSpPr>
                  <p:cNvPr name="TextBox 39" id="39"/>
                  <p:cNvSpPr txBox="true"/>
                  <p:nvPr/>
                </p:nvSpPr>
                <p:spPr>
                  <a:xfrm>
                    <a:off x="38100" y="355600"/>
                    <a:ext cx="279400" cy="2032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100">
                        <a:solidFill>
                          <a:srgbClr val="9E9E9E"/>
                        </a:solidFill>
                        <a:latin typeface="Microsoft YaHei"/>
                      </a:rPr>
                      <a:t>PRs</a:t>
                    </a: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311B92"/>
                </a:solidFill>
                <a:latin typeface="Microsoft YaHei"/>
              </a:rPr>
              <a:t>Project Status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03300"/>
            <a:ext cx="8128000" cy="3759200"/>
            <a:chOff x="0" y="0"/>
            <a:chExt cx="8128000" cy="37592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2578100" cy="37592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4CAF50"/>
              </a:solidFill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2578100" cy="3759200"/>
              <a:chOff x="0" y="0"/>
              <a:chExt cx="2578100" cy="3759200"/>
            </a:xfrm>
          </p:grpSpPr>
          <p:sp>
            <p:nvSpPr>
              <p:cNvPr name="TextBox 6" id="6"/>
              <p:cNvSpPr txBox="true"/>
              <p:nvPr/>
            </p:nvSpPr>
            <p:spPr>
              <a:xfrm>
                <a:off x="254000" y="254000"/>
                <a:ext cx="20828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600">
                    <a:solidFill>
                      <a:srgbClr val="2E7D32"/>
                    </a:solidFill>
                    <a:latin typeface="Microsoft YaHei"/>
                  </a:rPr>
                  <a:t>On Track</a:t>
                </a:r>
              </a:p>
            </p:txBody>
          </p:sp>
          <p:sp>
            <p:nvSpPr>
              <p:cNvPr name="TextBox 7" id="7"/>
              <p:cNvSpPr txBox="true"/>
              <p:nvPr/>
            </p:nvSpPr>
            <p:spPr>
              <a:xfrm>
                <a:off x="254000" y="635000"/>
                <a:ext cx="20828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Frontend Redesign</a:t>
                </a:r>
              </a:p>
            </p:txBody>
          </p:sp>
          <p:sp>
            <p:nvSpPr>
              <p:cNvPr name="TextBox 8" id="8"/>
              <p:cNvSpPr txBox="true"/>
              <p:nvPr/>
            </p:nvSpPr>
            <p:spPr>
              <a:xfrm>
                <a:off x="254000" y="990600"/>
                <a:ext cx="20828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API Migration</a:t>
                </a:r>
              </a:p>
            </p:txBody>
          </p:sp>
          <p:sp>
            <p:nvSpPr>
              <p:cNvPr name="TextBox 9" id="9"/>
              <p:cNvSpPr txBox="true"/>
              <p:nvPr/>
            </p:nvSpPr>
            <p:spPr>
              <a:xfrm>
                <a:off x="254000" y="1333500"/>
                <a:ext cx="2082800" cy="508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Database Optimization</a:t>
                </a:r>
              </a:p>
            </p:txBody>
          </p:sp>
        </p:grpSp>
        <p:sp>
          <p:nvSpPr>
            <p:cNvPr name="AutoShape 10" id="10"/>
            <p:cNvSpPr/>
            <p:nvPr/>
          </p:nvSpPr>
          <p:spPr>
            <a:xfrm>
              <a:off x="2768600" y="0"/>
              <a:ext cx="2590800" cy="37592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FF9800"/>
              </a:solidFill>
            </a:ln>
          </p:spPr>
        </p:sp>
        <p:grpSp>
          <p:nvGrpSpPr>
            <p:cNvPr name="Group 11" id="11"/>
            <p:cNvGrpSpPr/>
            <p:nvPr/>
          </p:nvGrpSpPr>
          <p:grpSpPr>
            <a:xfrm>
              <a:off x="2768600" y="0"/>
              <a:ext cx="2590800" cy="3759200"/>
              <a:chOff x="0" y="0"/>
              <a:chExt cx="2590800" cy="3759200"/>
            </a:xfrm>
          </p:grpSpPr>
          <p:sp>
            <p:nvSpPr>
              <p:cNvPr name="TextBox 12" id="12"/>
              <p:cNvSpPr txBox="true"/>
              <p:nvPr/>
            </p:nvSpPr>
            <p:spPr>
              <a:xfrm>
                <a:off x="254000" y="254000"/>
                <a:ext cx="20828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600">
                    <a:solidFill>
                      <a:srgbClr val="E65100"/>
                    </a:solidFill>
                    <a:latin typeface="Microsoft YaHei"/>
                  </a:rPr>
                  <a:t>At Risk</a:t>
                </a:r>
              </a:p>
            </p:txBody>
          </p:sp>
          <p:sp>
            <p:nvSpPr>
              <p:cNvPr name="TextBox 13" id="13"/>
              <p:cNvSpPr txBox="true"/>
              <p:nvPr/>
            </p:nvSpPr>
            <p:spPr>
              <a:xfrm>
                <a:off x="254000" y="635000"/>
                <a:ext cx="20828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Mobile App v3</a:t>
                </a:r>
              </a:p>
            </p:txBody>
          </p:sp>
          <p:sp>
            <p:nvSpPr>
              <p:cNvPr name="TextBox 14" id="14"/>
              <p:cNvSpPr txBox="true"/>
              <p:nvPr/>
            </p:nvSpPr>
            <p:spPr>
              <a:xfrm>
                <a:off x="254000" y="990600"/>
                <a:ext cx="20828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Payment Gateway</a:t>
                </a:r>
              </a:p>
            </p:txBody>
          </p:sp>
        </p:grpSp>
        <p:sp>
          <p:nvSpPr>
            <p:cNvPr name="AutoShape 15" id="15"/>
            <p:cNvSpPr/>
            <p:nvPr/>
          </p:nvSpPr>
          <p:spPr>
            <a:xfrm>
              <a:off x="5549900" y="0"/>
              <a:ext cx="2578100" cy="37592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F44336"/>
              </a:solidFill>
            </a:ln>
          </p:spPr>
        </p:sp>
        <p:grpSp>
          <p:nvGrpSpPr>
            <p:cNvPr name="Group 16" id="16"/>
            <p:cNvGrpSpPr/>
            <p:nvPr/>
          </p:nvGrpSpPr>
          <p:grpSpPr>
            <a:xfrm>
              <a:off x="5549900" y="0"/>
              <a:ext cx="2578100" cy="3759200"/>
              <a:chOff x="0" y="0"/>
              <a:chExt cx="2578100" cy="3759200"/>
            </a:xfrm>
          </p:grpSpPr>
          <p:sp>
            <p:nvSpPr>
              <p:cNvPr name="TextBox 17" id="17"/>
              <p:cNvSpPr txBox="true"/>
              <p:nvPr/>
            </p:nvSpPr>
            <p:spPr>
              <a:xfrm>
                <a:off x="254000" y="254000"/>
                <a:ext cx="20828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600">
                    <a:solidFill>
                      <a:srgbClr val="C62828"/>
                    </a:solidFill>
                    <a:latin typeface="Microsoft YaHei"/>
                  </a:rPr>
                  <a:t>Blocked</a:t>
                </a:r>
              </a:p>
            </p:txBody>
          </p:sp>
          <p:sp>
            <p:nvSpPr>
              <p:cNvPr name="TextBox 18" id="18"/>
              <p:cNvSpPr txBox="true"/>
              <p:nvPr/>
            </p:nvSpPr>
            <p:spPr>
              <a:xfrm>
                <a:off x="254000" y="635000"/>
                <a:ext cx="2082800" cy="508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Third-party Integration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