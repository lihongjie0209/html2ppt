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9144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032000" y="1955800"/>
            <a:ext cx="5080000" cy="7112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4000">
                <a:solidFill>
                  <a:srgbClr val="FFFFFF"/>
                </a:solidFill>
                <a:latin typeface="Microsoft YaHei"/>
              </a:rPr>
              <a:t>Table Rendering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990600" y="2857500"/>
            <a:ext cx="7162800" cy="3302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1800">
                <a:solidFill>
                  <a:srgbClr val="90CAF9"/>
                </a:solidFill>
                <a:latin typeface="Microsoft YaHei"/>
              </a:rPr>
              <a:t>Testing table layouts with headers, styling and data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0D47A1"/>
                </a:solidFill>
                <a:latin typeface="Microsoft YaHei"/>
              </a:rPr>
              <a:t>Basic Data Table</a:t>
            </a:r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508000" y="1003300"/>
          <a:ext cx="8128000" cy="1778000"/>
        </p:xfrm>
        <a:graphic>
          <a:graphicData uri="http://schemas.openxmlformats.org/drawingml/2006/table">
            <a:tbl>
              <a:tblPr/>
              <a:tblGrid>
                <a:gridCol w="2032000"/>
                <a:gridCol w="2032000"/>
                <a:gridCol w="2032000"/>
                <a:gridCol w="2032000"/>
              </a:tblGrid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b="true" sz="1400">
                          <a:solidFill>
                            <a:srgbClr val="FFFFFF"/>
                          </a:solidFill>
                          <a:latin typeface="Microsoft YaHei"/>
                        </a:rPr>
                        <a:t>Name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b="true" sz="1400">
                          <a:solidFill>
                            <a:srgbClr val="FFFFFF"/>
                          </a:solidFill>
                          <a:latin typeface="Microsoft YaHei"/>
                        </a:rPr>
                        <a:t>Role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b="true" sz="1400">
                          <a:solidFill>
                            <a:srgbClr val="FFFFFF"/>
                          </a:solidFill>
                          <a:latin typeface="Microsoft YaHei"/>
                        </a:rPr>
                        <a:t>Department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b="true" sz="1400">
                          <a:solidFill>
                            <a:srgbClr val="FFFFFF"/>
                          </a:solidFill>
                          <a:latin typeface="Microsoft YaHei"/>
                        </a:rPr>
                        <a:t>Status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5C0"/>
                    </a:solidFill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Alice Chen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Tech Lead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Engineering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Active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Bob Wang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Designer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Product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Active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Carol Li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PM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Management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On Leave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David Zhang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Backend Dev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Engineering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Active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0D47A1"/>
                </a:solidFill>
                <a:latin typeface="Microsoft YaHei"/>
              </a:rPr>
              <a:t>Quarterly Revenue</a:t>
            </a:r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508000" y="1003300"/>
          <a:ext cx="8128000" cy="1778000"/>
        </p:xfrm>
        <a:graphic>
          <a:graphicData uri="http://schemas.openxmlformats.org/drawingml/2006/table">
            <a:tbl>
              <a:tblPr/>
              <a:tblGrid>
                <a:gridCol w="1625600"/>
                <a:gridCol w="1625600"/>
                <a:gridCol w="1625600"/>
                <a:gridCol w="1625600"/>
                <a:gridCol w="1625600"/>
              </a:tblGrid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b="true" sz="1400">
                          <a:solidFill>
                            <a:srgbClr val="FFFFFF"/>
                          </a:solidFill>
                          <a:latin typeface="Microsoft YaHei"/>
                        </a:rPr>
                        <a:t>Quarter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b="true" sz="1400">
                          <a:solidFill>
                            <a:srgbClr val="FFFFFF"/>
                          </a:solidFill>
                          <a:latin typeface="Microsoft YaHei"/>
                        </a:rPr>
                        <a:t>Revenue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b="true" sz="1400">
                          <a:solidFill>
                            <a:srgbClr val="FFFFFF"/>
                          </a:solidFill>
                          <a:latin typeface="Microsoft YaHei"/>
                        </a:rPr>
                        <a:t>Expenses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b="true" sz="1400">
                          <a:solidFill>
                            <a:srgbClr val="FFFFFF"/>
                          </a:solidFill>
                          <a:latin typeface="Microsoft YaHei"/>
                        </a:rPr>
                        <a:t>Profit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b="true" sz="1400">
                          <a:solidFill>
                            <a:srgbClr val="FFFFFF"/>
                          </a:solidFill>
                          <a:latin typeface="Microsoft YaHei"/>
                        </a:rPr>
                        <a:t>Growth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5C0"/>
                    </a:solidFill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Q1 2024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$1.2M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$0.8M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$0.4M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+5%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Q2 2024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$1.5M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$0.9M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$0.6M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+25%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Q3 2024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$1.8M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$1.0M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$0.8M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+20%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Q4 2024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$2.4M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$1.2M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$1.2M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+33%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0D47A1"/>
                </a:solidFill>
                <a:latin typeface="Microsoft YaHei"/>
              </a:rPr>
              <a:t>Feature Comparison</a:t>
            </a:r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508000" y="1003300"/>
          <a:ext cx="8128000" cy="2133600"/>
        </p:xfrm>
        <a:graphic>
          <a:graphicData uri="http://schemas.openxmlformats.org/drawingml/2006/table">
            <a:tbl>
              <a:tblPr/>
              <a:tblGrid>
                <a:gridCol w="2032000"/>
                <a:gridCol w="2032000"/>
                <a:gridCol w="2032000"/>
                <a:gridCol w="2032000"/>
              </a:tblGrid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b="true" sz="1400">
                          <a:solidFill>
                            <a:srgbClr val="FFFFFF"/>
                          </a:solidFill>
                          <a:latin typeface="Microsoft YaHei"/>
                        </a:rPr>
                        <a:t>Feature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b="true" sz="1400">
                          <a:solidFill>
                            <a:srgbClr val="FFFFFF"/>
                          </a:solidFill>
                          <a:latin typeface="Microsoft YaHei"/>
                        </a:rPr>
                        <a:t>Basic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b="true" sz="1400">
                          <a:solidFill>
                            <a:srgbClr val="FFFFFF"/>
                          </a:solidFill>
                          <a:latin typeface="Microsoft YaHei"/>
                        </a:rPr>
                        <a:t>Pro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b="true" sz="1400">
                          <a:solidFill>
                            <a:srgbClr val="FFFFFF"/>
                          </a:solidFill>
                          <a:latin typeface="Microsoft YaHei"/>
                        </a:rPr>
                        <a:t>Enterprise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148C"/>
                    </a:solidFill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Users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5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50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Unlimited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Storage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1 GB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100 GB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Unlimited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Support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Email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Priority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Dedicated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API Access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No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Yes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Yes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Price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Free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$29/mo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Custom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0D47A1"/>
                </a:solidFill>
                <a:ea typeface="Microsoft YaHei"/>
              </a:rPr>
              <a:t>项目进度表</a:t>
            </a:r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508000" y="1003300"/>
          <a:ext cx="8128000" cy="1778000"/>
        </p:xfrm>
        <a:graphic>
          <a:graphicData uri="http://schemas.openxmlformats.org/drawingml/2006/table">
            <a:tbl>
              <a:tblPr/>
              <a:tblGrid>
                <a:gridCol w="2032000"/>
                <a:gridCol w="2032000"/>
                <a:gridCol w="2032000"/>
                <a:gridCol w="2032000"/>
              </a:tblGrid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b="true" sz="1400">
                          <a:solidFill>
                            <a:srgbClr val="FFFFFF"/>
                          </a:solidFill>
                          <a:ea typeface="Microsoft YaHei"/>
                        </a:rPr>
                        <a:t>项目名称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695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b="true" sz="1400">
                          <a:solidFill>
                            <a:srgbClr val="FFFFFF"/>
                          </a:solidFill>
                          <a:ea typeface="Microsoft YaHei"/>
                        </a:rPr>
                        <a:t>负责人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695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b="true" sz="1400">
                          <a:solidFill>
                            <a:srgbClr val="FFFFFF"/>
                          </a:solidFill>
                          <a:ea typeface="Microsoft YaHei"/>
                        </a:rPr>
                        <a:t>进度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695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b="true" sz="1400">
                          <a:solidFill>
                            <a:srgbClr val="FFFFFF"/>
                          </a:solidFill>
                          <a:ea typeface="Microsoft YaHei"/>
                        </a:rPr>
                        <a:t>截止日期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695C"/>
                    </a:solidFill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ea typeface="Microsoft YaHei"/>
                        </a:rPr>
                        <a:t>前端重构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ea typeface="Microsoft YaHei"/>
                        </a:rPr>
                        <a:t>张三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95%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2024-12-15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API 升级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ea typeface="Microsoft YaHei"/>
                        </a:rPr>
                        <a:t>李四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80%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2024-12-20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ea typeface="Microsoft YaHei"/>
                        </a:rPr>
                        <a:t>移动端适配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ea typeface="Microsoft YaHei"/>
                        </a:rPr>
                        <a:t>王五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60%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2025-01-10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ea typeface="Microsoft YaHei"/>
                        </a:rPr>
                        <a:t>性能优化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ea typeface="Microsoft YaHei"/>
                        </a:rPr>
                        <a:t>赵六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40%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400">
                          <a:latin typeface="Microsoft YaHei"/>
                        </a:rPr>
                        <a:t>2025-01-30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