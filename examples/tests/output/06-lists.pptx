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9144000" cy="5143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BF36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032000" y="1968500"/>
            <a:ext cx="5080000" cy="7112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4000">
                <a:solidFill>
                  <a:srgbClr val="FFFFFF"/>
                </a:solidFill>
                <a:latin typeface="Microsoft YaHei"/>
              </a:rPr>
              <a:t>Lists &amp; Bullets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1536700" y="2832100"/>
            <a:ext cx="6057900" cy="3429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false" i="false" u="none" sz="1800">
                <a:solidFill>
                  <a:srgbClr val="FFAB91"/>
                </a:solidFill>
                <a:latin typeface="Microsoft YaHei"/>
              </a:rPr>
              <a:t>Testing ordered and unordered list rendering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4318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400">
                <a:solidFill>
                  <a:srgbClr val="BF360C"/>
                </a:solidFill>
                <a:latin typeface="Microsoft YaHei"/>
              </a:rPr>
              <a:t>Unordered vs Ordered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508000" y="965200"/>
            <a:ext cx="8128000" cy="3797300"/>
            <a:chOff x="0" y="0"/>
            <a:chExt cx="8128000" cy="3797300"/>
          </a:xfrm>
        </p:grpSpPr>
        <p:grpSp>
          <p:nvGrpSpPr>
            <p:cNvPr name="Group 4" id="4"/>
            <p:cNvGrpSpPr/>
            <p:nvPr/>
          </p:nvGrpSpPr>
          <p:grpSpPr>
            <a:xfrm>
              <a:off x="0" y="0"/>
              <a:ext cx="3937000" cy="3797300"/>
              <a:chOff x="0" y="0"/>
              <a:chExt cx="3937000" cy="3797300"/>
            </a:xfrm>
          </p:grpSpPr>
          <p:sp>
            <p:nvSpPr>
              <p:cNvPr name="TextBox 5" id="5"/>
              <p:cNvSpPr txBox="true"/>
              <p:nvPr/>
            </p:nvSpPr>
            <p:spPr>
              <a:xfrm>
                <a:off x="0" y="0"/>
                <a:ext cx="3937000" cy="266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true" i="false" u="none" sz="1400">
                    <a:solidFill>
                      <a:srgbClr val="666666"/>
                    </a:solidFill>
                    <a:latin typeface="Microsoft YaHei"/>
                  </a:rPr>
                  <a:t>Unordered List</a:t>
                </a:r>
              </a:p>
            </p:txBody>
          </p:sp>
          <p:grpSp>
            <p:nvGrpSpPr>
              <p:cNvPr name="Group 6" id="6"/>
              <p:cNvGrpSpPr/>
              <p:nvPr/>
            </p:nvGrpSpPr>
            <p:grpSpPr>
              <a:xfrm>
                <a:off x="0" y="355600"/>
                <a:ext cx="3937000" cy="1422400"/>
                <a:chOff x="0" y="0"/>
                <a:chExt cx="3937000" cy="1422400"/>
              </a:xfrm>
            </p:grpSpPr>
            <p:sp>
              <p:nvSpPr>
                <p:cNvPr name="TextBox 7" id="7"/>
                <p:cNvSpPr txBox="true"/>
                <p:nvPr/>
              </p:nvSpPr>
              <p:spPr>
                <a:xfrm>
                  <a:off x="0" y="0"/>
                  <a:ext cx="3937000" cy="2921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600">
                      <a:latin typeface="Microsoft YaHei"/>
                    </a:rPr>
                    <a:t>• First item</a:t>
                  </a:r>
                </a:p>
              </p:txBody>
            </p:sp>
            <p:sp>
              <p:nvSpPr>
                <p:cNvPr name="TextBox 8" id="8"/>
                <p:cNvSpPr txBox="true"/>
                <p:nvPr/>
              </p:nvSpPr>
              <p:spPr>
                <a:xfrm>
                  <a:off x="0" y="279400"/>
                  <a:ext cx="3937000" cy="2921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600">
                      <a:latin typeface="Microsoft YaHei"/>
                    </a:rPr>
                    <a:t>• Second item</a:t>
                  </a:r>
                </a:p>
              </p:txBody>
            </p:sp>
            <p:sp>
              <p:nvSpPr>
                <p:cNvPr name="TextBox 9" id="9"/>
                <p:cNvSpPr txBox="true"/>
                <p:nvPr/>
              </p:nvSpPr>
              <p:spPr>
                <a:xfrm>
                  <a:off x="0" y="558800"/>
                  <a:ext cx="3937000" cy="2921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600">
                      <a:latin typeface="Microsoft YaHei"/>
                    </a:rPr>
                    <a:t>• Third item</a:t>
                  </a:r>
                </a:p>
              </p:txBody>
            </p:sp>
            <p:sp>
              <p:nvSpPr>
                <p:cNvPr name="TextBox 10" id="10"/>
                <p:cNvSpPr txBox="true"/>
                <p:nvPr/>
              </p:nvSpPr>
              <p:spPr>
                <a:xfrm>
                  <a:off x="0" y="850900"/>
                  <a:ext cx="3937000" cy="2921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600">
                      <a:latin typeface="Microsoft YaHei"/>
                    </a:rPr>
                    <a:t>• Fourth item</a:t>
                  </a:r>
                </a:p>
              </p:txBody>
            </p:sp>
            <p:sp>
              <p:nvSpPr>
                <p:cNvPr name="TextBox 11" id="11"/>
                <p:cNvSpPr txBox="true"/>
                <p:nvPr/>
              </p:nvSpPr>
              <p:spPr>
                <a:xfrm>
                  <a:off x="0" y="1130300"/>
                  <a:ext cx="3937000" cy="3048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600">
                      <a:latin typeface="Microsoft YaHei"/>
                    </a:rPr>
                    <a:t>• Fifth item</a:t>
                  </a:r>
                </a:p>
              </p:txBody>
            </p:sp>
          </p:grpSp>
        </p:grpSp>
        <p:grpSp>
          <p:nvGrpSpPr>
            <p:cNvPr name="Group 12" id="12"/>
            <p:cNvGrpSpPr/>
            <p:nvPr/>
          </p:nvGrpSpPr>
          <p:grpSpPr>
            <a:xfrm>
              <a:off x="4191000" y="0"/>
              <a:ext cx="3937000" cy="3797300"/>
              <a:chOff x="0" y="0"/>
              <a:chExt cx="3937000" cy="3797300"/>
            </a:xfrm>
          </p:grpSpPr>
          <p:sp>
            <p:nvSpPr>
              <p:cNvPr name="TextBox 13" id="13"/>
              <p:cNvSpPr txBox="true"/>
              <p:nvPr/>
            </p:nvSpPr>
            <p:spPr>
              <a:xfrm>
                <a:off x="0" y="0"/>
                <a:ext cx="3937000" cy="266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true" i="false" u="none" sz="1400">
                    <a:solidFill>
                      <a:srgbClr val="666666"/>
                    </a:solidFill>
                    <a:latin typeface="Microsoft YaHei"/>
                  </a:rPr>
                  <a:t>Ordered List</a:t>
                </a:r>
              </a:p>
            </p:txBody>
          </p:sp>
          <p:grpSp>
            <p:nvGrpSpPr>
              <p:cNvPr name="Group 14" id="14"/>
              <p:cNvGrpSpPr/>
              <p:nvPr/>
            </p:nvGrpSpPr>
            <p:grpSpPr>
              <a:xfrm>
                <a:off x="0" y="355600"/>
                <a:ext cx="3937000" cy="1422400"/>
                <a:chOff x="0" y="0"/>
                <a:chExt cx="3937000" cy="1422400"/>
              </a:xfrm>
            </p:grpSpPr>
            <p:sp>
              <p:nvSpPr>
                <p:cNvPr name="TextBox 15" id="15"/>
                <p:cNvSpPr txBox="true"/>
                <p:nvPr/>
              </p:nvSpPr>
              <p:spPr>
                <a:xfrm>
                  <a:off x="0" y="0"/>
                  <a:ext cx="3937000" cy="2921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600">
                      <a:latin typeface="Microsoft YaHei"/>
                    </a:rPr>
                    <a:t>1. Step one</a:t>
                  </a:r>
                </a:p>
              </p:txBody>
            </p:sp>
            <p:sp>
              <p:nvSpPr>
                <p:cNvPr name="TextBox 16" id="16"/>
                <p:cNvSpPr txBox="true"/>
                <p:nvPr/>
              </p:nvSpPr>
              <p:spPr>
                <a:xfrm>
                  <a:off x="0" y="279400"/>
                  <a:ext cx="3937000" cy="2921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600">
                      <a:latin typeface="Microsoft YaHei"/>
                    </a:rPr>
                    <a:t>2. Step two</a:t>
                  </a:r>
                </a:p>
              </p:txBody>
            </p:sp>
            <p:sp>
              <p:nvSpPr>
                <p:cNvPr name="TextBox 17" id="17"/>
                <p:cNvSpPr txBox="true"/>
                <p:nvPr/>
              </p:nvSpPr>
              <p:spPr>
                <a:xfrm>
                  <a:off x="0" y="558800"/>
                  <a:ext cx="3937000" cy="2921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600">
                      <a:latin typeface="Microsoft YaHei"/>
                    </a:rPr>
                    <a:t>3. Step three</a:t>
                  </a:r>
                </a:p>
              </p:txBody>
            </p:sp>
            <p:sp>
              <p:nvSpPr>
                <p:cNvPr name="TextBox 18" id="18"/>
                <p:cNvSpPr txBox="true"/>
                <p:nvPr/>
              </p:nvSpPr>
              <p:spPr>
                <a:xfrm>
                  <a:off x="0" y="850900"/>
                  <a:ext cx="3937000" cy="2921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600">
                      <a:latin typeface="Microsoft YaHei"/>
                    </a:rPr>
                    <a:t>4. Step four</a:t>
                  </a:r>
                </a:p>
              </p:txBody>
            </p:sp>
            <p:sp>
              <p:nvSpPr>
                <p:cNvPr name="TextBox 19" id="19"/>
                <p:cNvSpPr txBox="true"/>
                <p:nvPr/>
              </p:nvSpPr>
              <p:spPr>
                <a:xfrm>
                  <a:off x="0" y="1130300"/>
                  <a:ext cx="3937000" cy="3048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600">
                      <a:latin typeface="Microsoft YaHei"/>
                    </a:rPr>
                    <a:t>5. Step five</a:t>
                  </a:r>
                </a:p>
              </p:txBody>
            </p:sp>
          </p:grpSp>
        </p:grp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4318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400">
                <a:solidFill>
                  <a:srgbClr val="BF360C"/>
                </a:solidFill>
                <a:latin typeface="Microsoft YaHei"/>
              </a:rPr>
              <a:t>Action Plan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508000" y="965200"/>
            <a:ext cx="8128000" cy="1701800"/>
            <a:chOff x="0" y="0"/>
            <a:chExt cx="8128000" cy="1701800"/>
          </a:xfrm>
        </p:grpSpPr>
        <p:sp>
          <p:nvSpPr>
            <p:cNvPr name="TextBox 4" id="4"/>
            <p:cNvSpPr txBox="true"/>
            <p:nvPr/>
          </p:nvSpPr>
          <p:spPr>
            <a:xfrm>
              <a:off x="0" y="0"/>
              <a:ext cx="8128000" cy="292100"/>
            </a:xfrm>
            <a:prstGeom prst="rect">
              <a:avLst/>
            </a:prstGeom>
          </p:spPr>
          <p:txBody>
            <a:bodyPr anchor="t" rtlCol="false" lIns="0" rIns="0" tIns="0" bIns="0" wrap="square"/>
            <a:lstStyle/>
            <a:p>
              <a:r>
                <a:rPr lang="en-US" b="false" i="false" u="none" sz="1600">
                  <a:latin typeface="Microsoft YaHei"/>
                </a:rPr>
                <a:t>1. Review current system architecture and identify bottlenecks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>
              <a:off x="0" y="279400"/>
              <a:ext cx="8128000" cy="292100"/>
            </a:xfrm>
            <a:prstGeom prst="rect">
              <a:avLst/>
            </a:prstGeom>
          </p:spPr>
          <p:txBody>
            <a:bodyPr anchor="t" rtlCol="false" lIns="0" rIns="0" tIns="0" bIns="0" wrap="square"/>
            <a:lstStyle/>
            <a:p>
              <a:r>
                <a:rPr lang="en-US" b="false" i="false" u="none" sz="1600">
                  <a:latin typeface="Microsoft YaHei"/>
                </a:rPr>
                <a:t>2. Design new microservices-based architecture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>
              <a:off x="0" y="558800"/>
              <a:ext cx="8128000" cy="292100"/>
            </a:xfrm>
            <a:prstGeom prst="rect">
              <a:avLst/>
            </a:prstGeom>
          </p:spPr>
          <p:txBody>
            <a:bodyPr anchor="t" rtlCol="false" lIns="0" rIns="0" tIns="0" bIns="0" wrap="square"/>
            <a:lstStyle/>
            <a:p>
              <a:r>
                <a:rPr lang="en-US" b="false" i="false" u="none" sz="1600">
                  <a:latin typeface="Microsoft YaHei"/>
                </a:rPr>
                <a:t>3. Implement core services with proper testing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>
              <a:off x="0" y="850900"/>
              <a:ext cx="8128000" cy="304800"/>
            </a:xfrm>
            <a:prstGeom prst="rect">
              <a:avLst/>
            </a:prstGeom>
          </p:spPr>
          <p:txBody>
            <a:bodyPr anchor="t" rtlCol="false" lIns="0" rIns="0" tIns="0" bIns="0" wrap="square"/>
            <a:lstStyle/>
            <a:p>
              <a:r>
                <a:rPr lang="en-US" b="false" i="false" u="none" sz="1600">
                  <a:latin typeface="Microsoft YaHei"/>
                </a:rPr>
                <a:t>4. Migrate data from monolith to new services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>
              <a:off x="0" y="1130300"/>
              <a:ext cx="8128000" cy="292100"/>
            </a:xfrm>
            <a:prstGeom prst="rect">
              <a:avLst/>
            </a:prstGeom>
          </p:spPr>
          <p:txBody>
            <a:bodyPr anchor="t" rtlCol="false" lIns="0" rIns="0" tIns="0" bIns="0" wrap="square"/>
            <a:lstStyle/>
            <a:p>
              <a:r>
                <a:rPr lang="en-US" b="false" i="false" u="none" sz="1600">
                  <a:latin typeface="Microsoft YaHei"/>
                </a:rPr>
                <a:t>5. Deploy to staging and run integration tests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>
              <a:off x="0" y="1422400"/>
              <a:ext cx="8128000" cy="292100"/>
            </a:xfrm>
            <a:prstGeom prst="rect">
              <a:avLst/>
            </a:prstGeom>
          </p:spPr>
          <p:txBody>
            <a:bodyPr anchor="t" rtlCol="false" lIns="0" rIns="0" tIns="0" bIns="0" wrap="square"/>
            <a:lstStyle/>
            <a:p>
              <a:r>
                <a:rPr lang="en-US" b="false" i="false" u="none" sz="1600">
                  <a:latin typeface="Microsoft YaHei"/>
                </a:rPr>
                <a:t>6. Production rollout with canary deployment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4318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400">
                <a:solidFill>
                  <a:srgbClr val="BF360C"/>
                </a:solidFill>
                <a:latin typeface="Microsoft YaHei"/>
              </a:rPr>
              <a:t>Sprint Planning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508000" y="965200"/>
            <a:ext cx="8128000" cy="3797300"/>
            <a:chOff x="0" y="0"/>
            <a:chExt cx="8128000" cy="3797300"/>
          </a:xfrm>
        </p:grpSpPr>
        <p:sp>
          <p:nvSpPr>
            <p:cNvPr name="AutoShape 4" id="4"/>
            <p:cNvSpPr/>
            <p:nvPr/>
          </p:nvSpPr>
          <p:spPr>
            <a:xfrm>
              <a:off x="0" y="0"/>
              <a:ext cx="2540000" cy="3797300"/>
            </a:xfrm>
            <a:prstGeom prst="roundRect">
              <a:avLst/>
            </a:prstGeom>
            <a:solidFill>
              <a:srgbClr val="FBE9E7"/>
            </a:solidFill>
            <a:ln>
              <a:noFill/>
            </a:ln>
          </p:spPr>
        </p:sp>
        <p:grpSp>
          <p:nvGrpSpPr>
            <p:cNvPr name="Group 5" id="5"/>
            <p:cNvGrpSpPr/>
            <p:nvPr/>
          </p:nvGrpSpPr>
          <p:grpSpPr>
            <a:xfrm>
              <a:off x="0" y="0"/>
              <a:ext cx="2540000" cy="3797300"/>
              <a:chOff x="0" y="0"/>
              <a:chExt cx="2540000" cy="3797300"/>
            </a:xfrm>
          </p:grpSpPr>
          <p:sp>
            <p:nvSpPr>
              <p:cNvPr name="TextBox 6" id="6"/>
              <p:cNvSpPr txBox="true"/>
              <p:nvPr/>
            </p:nvSpPr>
            <p:spPr>
              <a:xfrm>
                <a:off x="190500" y="190500"/>
                <a:ext cx="2159000" cy="266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true" i="false" u="none" sz="1400">
                    <a:solidFill>
                      <a:srgbClr val="666666"/>
                    </a:solidFill>
                    <a:latin typeface="Microsoft YaHei"/>
                  </a:rPr>
                  <a:t>Must Have</a:t>
                </a:r>
              </a:p>
            </p:txBody>
          </p:sp>
          <p:grpSp>
            <p:nvGrpSpPr>
              <p:cNvPr name="Group 7" id="7"/>
              <p:cNvGrpSpPr/>
              <p:nvPr/>
            </p:nvGrpSpPr>
            <p:grpSpPr>
              <a:xfrm>
                <a:off x="190500" y="444500"/>
                <a:ext cx="2159000" cy="1143000"/>
                <a:chOff x="0" y="0"/>
                <a:chExt cx="2159000" cy="1143000"/>
              </a:xfrm>
            </p:grpSpPr>
            <p:sp>
              <p:nvSpPr>
                <p:cNvPr name="TextBox 8" id="8"/>
                <p:cNvSpPr txBox="true"/>
                <p:nvPr/>
              </p:nvSpPr>
              <p:spPr>
                <a:xfrm>
                  <a:off x="0" y="0"/>
                  <a:ext cx="2159000" cy="5715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600">
                      <a:latin typeface="Microsoft YaHei"/>
                    </a:rPr>
                    <a:t>• User authentication</a:t>
                  </a:r>
                </a:p>
              </p:txBody>
            </p:sp>
            <p:sp>
              <p:nvSpPr>
                <p:cNvPr name="TextBox 9" id="9"/>
                <p:cNvSpPr txBox="true"/>
                <p:nvPr/>
              </p:nvSpPr>
              <p:spPr>
                <a:xfrm>
                  <a:off x="0" y="558800"/>
                  <a:ext cx="2159000" cy="2921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600">
                      <a:latin typeface="Microsoft YaHei"/>
                    </a:rPr>
                    <a:t>• Dashboard page</a:t>
                  </a:r>
                </a:p>
              </p:txBody>
            </p:sp>
            <p:sp>
              <p:nvSpPr>
                <p:cNvPr name="TextBox 10" id="10"/>
                <p:cNvSpPr txBox="true"/>
                <p:nvPr/>
              </p:nvSpPr>
              <p:spPr>
                <a:xfrm>
                  <a:off x="0" y="850900"/>
                  <a:ext cx="2159000" cy="2921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600">
                      <a:latin typeface="Microsoft YaHei"/>
                    </a:rPr>
                    <a:t>• Data export API</a:t>
                  </a:r>
                </a:p>
              </p:txBody>
            </p:sp>
          </p:grpSp>
        </p:grpSp>
        <p:sp>
          <p:nvSpPr>
            <p:cNvPr name="AutoShape 11" id="11"/>
            <p:cNvSpPr/>
            <p:nvPr/>
          </p:nvSpPr>
          <p:spPr>
            <a:xfrm>
              <a:off x="2794000" y="0"/>
              <a:ext cx="2540000" cy="3797300"/>
            </a:xfrm>
            <a:prstGeom prst="roundRect">
              <a:avLst/>
            </a:prstGeom>
            <a:solidFill>
              <a:srgbClr val="FBE9E7"/>
            </a:solidFill>
            <a:ln>
              <a:noFill/>
            </a:ln>
          </p:spPr>
        </p:sp>
        <p:grpSp>
          <p:nvGrpSpPr>
            <p:cNvPr name="Group 12" id="12"/>
            <p:cNvGrpSpPr/>
            <p:nvPr/>
          </p:nvGrpSpPr>
          <p:grpSpPr>
            <a:xfrm>
              <a:off x="2794000" y="0"/>
              <a:ext cx="2540000" cy="3797300"/>
              <a:chOff x="0" y="0"/>
              <a:chExt cx="2540000" cy="3797300"/>
            </a:xfrm>
          </p:grpSpPr>
          <p:sp>
            <p:nvSpPr>
              <p:cNvPr name="TextBox 13" id="13"/>
              <p:cNvSpPr txBox="true"/>
              <p:nvPr/>
            </p:nvSpPr>
            <p:spPr>
              <a:xfrm>
                <a:off x="190500" y="190500"/>
                <a:ext cx="2159000" cy="266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true" i="false" u="none" sz="1400">
                    <a:solidFill>
                      <a:srgbClr val="666666"/>
                    </a:solidFill>
                    <a:latin typeface="Microsoft YaHei"/>
                  </a:rPr>
                  <a:t>Should Have</a:t>
                </a:r>
              </a:p>
            </p:txBody>
          </p:sp>
          <p:grpSp>
            <p:nvGrpSpPr>
              <p:cNvPr name="Group 14" id="14"/>
              <p:cNvGrpSpPr/>
              <p:nvPr/>
            </p:nvGrpSpPr>
            <p:grpSpPr>
              <a:xfrm>
                <a:off x="190500" y="444500"/>
                <a:ext cx="2159000" cy="1714500"/>
                <a:chOff x="0" y="0"/>
                <a:chExt cx="2159000" cy="1714500"/>
              </a:xfrm>
            </p:grpSpPr>
            <p:sp>
              <p:nvSpPr>
                <p:cNvPr name="TextBox 15" id="15"/>
                <p:cNvSpPr txBox="true"/>
                <p:nvPr/>
              </p:nvSpPr>
              <p:spPr>
                <a:xfrm>
                  <a:off x="0" y="0"/>
                  <a:ext cx="2159000" cy="5715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600">
                      <a:latin typeface="Microsoft YaHei"/>
                    </a:rPr>
                    <a:t>• Email notifications</a:t>
                  </a:r>
                </a:p>
              </p:txBody>
            </p:sp>
            <p:sp>
              <p:nvSpPr>
                <p:cNvPr name="TextBox 16" id="16"/>
                <p:cNvSpPr txBox="true"/>
                <p:nvPr/>
              </p:nvSpPr>
              <p:spPr>
                <a:xfrm>
                  <a:off x="0" y="558800"/>
                  <a:ext cx="2159000" cy="5715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600">
                      <a:latin typeface="Microsoft YaHei"/>
                    </a:rPr>
                    <a:t>• Search functionality</a:t>
                  </a:r>
                </a:p>
              </p:txBody>
            </p:sp>
            <p:sp>
              <p:nvSpPr>
                <p:cNvPr name="TextBox 17" id="17"/>
                <p:cNvSpPr txBox="true"/>
                <p:nvPr/>
              </p:nvSpPr>
              <p:spPr>
                <a:xfrm>
                  <a:off x="0" y="1130300"/>
                  <a:ext cx="2159000" cy="5842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600">
                      <a:latin typeface="Microsoft YaHei"/>
                    </a:rPr>
                    <a:t>• Dark mode support</a:t>
                  </a:r>
                </a:p>
              </p:txBody>
            </p:sp>
          </p:grpSp>
        </p:grpSp>
        <p:sp>
          <p:nvSpPr>
            <p:cNvPr name="AutoShape 18" id="18"/>
            <p:cNvSpPr/>
            <p:nvPr/>
          </p:nvSpPr>
          <p:spPr>
            <a:xfrm>
              <a:off x="5588000" y="0"/>
              <a:ext cx="2540000" cy="3797300"/>
            </a:xfrm>
            <a:prstGeom prst="roundRect">
              <a:avLst/>
            </a:prstGeom>
            <a:solidFill>
              <a:srgbClr val="FBE9E7"/>
            </a:solidFill>
            <a:ln>
              <a:noFill/>
            </a:ln>
          </p:spPr>
        </p:sp>
        <p:grpSp>
          <p:nvGrpSpPr>
            <p:cNvPr name="Group 19" id="19"/>
            <p:cNvGrpSpPr/>
            <p:nvPr/>
          </p:nvGrpSpPr>
          <p:grpSpPr>
            <a:xfrm>
              <a:off x="5588000" y="0"/>
              <a:ext cx="2540000" cy="3797300"/>
              <a:chOff x="0" y="0"/>
              <a:chExt cx="2540000" cy="3797300"/>
            </a:xfrm>
          </p:grpSpPr>
          <p:sp>
            <p:nvSpPr>
              <p:cNvPr name="TextBox 20" id="20"/>
              <p:cNvSpPr txBox="true"/>
              <p:nvPr/>
            </p:nvSpPr>
            <p:spPr>
              <a:xfrm>
                <a:off x="190500" y="190500"/>
                <a:ext cx="2159000" cy="266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true" i="false" u="none" sz="1400">
                    <a:solidFill>
                      <a:srgbClr val="666666"/>
                    </a:solidFill>
                    <a:latin typeface="Microsoft YaHei"/>
                  </a:rPr>
                  <a:t>Nice to Have</a:t>
                </a:r>
              </a:p>
            </p:txBody>
          </p:sp>
          <p:grpSp>
            <p:nvGrpSpPr>
              <p:cNvPr name="Group 21" id="21"/>
              <p:cNvGrpSpPr/>
              <p:nvPr/>
            </p:nvGrpSpPr>
            <p:grpSpPr>
              <a:xfrm>
                <a:off x="190500" y="444500"/>
                <a:ext cx="2159000" cy="1143000"/>
                <a:chOff x="0" y="0"/>
                <a:chExt cx="2159000" cy="1143000"/>
              </a:xfrm>
            </p:grpSpPr>
            <p:sp>
              <p:nvSpPr>
                <p:cNvPr name="TextBox 22" id="22"/>
                <p:cNvSpPr txBox="true"/>
                <p:nvPr/>
              </p:nvSpPr>
              <p:spPr>
                <a:xfrm>
                  <a:off x="0" y="0"/>
                  <a:ext cx="2159000" cy="2921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600">
                      <a:latin typeface="Microsoft YaHei"/>
                    </a:rPr>
                    <a:t>• Custom themes</a:t>
                  </a:r>
                </a:p>
              </p:txBody>
            </p:sp>
            <p:sp>
              <p:nvSpPr>
                <p:cNvPr name="TextBox 23" id="23"/>
                <p:cNvSpPr txBox="true"/>
                <p:nvPr/>
              </p:nvSpPr>
              <p:spPr>
                <a:xfrm>
                  <a:off x="0" y="279400"/>
                  <a:ext cx="2159000" cy="2921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600">
                      <a:latin typeface="Microsoft YaHei"/>
                    </a:rPr>
                    <a:t>• Export to PDF</a:t>
                  </a:r>
                </a:p>
              </p:txBody>
            </p:sp>
            <p:sp>
              <p:nvSpPr>
                <p:cNvPr name="TextBox 24" id="24"/>
                <p:cNvSpPr txBox="true"/>
                <p:nvPr/>
              </p:nvSpPr>
              <p:spPr>
                <a:xfrm>
                  <a:off x="0" y="558800"/>
                  <a:ext cx="2159000" cy="5715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600">
                      <a:latin typeface="Microsoft YaHei"/>
                    </a:rPr>
                    <a:t>• Keyboard shortcuts</a:t>
                  </a:r>
                </a:p>
              </p:txBody>
            </p:sp>
          </p:grpSp>
        </p:grp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4318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400">
                <a:solidFill>
                  <a:srgbClr val="BF360C"/>
                </a:solidFill>
                <a:ea typeface="Microsoft YaHei"/>
              </a:rPr>
              <a:t>中文列表测试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508000" y="965200"/>
            <a:ext cx="8128000" cy="3797300"/>
            <a:chOff x="0" y="0"/>
            <a:chExt cx="8128000" cy="3797300"/>
          </a:xfrm>
        </p:grpSpPr>
        <p:grpSp>
          <p:nvGrpSpPr>
            <p:cNvPr name="Group 4" id="4"/>
            <p:cNvGrpSpPr/>
            <p:nvPr/>
          </p:nvGrpSpPr>
          <p:grpSpPr>
            <a:xfrm>
              <a:off x="0" y="0"/>
              <a:ext cx="3937000" cy="3797300"/>
              <a:chOff x="0" y="0"/>
              <a:chExt cx="3937000" cy="3797300"/>
            </a:xfrm>
          </p:grpSpPr>
          <p:sp>
            <p:nvSpPr>
              <p:cNvPr name="TextBox 5" id="5"/>
              <p:cNvSpPr txBox="true"/>
              <p:nvPr/>
            </p:nvSpPr>
            <p:spPr>
              <a:xfrm>
                <a:off x="0" y="0"/>
                <a:ext cx="3937000" cy="266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true" i="false" u="none" sz="1400">
                    <a:solidFill>
                      <a:srgbClr val="666666"/>
                    </a:solidFill>
                    <a:ea typeface="Microsoft YaHei"/>
                  </a:rPr>
                  <a:t>工作安排</a:t>
                </a:r>
              </a:p>
            </p:txBody>
          </p:sp>
          <p:grpSp>
            <p:nvGrpSpPr>
              <p:cNvPr name="Group 6" id="6"/>
              <p:cNvGrpSpPr/>
              <p:nvPr/>
            </p:nvGrpSpPr>
            <p:grpSpPr>
              <a:xfrm>
                <a:off x="0" y="355600"/>
                <a:ext cx="3937000" cy="1422400"/>
                <a:chOff x="0" y="0"/>
                <a:chExt cx="3937000" cy="1422400"/>
              </a:xfrm>
            </p:grpSpPr>
            <p:sp>
              <p:nvSpPr>
                <p:cNvPr name="TextBox 7" id="7"/>
                <p:cNvSpPr txBox="true"/>
                <p:nvPr/>
              </p:nvSpPr>
              <p:spPr>
                <a:xfrm>
                  <a:off x="0" y="0"/>
                  <a:ext cx="3937000" cy="2921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600">
                      <a:latin typeface="Microsoft YaHei"/>
                    </a:rPr>
                    <a:t>1. 完成需求分析文档</a:t>
                  </a:r>
                </a:p>
              </p:txBody>
            </p:sp>
            <p:sp>
              <p:nvSpPr>
                <p:cNvPr name="TextBox 8" id="8"/>
                <p:cNvSpPr txBox="true"/>
                <p:nvPr/>
              </p:nvSpPr>
              <p:spPr>
                <a:xfrm>
                  <a:off x="0" y="279400"/>
                  <a:ext cx="3937000" cy="2921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600">
                      <a:latin typeface="Microsoft YaHei"/>
                    </a:rPr>
                    <a:t>2. 进行技术方案评审</a:t>
                  </a:r>
                </a:p>
              </p:txBody>
            </p:sp>
            <p:sp>
              <p:nvSpPr>
                <p:cNvPr name="TextBox 9" id="9"/>
                <p:cNvSpPr txBox="true"/>
                <p:nvPr/>
              </p:nvSpPr>
              <p:spPr>
                <a:xfrm>
                  <a:off x="0" y="558800"/>
                  <a:ext cx="3937000" cy="2921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600">
                      <a:latin typeface="Microsoft YaHei"/>
                    </a:rPr>
                    <a:t>3. 编写单元测试用例</a:t>
                  </a:r>
                </a:p>
              </p:txBody>
            </p:sp>
            <p:sp>
              <p:nvSpPr>
                <p:cNvPr name="TextBox 10" id="10"/>
                <p:cNvSpPr txBox="true"/>
                <p:nvPr/>
              </p:nvSpPr>
              <p:spPr>
                <a:xfrm>
                  <a:off x="0" y="850900"/>
                  <a:ext cx="3937000" cy="2921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600">
                      <a:latin typeface="Microsoft YaHei"/>
                    </a:rPr>
                    <a:t>4. 开发核心功能模块</a:t>
                  </a:r>
                </a:p>
              </p:txBody>
            </p:sp>
            <p:sp>
              <p:nvSpPr>
                <p:cNvPr name="TextBox 11" id="11"/>
                <p:cNvSpPr txBox="true"/>
                <p:nvPr/>
              </p:nvSpPr>
              <p:spPr>
                <a:xfrm>
                  <a:off x="0" y="1130300"/>
                  <a:ext cx="3937000" cy="3048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600">
                      <a:latin typeface="Microsoft YaHei"/>
                    </a:rPr>
                    <a:t>5. 提交代码审查请求</a:t>
                  </a:r>
                </a:p>
              </p:txBody>
            </p:sp>
          </p:grpSp>
        </p:grpSp>
        <p:grpSp>
          <p:nvGrpSpPr>
            <p:cNvPr name="Group 12" id="12"/>
            <p:cNvGrpSpPr/>
            <p:nvPr/>
          </p:nvGrpSpPr>
          <p:grpSpPr>
            <a:xfrm>
              <a:off x="4191000" y="0"/>
              <a:ext cx="3937000" cy="3797300"/>
              <a:chOff x="0" y="0"/>
              <a:chExt cx="3937000" cy="3797300"/>
            </a:xfrm>
          </p:grpSpPr>
          <p:sp>
            <p:nvSpPr>
              <p:cNvPr name="TextBox 13" id="13"/>
              <p:cNvSpPr txBox="true"/>
              <p:nvPr/>
            </p:nvSpPr>
            <p:spPr>
              <a:xfrm>
                <a:off x="0" y="0"/>
                <a:ext cx="3937000" cy="266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true" i="false" u="none" sz="1400">
                    <a:solidFill>
                      <a:srgbClr val="666666"/>
                    </a:solidFill>
                    <a:ea typeface="Microsoft YaHei"/>
                  </a:rPr>
                  <a:t>注意事项</a:t>
                </a:r>
              </a:p>
            </p:txBody>
          </p:sp>
          <p:grpSp>
            <p:nvGrpSpPr>
              <p:cNvPr name="Group 14" id="14"/>
              <p:cNvGrpSpPr/>
              <p:nvPr/>
            </p:nvGrpSpPr>
            <p:grpSpPr>
              <a:xfrm>
                <a:off x="0" y="355600"/>
                <a:ext cx="3937000" cy="1422400"/>
                <a:chOff x="0" y="0"/>
                <a:chExt cx="3937000" cy="1422400"/>
              </a:xfrm>
            </p:grpSpPr>
            <p:sp>
              <p:nvSpPr>
                <p:cNvPr name="TextBox 15" id="15"/>
                <p:cNvSpPr txBox="true"/>
                <p:nvPr/>
              </p:nvSpPr>
              <p:spPr>
                <a:xfrm>
                  <a:off x="0" y="0"/>
                  <a:ext cx="3937000" cy="2921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600">
                      <a:latin typeface="Microsoft YaHei"/>
                    </a:rPr>
                    <a:t>• 遵守编码规范和命名约定</a:t>
                  </a:r>
                </a:p>
              </p:txBody>
            </p:sp>
            <p:sp>
              <p:nvSpPr>
                <p:cNvPr name="TextBox 16" id="16"/>
                <p:cNvSpPr txBox="true"/>
                <p:nvPr/>
              </p:nvSpPr>
              <p:spPr>
                <a:xfrm>
                  <a:off x="0" y="279400"/>
                  <a:ext cx="3937000" cy="2921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600">
                      <a:latin typeface="Microsoft YaHei"/>
                    </a:rPr>
                    <a:t>• 保持测试覆盖率在85%以上</a:t>
                  </a:r>
                </a:p>
              </p:txBody>
            </p:sp>
            <p:sp>
              <p:nvSpPr>
                <p:cNvPr name="TextBox 17" id="17"/>
                <p:cNvSpPr txBox="true"/>
                <p:nvPr/>
              </p:nvSpPr>
              <p:spPr>
                <a:xfrm>
                  <a:off x="0" y="558800"/>
                  <a:ext cx="3937000" cy="2921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600">
                      <a:latin typeface="Microsoft YaHei"/>
                    </a:rPr>
                    <a:t>• 及时更新项目文档</a:t>
                  </a:r>
                </a:p>
              </p:txBody>
            </p:sp>
            <p:sp>
              <p:nvSpPr>
                <p:cNvPr name="TextBox 18" id="18"/>
                <p:cNvSpPr txBox="true"/>
                <p:nvPr/>
              </p:nvSpPr>
              <p:spPr>
                <a:xfrm>
                  <a:off x="0" y="850900"/>
                  <a:ext cx="3937000" cy="2921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600">
                      <a:latin typeface="Microsoft YaHei"/>
                    </a:rPr>
                    <a:t>• 每日站会汇报进度</a:t>
                  </a:r>
                </a:p>
              </p:txBody>
            </p:sp>
            <p:sp>
              <p:nvSpPr>
                <p:cNvPr name="TextBox 19" id="19"/>
                <p:cNvSpPr txBox="true"/>
                <p:nvPr/>
              </p:nvSpPr>
              <p:spPr>
                <a:xfrm>
                  <a:off x="0" y="1130300"/>
                  <a:ext cx="3937000" cy="3048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600">
                      <a:latin typeface="Microsoft YaHei"/>
                    </a:rPr>
                    <a:t>• 提前识别和报告风险</a:t>
                  </a:r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