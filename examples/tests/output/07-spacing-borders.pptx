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5143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689100" y="1981200"/>
            <a:ext cx="5765800" cy="7112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4000">
                <a:solidFill>
                  <a:srgbClr val="FFFFFF"/>
                </a:solidFill>
                <a:latin typeface="Microsoft YaHei"/>
              </a:rPr>
              <a:t>Spacing &amp; Borders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130300" y="2819400"/>
            <a:ext cx="6883400" cy="3429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false" i="false" u="none" sz="1800">
                <a:solidFill>
                  <a:srgbClr val="A5D6A7"/>
                </a:solidFill>
                <a:latin typeface="Microsoft YaHei"/>
              </a:rPr>
              <a:t>Testing padding, margin, borders and border-radius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B5E20"/>
                </a:solidFill>
                <a:latin typeface="Microsoft YaHei"/>
              </a:rPr>
              <a:t>Padding Comparison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892300" cy="3822700"/>
              <a:chOff x="0" y="0"/>
              <a:chExt cx="1892300" cy="3822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0" y="0"/>
                <a:ext cx="18923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padding: 5px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0" y="330200"/>
                <a:ext cx="1892300" cy="546100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name="Group 7" id="7"/>
              <p:cNvGrpSpPr/>
              <p:nvPr/>
            </p:nvGrpSpPr>
            <p:grpSpPr>
              <a:xfrm>
                <a:off x="0" y="330200"/>
                <a:ext cx="1892300" cy="546100"/>
                <a:chOff x="0" y="0"/>
                <a:chExt cx="1892300" cy="546100"/>
              </a:xfrm>
            </p:grpSpPr>
            <p:sp>
              <p:nvSpPr>
                <p:cNvPr name="AutoShape 8" id="8"/>
                <p:cNvSpPr/>
                <p:nvPr/>
              </p:nvSpPr>
              <p:spPr>
                <a:xfrm>
                  <a:off x="520700" y="63500"/>
                  <a:ext cx="850900" cy="419100"/>
                </a:xfrm>
                <a:prstGeom prst="roundRect">
                  <a:avLst/>
                </a:prstGeom>
                <a:solidFill>
                  <a:srgbClr val="A5D6A7"/>
                </a:solidFill>
                <a:ln>
                  <a:noFill/>
                </a:ln>
              </p:spPr>
            </p:sp>
            <p:grpSp>
              <p:nvGrpSpPr>
                <p:cNvPr name="Group 9" id="9"/>
                <p:cNvGrpSpPr/>
                <p:nvPr/>
              </p:nvGrpSpPr>
              <p:grpSpPr>
                <a:xfrm>
                  <a:off x="520700" y="63500"/>
                  <a:ext cx="850900" cy="419100"/>
                  <a:chOff x="0" y="0"/>
                  <a:chExt cx="850900" cy="419100"/>
                </a:xfrm>
              </p:grpSpPr>
              <p:sp>
                <p:nvSpPr>
                  <p:cNvPr name="TextBox 10" id="10"/>
                  <p:cNvSpPr txBox="true"/>
                  <p:nvPr/>
                </p:nvSpPr>
                <p:spPr>
                  <a:xfrm>
                    <a:off x="101600" y="101600"/>
                    <a:ext cx="6731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Content</a:t>
                    </a:r>
                  </a:p>
                </p:txBody>
              </p:sp>
            </p:grpSp>
          </p:grpSp>
        </p:grpSp>
        <p:grpSp>
          <p:nvGrpSpPr>
            <p:cNvPr name="Group 11" id="11"/>
            <p:cNvGrpSpPr/>
            <p:nvPr/>
          </p:nvGrpSpPr>
          <p:grpSpPr>
            <a:xfrm>
              <a:off x="2082800" y="0"/>
              <a:ext cx="1892300" cy="3822700"/>
              <a:chOff x="0" y="0"/>
              <a:chExt cx="1892300" cy="3822700"/>
            </a:xfrm>
          </p:grpSpPr>
          <p:sp>
            <p:nvSpPr>
              <p:cNvPr name="TextBox 12" id="12"/>
              <p:cNvSpPr txBox="true"/>
              <p:nvPr/>
            </p:nvSpPr>
            <p:spPr>
              <a:xfrm>
                <a:off x="0" y="0"/>
                <a:ext cx="19050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padding: 15px</a:t>
                </a:r>
              </a:p>
            </p:txBody>
          </p:sp>
          <p:sp>
            <p:nvSpPr>
              <p:cNvPr name="AutoShape 13" id="13"/>
              <p:cNvSpPr/>
              <p:nvPr/>
            </p:nvSpPr>
            <p:spPr>
              <a:xfrm>
                <a:off x="0" y="330200"/>
                <a:ext cx="1892300" cy="800100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name="Group 14" id="14"/>
              <p:cNvGrpSpPr/>
              <p:nvPr/>
            </p:nvGrpSpPr>
            <p:grpSpPr>
              <a:xfrm>
                <a:off x="0" y="330200"/>
                <a:ext cx="1892300" cy="800100"/>
                <a:chOff x="0" y="0"/>
                <a:chExt cx="1892300" cy="800100"/>
              </a:xfrm>
            </p:grpSpPr>
            <p:sp>
              <p:nvSpPr>
                <p:cNvPr name="AutoShape 15" id="15"/>
                <p:cNvSpPr/>
                <p:nvPr/>
              </p:nvSpPr>
              <p:spPr>
                <a:xfrm>
                  <a:off x="520700" y="190500"/>
                  <a:ext cx="863600" cy="419100"/>
                </a:xfrm>
                <a:prstGeom prst="roundRect">
                  <a:avLst/>
                </a:prstGeom>
                <a:solidFill>
                  <a:srgbClr val="A5D6A7"/>
                </a:solidFill>
                <a:ln>
                  <a:noFill/>
                </a:ln>
              </p:spPr>
            </p:sp>
            <p:grpSp>
              <p:nvGrpSpPr>
                <p:cNvPr name="Group 16" id="16"/>
                <p:cNvGrpSpPr/>
                <p:nvPr/>
              </p:nvGrpSpPr>
              <p:grpSpPr>
                <a:xfrm>
                  <a:off x="520700" y="190500"/>
                  <a:ext cx="863600" cy="419100"/>
                  <a:chOff x="0" y="0"/>
                  <a:chExt cx="863600" cy="419100"/>
                </a:xfrm>
              </p:grpSpPr>
              <p:sp>
                <p:nvSpPr>
                  <p:cNvPr name="TextBox 17" id="17"/>
                  <p:cNvSpPr txBox="true"/>
                  <p:nvPr/>
                </p:nvSpPr>
                <p:spPr>
                  <a:xfrm>
                    <a:off x="101600" y="101600"/>
                    <a:ext cx="6604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Content</a:t>
                    </a:r>
                  </a:p>
                </p:txBody>
              </p:sp>
            </p:grpSp>
          </p:grpSp>
        </p:grpSp>
        <p:grpSp>
          <p:nvGrpSpPr>
            <p:cNvPr name="Group 18" id="18"/>
            <p:cNvGrpSpPr/>
            <p:nvPr/>
          </p:nvGrpSpPr>
          <p:grpSpPr>
            <a:xfrm>
              <a:off x="4165600" y="0"/>
              <a:ext cx="1879600" cy="3822700"/>
              <a:chOff x="0" y="0"/>
              <a:chExt cx="1879600" cy="3822700"/>
            </a:xfrm>
          </p:grpSpPr>
          <p:sp>
            <p:nvSpPr>
              <p:cNvPr name="TextBox 19" id="19"/>
              <p:cNvSpPr txBox="true"/>
              <p:nvPr/>
            </p:nvSpPr>
            <p:spPr>
              <a:xfrm>
                <a:off x="0" y="0"/>
                <a:ext cx="19050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padding: 30px</a:t>
                </a:r>
              </a:p>
            </p:txBody>
          </p:sp>
          <p:sp>
            <p:nvSpPr>
              <p:cNvPr name="AutoShape 20" id="20"/>
              <p:cNvSpPr/>
              <p:nvPr/>
            </p:nvSpPr>
            <p:spPr>
              <a:xfrm>
                <a:off x="0" y="330200"/>
                <a:ext cx="1879600" cy="1181100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name="Group 21" id="21"/>
              <p:cNvGrpSpPr/>
              <p:nvPr/>
            </p:nvGrpSpPr>
            <p:grpSpPr>
              <a:xfrm>
                <a:off x="0" y="330200"/>
                <a:ext cx="1879600" cy="1181100"/>
                <a:chOff x="0" y="0"/>
                <a:chExt cx="1879600" cy="1181100"/>
              </a:xfrm>
            </p:grpSpPr>
            <p:sp>
              <p:nvSpPr>
                <p:cNvPr name="AutoShape 22" id="22"/>
                <p:cNvSpPr/>
                <p:nvPr/>
              </p:nvSpPr>
              <p:spPr>
                <a:xfrm>
                  <a:off x="520700" y="381000"/>
                  <a:ext cx="863600" cy="419100"/>
                </a:xfrm>
                <a:prstGeom prst="roundRect">
                  <a:avLst/>
                </a:prstGeom>
                <a:solidFill>
                  <a:srgbClr val="A5D6A7"/>
                </a:solidFill>
                <a:ln>
                  <a:noFill/>
                </a:ln>
              </p:spPr>
            </p:sp>
            <p:grpSp>
              <p:nvGrpSpPr>
                <p:cNvPr name="Group 23" id="23"/>
                <p:cNvGrpSpPr/>
                <p:nvPr/>
              </p:nvGrpSpPr>
              <p:grpSpPr>
                <a:xfrm>
                  <a:off x="520700" y="381000"/>
                  <a:ext cx="863600" cy="419100"/>
                  <a:chOff x="0" y="0"/>
                  <a:chExt cx="863600" cy="419100"/>
                </a:xfrm>
              </p:grpSpPr>
              <p:sp>
                <p:nvSpPr>
                  <p:cNvPr name="TextBox 24" id="24"/>
                  <p:cNvSpPr txBox="true"/>
                  <p:nvPr/>
                </p:nvSpPr>
                <p:spPr>
                  <a:xfrm>
                    <a:off x="101600" y="101600"/>
                    <a:ext cx="6604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Content</a:t>
                    </a:r>
                  </a:p>
                </p:txBody>
              </p:sp>
            </p:grpSp>
          </p:grpSp>
        </p:grpSp>
        <p:grpSp>
          <p:nvGrpSpPr>
            <p:cNvPr name="Group 25" id="25"/>
            <p:cNvGrpSpPr/>
            <p:nvPr/>
          </p:nvGrpSpPr>
          <p:grpSpPr>
            <a:xfrm>
              <a:off x="6235700" y="0"/>
              <a:ext cx="1892300" cy="3822700"/>
              <a:chOff x="0" y="0"/>
              <a:chExt cx="1892300" cy="3822700"/>
            </a:xfrm>
          </p:grpSpPr>
          <p:sp>
            <p:nvSpPr>
              <p:cNvPr name="TextBox 26" id="26"/>
              <p:cNvSpPr txBox="true"/>
              <p:nvPr/>
            </p:nvSpPr>
            <p:spPr>
              <a:xfrm>
                <a:off x="0" y="0"/>
                <a:ext cx="18923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padding: 10px 40px</a:t>
                </a:r>
              </a:p>
            </p:txBody>
          </p:sp>
          <p:sp>
            <p:nvSpPr>
              <p:cNvPr name="AutoShape 27" id="27"/>
              <p:cNvSpPr/>
              <p:nvPr/>
            </p:nvSpPr>
            <p:spPr>
              <a:xfrm>
                <a:off x="0" y="330200"/>
                <a:ext cx="1892300" cy="673100"/>
              </a:xfrm>
              <a:prstGeom prst="rect">
                <a:avLst/>
              </a:prstGeom>
              <a:solidFill>
                <a:srgbClr val="E8F5E9"/>
              </a:solidFill>
              <a:ln>
                <a:noFill/>
              </a:ln>
            </p:spPr>
          </p:sp>
          <p:grpSp>
            <p:nvGrpSpPr>
              <p:cNvPr name="Group 28" id="28"/>
              <p:cNvGrpSpPr/>
              <p:nvPr/>
            </p:nvGrpSpPr>
            <p:grpSpPr>
              <a:xfrm>
                <a:off x="0" y="330200"/>
                <a:ext cx="1892300" cy="673100"/>
                <a:chOff x="0" y="0"/>
                <a:chExt cx="1892300" cy="673100"/>
              </a:xfrm>
            </p:grpSpPr>
            <p:sp>
              <p:nvSpPr>
                <p:cNvPr name="AutoShape 29" id="29"/>
                <p:cNvSpPr/>
                <p:nvPr/>
              </p:nvSpPr>
              <p:spPr>
                <a:xfrm>
                  <a:off x="520700" y="127000"/>
                  <a:ext cx="850900" cy="419100"/>
                </a:xfrm>
                <a:prstGeom prst="roundRect">
                  <a:avLst/>
                </a:prstGeom>
                <a:solidFill>
                  <a:srgbClr val="A5D6A7"/>
                </a:solidFill>
                <a:ln>
                  <a:noFill/>
                </a:ln>
              </p:spPr>
            </p:sp>
            <p:grpSp>
              <p:nvGrpSpPr>
                <p:cNvPr name="Group 30" id="30"/>
                <p:cNvGrpSpPr/>
                <p:nvPr/>
              </p:nvGrpSpPr>
              <p:grpSpPr>
                <a:xfrm>
                  <a:off x="520700" y="127000"/>
                  <a:ext cx="850900" cy="419100"/>
                  <a:chOff x="0" y="0"/>
                  <a:chExt cx="850900" cy="419100"/>
                </a:xfrm>
              </p:grpSpPr>
              <p:sp>
                <p:nvSpPr>
                  <p:cNvPr name="TextBox 31" id="31"/>
                  <p:cNvSpPr txBox="true"/>
                  <p:nvPr/>
                </p:nvSpPr>
                <p:spPr>
                  <a:xfrm>
                    <a:off x="101600" y="101600"/>
                    <a:ext cx="673100" cy="228600"/>
                  </a:xfrm>
                  <a:prstGeom prst="rect">
                    <a:avLst/>
                  </a:prstGeom>
                </p:spPr>
                <p:txBody>
                  <a:bodyPr anchor="t" rtlCol="false" lIns="0" rIns="0" tIns="0" bIns="0" wrap="square"/>
                  <a:lstStyle/>
                  <a:p>
                    <a:r>
                      <a:rPr lang="en-US" b="false" i="false" u="none" sz="1200">
                        <a:latin typeface="Microsoft YaHei"/>
                      </a:rPr>
                      <a:t>Content</a:t>
                    </a:r>
                  </a:p>
                </p:txBody>
              </p:sp>
            </p:grpSp>
          </p:grp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B5E20"/>
                </a:solidFill>
                <a:latin typeface="Microsoft YaHei"/>
              </a:rPr>
              <a:t>Margin Comparison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sp>
          <p:nvSpPr>
            <p:cNvPr name="AutoShape 4" id="4"/>
            <p:cNvSpPr/>
            <p:nvPr/>
          </p:nvSpPr>
          <p:spPr>
            <a:xfrm>
              <a:off x="0" y="0"/>
              <a:ext cx="2578100" cy="38227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5" id="5"/>
            <p:cNvGrpSpPr/>
            <p:nvPr/>
          </p:nvGrpSpPr>
          <p:grpSpPr>
            <a:xfrm>
              <a:off x="0" y="0"/>
              <a:ext cx="2578100" cy="3822700"/>
              <a:chOff x="0" y="0"/>
              <a:chExt cx="2578100" cy="3822700"/>
            </a:xfrm>
          </p:grpSpPr>
          <p:sp>
            <p:nvSpPr>
              <p:cNvPr name="TextBox 6" id="6"/>
              <p:cNvSpPr txBox="true"/>
              <p:nvPr/>
            </p:nvSpPr>
            <p:spPr>
              <a:xfrm>
                <a:off x="63500" y="63500"/>
                <a:ext cx="24638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margin: 0</a:t>
                </a:r>
              </a:p>
            </p:txBody>
          </p:sp>
          <p:sp>
            <p:nvSpPr>
              <p:cNvPr name="AutoShape 7" id="7"/>
              <p:cNvSpPr/>
              <p:nvPr/>
            </p:nvSpPr>
            <p:spPr>
              <a:xfrm>
                <a:off x="63500" y="393700"/>
                <a:ext cx="2451100" cy="482600"/>
              </a:xfrm>
              <a:prstGeom prst="rect">
                <a:avLst/>
              </a:prstGeom>
              <a:solidFill>
                <a:srgbClr val="FFCC80"/>
              </a:solidFill>
              <a:ln>
                <a:noFill/>
              </a:ln>
            </p:spPr>
          </p:sp>
          <p:grpSp>
            <p:nvGrpSpPr>
              <p:cNvPr name="Group 8" id="8"/>
              <p:cNvGrpSpPr/>
              <p:nvPr/>
            </p:nvGrpSpPr>
            <p:grpSpPr>
              <a:xfrm>
                <a:off x="63500" y="393700"/>
                <a:ext cx="2451100" cy="482600"/>
                <a:chOff x="0" y="0"/>
                <a:chExt cx="2451100" cy="482600"/>
              </a:xfrm>
            </p:grpSpPr>
            <p:sp>
              <p:nvSpPr>
                <p:cNvPr name="TextBox 9" id="9"/>
                <p:cNvSpPr txBox="true"/>
                <p:nvPr/>
              </p:nvSpPr>
              <p:spPr>
                <a:xfrm>
                  <a:off x="127000" y="127000"/>
                  <a:ext cx="2209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No margin</a:t>
                  </a:r>
                </a:p>
              </p:txBody>
            </p:sp>
          </p:grpSp>
          <p:sp>
            <p:nvSpPr>
              <p:cNvPr name="AutoShape 10" id="10"/>
              <p:cNvSpPr/>
              <p:nvPr/>
            </p:nvSpPr>
            <p:spPr>
              <a:xfrm>
                <a:off x="63500" y="977900"/>
                <a:ext cx="2451100" cy="482600"/>
              </a:xfrm>
              <a:prstGeom prst="rect">
                <a:avLst/>
              </a:prstGeom>
              <a:solidFill>
                <a:srgbClr val="FFCC80"/>
              </a:solidFill>
              <a:ln>
                <a:noFill/>
              </a:ln>
            </p:spPr>
          </p:sp>
          <p:grpSp>
            <p:nvGrpSpPr>
              <p:cNvPr name="Group 11" id="11"/>
              <p:cNvGrpSpPr/>
              <p:nvPr/>
            </p:nvGrpSpPr>
            <p:grpSpPr>
              <a:xfrm>
                <a:off x="63500" y="977900"/>
                <a:ext cx="2451100" cy="482600"/>
                <a:chOff x="0" y="0"/>
                <a:chExt cx="2451100" cy="482600"/>
              </a:xfrm>
            </p:grpSpPr>
            <p:sp>
              <p:nvSpPr>
                <p:cNvPr name="TextBox 12" id="12"/>
                <p:cNvSpPr txBox="true"/>
                <p:nvPr/>
              </p:nvSpPr>
              <p:spPr>
                <a:xfrm>
                  <a:off x="127000" y="127000"/>
                  <a:ext cx="2209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No margin</a:t>
                  </a:r>
                </a:p>
              </p:txBody>
            </p:sp>
          </p:grpSp>
        </p:grpSp>
        <p:sp>
          <p:nvSpPr>
            <p:cNvPr name="AutoShape 13" id="13"/>
            <p:cNvSpPr/>
            <p:nvPr/>
          </p:nvSpPr>
          <p:spPr>
            <a:xfrm>
              <a:off x="2768600" y="0"/>
              <a:ext cx="2590800" cy="38227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14" id="14"/>
            <p:cNvGrpSpPr/>
            <p:nvPr/>
          </p:nvGrpSpPr>
          <p:grpSpPr>
            <a:xfrm>
              <a:off x="2768600" y="0"/>
              <a:ext cx="2590800" cy="3822700"/>
              <a:chOff x="0" y="0"/>
              <a:chExt cx="2590800" cy="3822700"/>
            </a:xfrm>
          </p:grpSpPr>
          <p:sp>
            <p:nvSpPr>
              <p:cNvPr name="TextBox 15" id="15"/>
              <p:cNvSpPr txBox="true"/>
              <p:nvPr/>
            </p:nvSpPr>
            <p:spPr>
              <a:xfrm>
                <a:off x="63500" y="63500"/>
                <a:ext cx="24638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margin: 10px</a:t>
                </a:r>
              </a:p>
            </p:txBody>
          </p:sp>
          <p:sp>
            <p:nvSpPr>
              <p:cNvPr name="AutoShape 16" id="16"/>
              <p:cNvSpPr/>
              <p:nvPr/>
            </p:nvSpPr>
            <p:spPr>
              <a:xfrm>
                <a:off x="190500" y="520700"/>
                <a:ext cx="2209800" cy="482600"/>
              </a:xfrm>
              <a:prstGeom prst="rect">
                <a:avLst/>
              </a:prstGeom>
              <a:solidFill>
                <a:srgbClr val="FFCC80"/>
              </a:solidFill>
              <a:ln>
                <a:noFill/>
              </a:ln>
            </p:spPr>
          </p:sp>
          <p:grpSp>
            <p:nvGrpSpPr>
              <p:cNvPr name="Group 17" id="17"/>
              <p:cNvGrpSpPr/>
              <p:nvPr/>
            </p:nvGrpSpPr>
            <p:grpSpPr>
              <a:xfrm>
                <a:off x="190500" y="520700"/>
                <a:ext cx="2209800" cy="482600"/>
                <a:chOff x="0" y="0"/>
                <a:chExt cx="2209800" cy="482600"/>
              </a:xfrm>
            </p:grpSpPr>
            <p:sp>
              <p:nvSpPr>
                <p:cNvPr name="TextBox 18" id="18"/>
                <p:cNvSpPr txBox="true"/>
                <p:nvPr/>
              </p:nvSpPr>
              <p:spPr>
                <a:xfrm>
                  <a:off x="127000" y="127000"/>
                  <a:ext cx="1955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10px margin</a:t>
                  </a:r>
                </a:p>
              </p:txBody>
            </p:sp>
          </p:grpSp>
          <p:sp>
            <p:nvSpPr>
              <p:cNvPr name="AutoShape 19" id="19"/>
              <p:cNvSpPr/>
              <p:nvPr/>
            </p:nvSpPr>
            <p:spPr>
              <a:xfrm>
                <a:off x="190500" y="1358900"/>
                <a:ext cx="2209800" cy="482600"/>
              </a:xfrm>
              <a:prstGeom prst="rect">
                <a:avLst/>
              </a:prstGeom>
              <a:solidFill>
                <a:srgbClr val="FFCC80"/>
              </a:solidFill>
              <a:ln>
                <a:noFill/>
              </a:ln>
            </p:spPr>
          </p:sp>
          <p:grpSp>
            <p:nvGrpSpPr>
              <p:cNvPr name="Group 20" id="20"/>
              <p:cNvGrpSpPr/>
              <p:nvPr/>
            </p:nvGrpSpPr>
            <p:grpSpPr>
              <a:xfrm>
                <a:off x="190500" y="1358900"/>
                <a:ext cx="2209800" cy="482600"/>
                <a:chOff x="0" y="0"/>
                <a:chExt cx="2209800" cy="482600"/>
              </a:xfrm>
            </p:grpSpPr>
            <p:sp>
              <p:nvSpPr>
                <p:cNvPr name="TextBox 21" id="21"/>
                <p:cNvSpPr txBox="true"/>
                <p:nvPr/>
              </p:nvSpPr>
              <p:spPr>
                <a:xfrm>
                  <a:off x="127000" y="127000"/>
                  <a:ext cx="1955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10px margin</a:t>
                  </a:r>
                </a:p>
              </p:txBody>
            </p:sp>
          </p:grpSp>
        </p:grpSp>
        <p:sp>
          <p:nvSpPr>
            <p:cNvPr name="AutoShape 22" id="22"/>
            <p:cNvSpPr/>
            <p:nvPr/>
          </p:nvSpPr>
          <p:spPr>
            <a:xfrm>
              <a:off x="5549900" y="0"/>
              <a:ext cx="2578100" cy="3822700"/>
            </a:xfrm>
            <a:prstGeom prst="rect">
              <a:avLst/>
            </a:prstGeom>
            <a:solidFill>
              <a:srgbClr val="FFF3E0"/>
            </a:solidFill>
            <a:ln>
              <a:noFill/>
            </a:ln>
          </p:spPr>
        </p:sp>
        <p:grpSp>
          <p:nvGrpSpPr>
            <p:cNvPr name="Group 23" id="23"/>
            <p:cNvGrpSpPr/>
            <p:nvPr/>
          </p:nvGrpSpPr>
          <p:grpSpPr>
            <a:xfrm>
              <a:off x="5549900" y="0"/>
              <a:ext cx="2578100" cy="3822700"/>
              <a:chOff x="0" y="0"/>
              <a:chExt cx="2578100" cy="3822700"/>
            </a:xfrm>
          </p:grpSpPr>
          <p:sp>
            <p:nvSpPr>
              <p:cNvPr name="TextBox 24" id="24"/>
              <p:cNvSpPr txBox="true"/>
              <p:nvPr/>
            </p:nvSpPr>
            <p:spPr>
              <a:xfrm>
                <a:off x="63500" y="63500"/>
                <a:ext cx="24638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margin-bottom: 20px</a:t>
                </a:r>
              </a:p>
            </p:txBody>
          </p:sp>
          <p:sp>
            <p:nvSpPr>
              <p:cNvPr name="AutoShape 25" id="25"/>
              <p:cNvSpPr/>
              <p:nvPr/>
            </p:nvSpPr>
            <p:spPr>
              <a:xfrm>
                <a:off x="63500" y="393700"/>
                <a:ext cx="2451100" cy="482600"/>
              </a:xfrm>
              <a:prstGeom prst="rect">
                <a:avLst/>
              </a:prstGeom>
              <a:solidFill>
                <a:srgbClr val="FFCC80"/>
              </a:solidFill>
              <a:ln>
                <a:noFill/>
              </a:ln>
            </p:spPr>
          </p:sp>
          <p:grpSp>
            <p:nvGrpSpPr>
              <p:cNvPr name="Group 26" id="26"/>
              <p:cNvGrpSpPr/>
              <p:nvPr/>
            </p:nvGrpSpPr>
            <p:grpSpPr>
              <a:xfrm>
                <a:off x="63500" y="393700"/>
                <a:ext cx="2451100" cy="482600"/>
                <a:chOff x="0" y="0"/>
                <a:chExt cx="2451100" cy="482600"/>
              </a:xfrm>
            </p:grpSpPr>
            <p:sp>
              <p:nvSpPr>
                <p:cNvPr name="TextBox 27" id="27"/>
                <p:cNvSpPr txBox="true"/>
                <p:nvPr/>
              </p:nvSpPr>
              <p:spPr>
                <a:xfrm>
                  <a:off x="127000" y="127000"/>
                  <a:ext cx="2209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Bottom 20px</a:t>
                  </a:r>
                </a:p>
              </p:txBody>
            </p:sp>
          </p:grpSp>
          <p:sp>
            <p:nvSpPr>
              <p:cNvPr name="AutoShape 28" id="28"/>
              <p:cNvSpPr/>
              <p:nvPr/>
            </p:nvSpPr>
            <p:spPr>
              <a:xfrm>
                <a:off x="63500" y="1231900"/>
                <a:ext cx="2451100" cy="482600"/>
              </a:xfrm>
              <a:prstGeom prst="rect">
                <a:avLst/>
              </a:prstGeom>
              <a:solidFill>
                <a:srgbClr val="FFCC80"/>
              </a:solidFill>
              <a:ln>
                <a:noFill/>
              </a:ln>
            </p:spPr>
          </p:sp>
          <p:grpSp>
            <p:nvGrpSpPr>
              <p:cNvPr name="Group 29" id="29"/>
              <p:cNvGrpSpPr/>
              <p:nvPr/>
            </p:nvGrpSpPr>
            <p:grpSpPr>
              <a:xfrm>
                <a:off x="63500" y="1231900"/>
                <a:ext cx="2451100" cy="482600"/>
                <a:chOff x="0" y="0"/>
                <a:chExt cx="2451100" cy="482600"/>
              </a:xfrm>
            </p:grpSpPr>
            <p:sp>
              <p:nvSpPr>
                <p:cNvPr name="TextBox 30" id="30"/>
                <p:cNvSpPr txBox="true"/>
                <p:nvPr/>
              </p:nvSpPr>
              <p:spPr>
                <a:xfrm>
                  <a:off x="127000" y="127000"/>
                  <a:ext cx="2209800" cy="2413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300">
                      <a:latin typeface="Microsoft YaHei"/>
                    </a:rPr>
                    <a:t>Bottom 20px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B5E20"/>
                </a:solidFill>
                <a:latin typeface="Microsoft YaHei"/>
              </a:rPr>
              <a:t>Borders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1841500"/>
            <a:chOff x="0" y="0"/>
            <a:chExt cx="8128000" cy="18415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892300" cy="1841500"/>
              <a:chOff x="0" y="0"/>
              <a:chExt cx="1892300" cy="1841500"/>
            </a:xfrm>
          </p:grpSpPr>
          <p:sp>
            <p:nvSpPr>
              <p:cNvPr name="AutoShape 5" id="5"/>
              <p:cNvSpPr/>
              <p:nvPr/>
            </p:nvSpPr>
            <p:spPr>
              <a:xfrm>
                <a:off x="0" y="0"/>
                <a:ext cx="1892300" cy="1841500"/>
              </a:xfrm>
              <a:prstGeom prst="rect">
                <a:avLst/>
              </a:prstGeom>
              <a:noFill/>
              <a:ln w="12700">
                <a:solidFill>
                  <a:srgbClr val="333333"/>
                </a:solidFill>
              </a:ln>
            </p:spPr>
          </p:sp>
          <p:grpSp>
            <p:nvGrpSpPr>
              <p:cNvPr name="Group 6" id="6"/>
              <p:cNvGrpSpPr/>
              <p:nvPr/>
            </p:nvGrpSpPr>
            <p:grpSpPr>
              <a:xfrm>
                <a:off x="0" y="0"/>
                <a:ext cx="1892300" cy="1841500"/>
                <a:chOff x="0" y="0"/>
                <a:chExt cx="1892300" cy="1841500"/>
              </a:xfrm>
            </p:grpSpPr>
            <p:sp>
              <p:nvSpPr>
                <p:cNvPr name="TextBox 7" id="7"/>
                <p:cNvSpPr txBox="true"/>
                <p:nvPr/>
              </p:nvSpPr>
              <p:spPr>
                <a:xfrm>
                  <a:off x="190500" y="190500"/>
                  <a:ext cx="15113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latin typeface="Microsoft YaHei"/>
                    </a:rPr>
                    <a:t>1px solid border</a:t>
                  </a:r>
                </a:p>
              </p:txBody>
            </p:sp>
          </p:grpSp>
        </p:grpSp>
        <p:grpSp>
          <p:nvGrpSpPr>
            <p:cNvPr name="Group 8" id="8"/>
            <p:cNvGrpSpPr/>
            <p:nvPr/>
          </p:nvGrpSpPr>
          <p:grpSpPr>
            <a:xfrm>
              <a:off x="2082800" y="0"/>
              <a:ext cx="1892300" cy="1841500"/>
              <a:chOff x="0" y="0"/>
              <a:chExt cx="1892300" cy="1841500"/>
            </a:xfrm>
          </p:grpSpPr>
          <p:sp>
            <p:nvSpPr>
              <p:cNvPr name="AutoShape 9" id="9"/>
              <p:cNvSpPr/>
              <p:nvPr/>
            </p:nvSpPr>
            <p:spPr>
              <a:xfrm>
                <a:off x="0" y="0"/>
                <a:ext cx="1892300" cy="1841500"/>
              </a:xfrm>
              <a:prstGeom prst="rect">
                <a:avLst/>
              </a:prstGeom>
              <a:noFill/>
              <a:ln w="25400">
                <a:solidFill>
                  <a:srgbClr val="1565C0"/>
                </a:solidFill>
              </a:ln>
            </p:spPr>
          </p:sp>
          <p:grpSp>
            <p:nvGrpSpPr>
              <p:cNvPr name="Group 10" id="10"/>
              <p:cNvGrpSpPr/>
              <p:nvPr/>
            </p:nvGrpSpPr>
            <p:grpSpPr>
              <a:xfrm>
                <a:off x="0" y="0"/>
                <a:ext cx="1892300" cy="1841500"/>
                <a:chOff x="0" y="0"/>
                <a:chExt cx="1892300" cy="1841500"/>
              </a:xfrm>
            </p:grpSpPr>
            <p:sp>
              <p:nvSpPr>
                <p:cNvPr name="TextBox 11" id="11"/>
                <p:cNvSpPr txBox="true"/>
                <p:nvPr/>
              </p:nvSpPr>
              <p:spPr>
                <a:xfrm>
                  <a:off x="190500" y="190500"/>
                  <a:ext cx="15240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latin typeface="Microsoft YaHei"/>
                    </a:rPr>
                    <a:t>2px blue border</a:t>
                  </a:r>
                </a:p>
              </p:txBody>
            </p:sp>
          </p:grpSp>
        </p:grpSp>
        <p:grpSp>
          <p:nvGrpSpPr>
            <p:cNvPr name="Group 12" id="12"/>
            <p:cNvGrpSpPr/>
            <p:nvPr/>
          </p:nvGrpSpPr>
          <p:grpSpPr>
            <a:xfrm>
              <a:off x="4165600" y="0"/>
              <a:ext cx="1879600" cy="1841500"/>
              <a:chOff x="0" y="0"/>
              <a:chExt cx="1879600" cy="1841500"/>
            </a:xfrm>
          </p:grpSpPr>
          <p:sp>
            <p:nvSpPr>
              <p:cNvPr name="AutoShape 13" id="13"/>
              <p:cNvSpPr/>
              <p:nvPr/>
            </p:nvSpPr>
            <p:spPr>
              <a:xfrm>
                <a:off x="0" y="0"/>
                <a:ext cx="1879600" cy="1841500"/>
              </a:xfrm>
              <a:prstGeom prst="rect">
                <a:avLst/>
              </a:prstGeom>
              <a:noFill/>
              <a:ln w="38100">
                <a:solidFill>
                  <a:srgbClr val="C62828"/>
                </a:solidFill>
              </a:ln>
            </p:spPr>
          </p:sp>
          <p:grpSp>
            <p:nvGrpSpPr>
              <p:cNvPr name="Group 14" id="14"/>
              <p:cNvGrpSpPr/>
              <p:nvPr/>
            </p:nvGrpSpPr>
            <p:grpSpPr>
              <a:xfrm>
                <a:off x="0" y="0"/>
                <a:ext cx="1879600" cy="1841500"/>
                <a:chOff x="0" y="0"/>
                <a:chExt cx="1879600" cy="1841500"/>
              </a:xfrm>
            </p:grpSpPr>
            <p:sp>
              <p:nvSpPr>
                <p:cNvPr name="TextBox 15" id="15"/>
                <p:cNvSpPr txBox="true"/>
                <p:nvPr/>
              </p:nvSpPr>
              <p:spPr>
                <a:xfrm>
                  <a:off x="190500" y="190500"/>
                  <a:ext cx="15240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latin typeface="Microsoft YaHei"/>
                    </a:rPr>
                    <a:t>3px red border</a:t>
                  </a:r>
                </a:p>
              </p:txBody>
            </p:sp>
          </p:grpSp>
        </p:grpSp>
        <p:grpSp>
          <p:nvGrpSpPr>
            <p:cNvPr name="Group 16" id="16"/>
            <p:cNvGrpSpPr/>
            <p:nvPr/>
          </p:nvGrpSpPr>
          <p:grpSpPr>
            <a:xfrm>
              <a:off x="6235700" y="0"/>
              <a:ext cx="1892300" cy="1841500"/>
              <a:chOff x="0" y="0"/>
              <a:chExt cx="1892300" cy="1841500"/>
            </a:xfrm>
          </p:grpSpPr>
          <p:sp>
            <p:nvSpPr>
              <p:cNvPr name="AutoShape 17" id="17"/>
              <p:cNvSpPr/>
              <p:nvPr/>
            </p:nvSpPr>
            <p:spPr>
              <a:xfrm>
                <a:off x="0" y="0"/>
                <a:ext cx="1892300" cy="1841500"/>
              </a:xfrm>
              <a:prstGeom prst="rect">
                <a:avLst/>
              </a:prstGeom>
              <a:noFill/>
              <a:ln w="50800">
                <a:solidFill>
                  <a:srgbClr val="2E7D32"/>
                </a:solidFill>
              </a:ln>
            </p:spPr>
          </p:sp>
          <p:grpSp>
            <p:nvGrpSpPr>
              <p:cNvPr name="Group 18" id="18"/>
              <p:cNvGrpSpPr/>
              <p:nvPr/>
            </p:nvGrpSpPr>
            <p:grpSpPr>
              <a:xfrm>
                <a:off x="0" y="0"/>
                <a:ext cx="1892300" cy="1841500"/>
                <a:chOff x="0" y="0"/>
                <a:chExt cx="1892300" cy="1841500"/>
              </a:xfrm>
            </p:grpSpPr>
            <p:sp>
              <p:nvSpPr>
                <p:cNvPr name="TextBox 19" id="19"/>
                <p:cNvSpPr txBox="true"/>
                <p:nvPr/>
              </p:nvSpPr>
              <p:spPr>
                <a:xfrm>
                  <a:off x="190500" y="190500"/>
                  <a:ext cx="1511300" cy="508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latin typeface="Microsoft YaHei"/>
                    </a:rPr>
                    <a:t>4px green border</a:t>
                  </a:r>
                </a:p>
              </p:txBody>
            </p:sp>
          </p:grpSp>
        </p:grpSp>
      </p:grpSp>
      <p:grpSp>
        <p:nvGrpSpPr>
          <p:cNvPr name="Group 20" id="20"/>
          <p:cNvGrpSpPr/>
          <p:nvPr/>
        </p:nvGrpSpPr>
        <p:grpSpPr>
          <a:xfrm>
            <a:off x="508000" y="2908300"/>
            <a:ext cx="8128000" cy="1854200"/>
            <a:chOff x="0" y="0"/>
            <a:chExt cx="8128000" cy="1854200"/>
          </a:xfrm>
        </p:grpSpPr>
        <p:grpSp>
          <p:nvGrpSpPr>
            <p:cNvPr name="Group 21" id="21"/>
            <p:cNvGrpSpPr/>
            <p:nvPr/>
          </p:nvGrpSpPr>
          <p:grpSpPr>
            <a:xfrm>
              <a:off x="0" y="0"/>
              <a:ext cx="3975100" cy="1854200"/>
              <a:chOff x="0" y="0"/>
              <a:chExt cx="3975100" cy="1854200"/>
            </a:xfrm>
          </p:grpSpPr>
          <p:sp>
            <p:nvSpPr>
              <p:cNvPr name="AutoShape 22" id="22"/>
              <p:cNvSpPr/>
              <p:nvPr/>
            </p:nvSpPr>
            <p:spPr>
              <a:xfrm>
                <a:off x="0" y="0"/>
                <a:ext cx="3975100" cy="1854200"/>
              </a:xfrm>
              <a:prstGeom prst="rect">
                <a:avLst/>
              </a:prstGeom>
              <a:solidFill>
                <a:srgbClr val="F3E5F5"/>
              </a:solidFill>
              <a:ln w="25400">
                <a:solidFill>
                  <a:srgbClr val="7B1FA2"/>
                </a:solidFill>
              </a:ln>
            </p:spPr>
          </p:sp>
          <p:grpSp>
            <p:nvGrpSpPr>
              <p:cNvPr name="Group 23" id="23"/>
              <p:cNvGrpSpPr/>
              <p:nvPr/>
            </p:nvGrpSpPr>
            <p:grpSpPr>
              <a:xfrm>
                <a:off x="0" y="0"/>
                <a:ext cx="3975100" cy="1854200"/>
                <a:chOff x="0" y="0"/>
                <a:chExt cx="3975100" cy="1854200"/>
              </a:xfrm>
            </p:grpSpPr>
            <p:sp>
              <p:nvSpPr>
                <p:cNvPr name="TextBox 24" id="24"/>
                <p:cNvSpPr txBox="true"/>
                <p:nvPr/>
              </p:nvSpPr>
              <p:spPr>
                <a:xfrm>
                  <a:off x="190500" y="190500"/>
                  <a:ext cx="3594100" cy="254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latin typeface="Microsoft YaHei"/>
                    </a:rPr>
                    <a:t>Border + background</a:t>
                  </a:r>
                </a:p>
              </p:txBody>
            </p:sp>
          </p:grpSp>
        </p:grpSp>
        <p:grpSp>
          <p:nvGrpSpPr>
            <p:cNvPr name="Group 25" id="25"/>
            <p:cNvGrpSpPr/>
            <p:nvPr/>
          </p:nvGrpSpPr>
          <p:grpSpPr>
            <a:xfrm>
              <a:off x="4165600" y="0"/>
              <a:ext cx="3962400" cy="1854200"/>
              <a:chOff x="0" y="0"/>
              <a:chExt cx="3962400" cy="1854200"/>
            </a:xfrm>
          </p:grpSpPr>
          <p:sp>
            <p:nvSpPr>
              <p:cNvPr name="AutoShape 26" id="26"/>
              <p:cNvSpPr/>
              <p:nvPr/>
            </p:nvSpPr>
            <p:spPr>
              <a:xfrm>
                <a:off x="0" y="0"/>
                <a:ext cx="3962400" cy="1854200"/>
              </a:xfrm>
              <a:prstGeom prst="rect">
                <a:avLst/>
              </a:prstGeom>
              <a:solidFill>
                <a:srgbClr val="E0F2F1"/>
              </a:solidFill>
              <a:ln w="25400">
                <a:solidFill>
                  <a:srgbClr val="00695C"/>
                </a:solidFill>
              </a:ln>
            </p:spPr>
          </p:sp>
          <p:grpSp>
            <p:nvGrpSpPr>
              <p:cNvPr name="Group 27" id="27"/>
              <p:cNvGrpSpPr/>
              <p:nvPr/>
            </p:nvGrpSpPr>
            <p:grpSpPr>
              <a:xfrm>
                <a:off x="0" y="0"/>
                <a:ext cx="3962400" cy="1854200"/>
                <a:chOff x="0" y="0"/>
                <a:chExt cx="3962400" cy="1854200"/>
              </a:xfrm>
            </p:grpSpPr>
            <p:sp>
              <p:nvSpPr>
                <p:cNvPr name="TextBox 28" id="28"/>
                <p:cNvSpPr txBox="true"/>
                <p:nvPr/>
              </p:nvSpPr>
              <p:spPr>
                <a:xfrm>
                  <a:off x="190500" y="190500"/>
                  <a:ext cx="3594100" cy="254000"/>
                </a:xfrm>
                <a:prstGeom prst="rect">
                  <a:avLst/>
                </a:prstGeom>
              </p:spPr>
              <p:txBody>
                <a:bodyPr anchor="t" rtlCol="false" lIns="0" rIns="0" tIns="0" bIns="0" wrap="square"/>
                <a:lstStyle/>
                <a:p>
                  <a:r>
                    <a:rPr lang="en-US" b="false" i="false" u="none" sz="1400">
                      <a:latin typeface="Microsoft YaHei"/>
                    </a:rPr>
                    <a:t>Border + background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8128000" cy="431800"/>
          </a:xfrm>
          <a:prstGeom prst="rect">
            <a:avLst/>
          </a:prstGeom>
        </p:spPr>
        <p:txBody>
          <a:bodyPr anchor="t" rtlCol="false" lIns="0" rIns="0" tIns="0" bIns="0" wrap="square"/>
          <a:lstStyle/>
          <a:p>
            <a:r>
              <a:rPr lang="en-US" b="true" i="false" u="none" sz="2400">
                <a:solidFill>
                  <a:srgbClr val="1B5E20"/>
                </a:solidFill>
                <a:latin typeface="Microsoft YaHei"/>
              </a:rPr>
              <a:t>Border Radius</a:t>
            </a:r>
          </a:p>
        </p:txBody>
      </p:sp>
      <p:grpSp>
        <p:nvGrpSpPr>
          <p:cNvPr name="Group 3" id="3"/>
          <p:cNvGrpSpPr/>
          <p:nvPr/>
        </p:nvGrpSpPr>
        <p:grpSpPr>
          <a:xfrm>
            <a:off x="508000" y="939800"/>
            <a:ext cx="8128000" cy="3822700"/>
            <a:chOff x="0" y="0"/>
            <a:chExt cx="8128000" cy="3822700"/>
          </a:xfrm>
        </p:grpSpPr>
        <p:grpSp>
          <p:nvGrpSpPr>
            <p:cNvPr name="Group 4" id="4"/>
            <p:cNvGrpSpPr/>
            <p:nvPr/>
          </p:nvGrpSpPr>
          <p:grpSpPr>
            <a:xfrm>
              <a:off x="0" y="0"/>
              <a:ext cx="1892300" cy="3822700"/>
              <a:chOff x="0" y="0"/>
              <a:chExt cx="1892300" cy="3822700"/>
            </a:xfrm>
          </p:grpSpPr>
          <p:sp>
            <p:nvSpPr>
              <p:cNvPr name="TextBox 5" id="5"/>
              <p:cNvSpPr txBox="true"/>
              <p:nvPr/>
            </p:nvSpPr>
            <p:spPr>
              <a:xfrm>
                <a:off x="482600" y="0"/>
                <a:ext cx="9271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radius: 0</a:t>
                </a:r>
              </a:p>
            </p:txBody>
          </p:sp>
          <p:sp>
            <p:nvSpPr>
              <p:cNvPr name="AutoShape 6" id="6"/>
              <p:cNvSpPr/>
              <p:nvPr/>
            </p:nvSpPr>
            <p:spPr>
              <a:xfrm>
                <a:off x="304800" y="330200"/>
                <a:ext cx="1270000" cy="1270000"/>
              </a:xfrm>
              <a:prstGeom prst="rect">
                <a:avLst/>
              </a:prstGeom>
              <a:solidFill>
                <a:srgbClr val="42A5F5"/>
              </a:solidFill>
              <a:ln>
                <a:noFill/>
              </a:ln>
            </p:spPr>
          </p:sp>
        </p:grpSp>
        <p:grpSp>
          <p:nvGrpSpPr>
            <p:cNvPr name="Group 7" id="7"/>
            <p:cNvGrpSpPr/>
            <p:nvPr/>
          </p:nvGrpSpPr>
          <p:grpSpPr>
            <a:xfrm>
              <a:off x="2082800" y="0"/>
              <a:ext cx="1892300" cy="3822700"/>
              <a:chOff x="0" y="0"/>
              <a:chExt cx="1892300" cy="3822700"/>
            </a:xfrm>
          </p:grpSpPr>
          <p:sp>
            <p:nvSpPr>
              <p:cNvPr name="TextBox 8" id="8"/>
              <p:cNvSpPr txBox="true"/>
              <p:nvPr/>
            </p:nvSpPr>
            <p:spPr>
              <a:xfrm>
                <a:off x="381000" y="0"/>
                <a:ext cx="11176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radius: 8px</a:t>
                </a:r>
              </a:p>
            </p:txBody>
          </p:sp>
          <p:sp>
            <p:nvSpPr>
              <p:cNvPr name="AutoShape 9" id="9"/>
              <p:cNvSpPr/>
              <p:nvPr/>
            </p:nvSpPr>
            <p:spPr>
              <a:xfrm>
                <a:off x="304800" y="330200"/>
                <a:ext cx="1270000" cy="1270000"/>
              </a:xfrm>
              <a:prstGeom prst="roundRect">
                <a:avLst/>
              </a:prstGeom>
              <a:solidFill>
                <a:srgbClr val="66BB6A"/>
              </a:solidFill>
              <a:ln>
                <a:noFill/>
              </a:ln>
            </p:spPr>
          </p:sp>
        </p:grpSp>
        <p:grpSp>
          <p:nvGrpSpPr>
            <p:cNvPr name="Group 10" id="10"/>
            <p:cNvGrpSpPr/>
            <p:nvPr/>
          </p:nvGrpSpPr>
          <p:grpSpPr>
            <a:xfrm>
              <a:off x="4165600" y="0"/>
              <a:ext cx="1879600" cy="3822700"/>
              <a:chOff x="0" y="0"/>
              <a:chExt cx="1879600" cy="3822700"/>
            </a:xfrm>
          </p:grpSpPr>
          <p:sp>
            <p:nvSpPr>
              <p:cNvPr name="TextBox 11" id="11"/>
              <p:cNvSpPr txBox="true"/>
              <p:nvPr/>
            </p:nvSpPr>
            <p:spPr>
              <a:xfrm>
                <a:off x="330200" y="0"/>
                <a:ext cx="12192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radius: 20px</a:t>
                </a:r>
              </a:p>
            </p:txBody>
          </p:sp>
          <p:sp>
            <p:nvSpPr>
              <p:cNvPr name="AutoShape 12" id="12"/>
              <p:cNvSpPr/>
              <p:nvPr/>
            </p:nvSpPr>
            <p:spPr>
              <a:xfrm>
                <a:off x="304800" y="330200"/>
                <a:ext cx="1270000" cy="1270000"/>
              </a:xfrm>
              <a:prstGeom prst="roundRect">
                <a:avLst/>
              </a:prstGeom>
              <a:solidFill>
                <a:srgbClr val="FFA726"/>
              </a:solidFill>
              <a:ln>
                <a:noFill/>
              </a:ln>
            </p:spPr>
          </p:sp>
        </p:grpSp>
        <p:grpSp>
          <p:nvGrpSpPr>
            <p:cNvPr name="Group 13" id="13"/>
            <p:cNvGrpSpPr/>
            <p:nvPr/>
          </p:nvGrpSpPr>
          <p:grpSpPr>
            <a:xfrm>
              <a:off x="6235700" y="0"/>
              <a:ext cx="1892300" cy="3822700"/>
              <a:chOff x="0" y="0"/>
              <a:chExt cx="1892300" cy="3822700"/>
            </a:xfrm>
          </p:grpSpPr>
          <p:sp>
            <p:nvSpPr>
              <p:cNvPr name="TextBox 14" id="14"/>
              <p:cNvSpPr txBox="true"/>
              <p:nvPr/>
            </p:nvSpPr>
            <p:spPr>
              <a:xfrm>
                <a:off x="330200" y="0"/>
                <a:ext cx="1219200" cy="241300"/>
              </a:xfrm>
              <a:prstGeom prst="rect">
                <a:avLst/>
              </a:prstGeom>
            </p:spPr>
            <p:txBody>
              <a:bodyPr anchor="t" rtlCol="false" lIns="0" rIns="0" tIns="0" bIns="0" wrap="square"/>
              <a:lstStyle/>
              <a:p>
                <a:r>
                  <a:rPr lang="en-US" b="false" i="false" u="none" sz="1300">
                    <a:solidFill>
                      <a:srgbClr val="666666"/>
                    </a:solidFill>
                    <a:latin typeface="Microsoft YaHei"/>
                  </a:rPr>
                  <a:t>radius: 50px</a:t>
                </a:r>
              </a:p>
            </p:txBody>
          </p:sp>
          <p:sp>
            <p:nvSpPr>
              <p:cNvPr name="AutoShape 15" id="15"/>
              <p:cNvSpPr/>
              <p:nvPr/>
            </p:nvSpPr>
            <p:spPr>
              <a:xfrm>
                <a:off x="304800" y="330200"/>
                <a:ext cx="1270000" cy="1270000"/>
              </a:xfrm>
              <a:prstGeom prst="roundRect">
                <a:avLst/>
              </a:prstGeom>
              <a:solidFill>
                <a:srgbClr val="EF5350"/>
              </a:solidFill>
              <a:ln>
                <a:noFill/>
              </a:ln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