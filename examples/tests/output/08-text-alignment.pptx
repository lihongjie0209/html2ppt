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197100" y="1968500"/>
            <a:ext cx="47498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Text Alignment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57300" y="2832100"/>
            <a:ext cx="66294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CE93D8"/>
                </a:solidFill>
                <a:latin typeface="Microsoft YaHei"/>
              </a:rPr>
              <a:t>Testing text-align and vertical-align properties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4A148C"/>
                </a:solidFill>
                <a:latin typeface="Microsoft YaHei"/>
              </a:rPr>
              <a:t>text-align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2578100" cy="3797300"/>
              <a:chOff x="0" y="0"/>
              <a:chExt cx="2578100" cy="37973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2590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text-align: left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381000"/>
                <a:ext cx="2578100" cy="3429000"/>
              </a:xfrm>
              <a:prstGeom prst="rect">
                <a:avLst/>
              </a:prstGeom>
              <a:solidFill>
                <a:srgbClr val="F3E5F5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381000"/>
                <a:ext cx="2578100" cy="3429000"/>
                <a:chOff x="0" y="0"/>
                <a:chExt cx="2578100" cy="34290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190500" y="190500"/>
                  <a:ext cx="2209800" cy="863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pPr algn="l"/>
                  <a:r>
                    <a:rPr lang="en-US" b="false" i="false" u="none" sz="1600">
                      <a:latin typeface="Microsoft YaHei"/>
                    </a:rPr>
                    <a:t>Left aligned text content here for testing purposes</a:t>
                  </a:r>
                </a:p>
              </p:txBody>
            </p:sp>
          </p:grpSp>
        </p:grpSp>
        <p:grpSp>
          <p:nvGrpSpPr>
            <p:cNvPr name="Group 9" id="9"/>
            <p:cNvGrpSpPr/>
            <p:nvPr/>
          </p:nvGrpSpPr>
          <p:grpSpPr>
            <a:xfrm>
              <a:off x="2768600" y="0"/>
              <a:ext cx="2590800" cy="3797300"/>
              <a:chOff x="0" y="0"/>
              <a:chExt cx="2590800" cy="37973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2590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text-align: center</a:t>
                </a:r>
              </a:p>
            </p:txBody>
          </p:sp>
          <p:sp>
            <p:nvSpPr>
              <p:cNvPr name="AutoShape 11" id="11"/>
              <p:cNvSpPr/>
              <p:nvPr/>
            </p:nvSpPr>
            <p:spPr>
              <a:xfrm>
                <a:off x="0" y="381000"/>
                <a:ext cx="2590800" cy="3429000"/>
              </a:xfrm>
              <a:prstGeom prst="rect">
                <a:avLst/>
              </a:prstGeom>
              <a:solidFill>
                <a:srgbClr val="F3E5F5"/>
              </a:solidFill>
              <a:ln>
                <a:noFill/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381000"/>
                <a:ext cx="2590800" cy="3429000"/>
                <a:chOff x="0" y="0"/>
                <a:chExt cx="2590800" cy="34290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190500" y="190500"/>
                  <a:ext cx="2209800" cy="863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pPr algn="ctr"/>
                  <a:r>
                    <a:rPr lang="en-US" b="false" i="false" u="none" sz="1600">
                      <a:latin typeface="Microsoft YaHei"/>
                    </a:rPr>
                    <a:t>Center aligned text content here for testing purposes</a:t>
                  </a:r>
                </a:p>
              </p:txBody>
            </p:sp>
          </p:grpSp>
        </p:grpSp>
        <p:grpSp>
          <p:nvGrpSpPr>
            <p:cNvPr name="Group 14" id="14"/>
            <p:cNvGrpSpPr/>
            <p:nvPr/>
          </p:nvGrpSpPr>
          <p:grpSpPr>
            <a:xfrm>
              <a:off x="5549900" y="0"/>
              <a:ext cx="2578100" cy="3797300"/>
              <a:chOff x="0" y="0"/>
              <a:chExt cx="2578100" cy="37973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2590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text-align: right</a:t>
                </a:r>
              </a:p>
            </p:txBody>
          </p:sp>
          <p:sp>
            <p:nvSpPr>
              <p:cNvPr name="AutoShape 16" id="16"/>
              <p:cNvSpPr/>
              <p:nvPr/>
            </p:nvSpPr>
            <p:spPr>
              <a:xfrm>
                <a:off x="0" y="381000"/>
                <a:ext cx="2578100" cy="3429000"/>
              </a:xfrm>
              <a:prstGeom prst="rect">
                <a:avLst/>
              </a:prstGeom>
              <a:solidFill>
                <a:srgbClr val="F3E5F5"/>
              </a:solidFill>
              <a:ln>
                <a:noFill/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0" y="381000"/>
                <a:ext cx="2578100" cy="3429000"/>
                <a:chOff x="0" y="0"/>
                <a:chExt cx="2578100" cy="3429000"/>
              </a:xfrm>
            </p:grpSpPr>
            <p:sp>
              <p:nvSpPr>
                <p:cNvPr name="TextBox 18" id="18"/>
                <p:cNvSpPr txBox="true"/>
                <p:nvPr/>
              </p:nvSpPr>
              <p:spPr>
                <a:xfrm>
                  <a:off x="190500" y="190500"/>
                  <a:ext cx="2209800" cy="863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pPr algn="r"/>
                  <a:r>
                    <a:rPr lang="en-US" b="false" i="false" u="none" sz="1600">
                      <a:latin typeface="Microsoft YaHei"/>
                    </a:rPr>
                    <a:t>Right aligned text content here for testing purposes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4A148C"/>
                </a:solidFill>
                <a:latin typeface="Microsoft YaHei"/>
              </a:rPr>
              <a:t>vertical-align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578100" cy="3797300"/>
            </a:xfrm>
            <a:prstGeom prst="rect">
              <a:avLst/>
            </a:prstGeom>
            <a:solidFill>
              <a:srgbClr val="E8EAF6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578100" cy="3797300"/>
              <a:chOff x="0" y="0"/>
              <a:chExt cx="2578100" cy="37973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90500"/>
                <a:ext cx="2209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600">
                    <a:latin typeface="Microsoft YaHei"/>
                  </a:rPr>
                  <a:t>Top aligned</a:t>
                </a: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2768600" y="0"/>
              <a:ext cx="2590800" cy="3797300"/>
            </a:xfrm>
            <a:prstGeom prst="rect">
              <a:avLst/>
            </a:prstGeom>
            <a:solidFill>
              <a:srgbClr val="E8EAF6"/>
            </a:solidFill>
            <a:ln>
              <a:noFill/>
            </a:ln>
          </p:spPr>
        </p:sp>
        <p:grpSp>
          <p:nvGrpSpPr>
            <p:cNvPr name="Group 8" id="8"/>
            <p:cNvGrpSpPr/>
            <p:nvPr/>
          </p:nvGrpSpPr>
          <p:grpSpPr>
            <a:xfrm>
              <a:off x="2768600" y="0"/>
              <a:ext cx="2590800" cy="3797300"/>
              <a:chOff x="0" y="0"/>
              <a:chExt cx="2590800" cy="3797300"/>
            </a:xfrm>
          </p:grpSpPr>
          <p:sp>
            <p:nvSpPr>
              <p:cNvPr name="TextBox 9" id="9"/>
              <p:cNvSpPr txBox="true"/>
              <p:nvPr/>
            </p:nvSpPr>
            <p:spPr>
              <a:xfrm>
                <a:off x="190500" y="190500"/>
                <a:ext cx="2209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600">
                    <a:latin typeface="Microsoft YaHei"/>
                  </a:rPr>
                  <a:t>Middle aligned</a:t>
                </a: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5549900" y="0"/>
              <a:ext cx="2578100" cy="3797300"/>
            </a:xfrm>
            <a:prstGeom prst="rect">
              <a:avLst/>
            </a:prstGeom>
            <a:solidFill>
              <a:srgbClr val="E8EAF6"/>
            </a:solidFill>
            <a:ln>
              <a:noFill/>
            </a:ln>
          </p:spPr>
        </p:sp>
        <p:grpSp>
          <p:nvGrpSpPr>
            <p:cNvPr name="Group 11" id="11"/>
            <p:cNvGrpSpPr/>
            <p:nvPr/>
          </p:nvGrpSpPr>
          <p:grpSpPr>
            <a:xfrm>
              <a:off x="5549900" y="0"/>
              <a:ext cx="2578100" cy="3797300"/>
              <a:chOff x="0" y="0"/>
              <a:chExt cx="2578100" cy="3797300"/>
            </a:xfrm>
          </p:grpSpPr>
          <p:sp>
            <p:nvSpPr>
              <p:cNvPr name="TextBox 12" id="12"/>
              <p:cNvSpPr txBox="true"/>
              <p:nvPr/>
            </p:nvSpPr>
            <p:spPr>
              <a:xfrm>
                <a:off x="190500" y="190500"/>
                <a:ext cx="2209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600">
                    <a:latin typeface="Microsoft YaHei"/>
                  </a:rPr>
                  <a:t>Bottom aligned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880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19200" y="1739900"/>
            <a:ext cx="67056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pPr algn="ctr"/>
            <a:r>
              <a:rPr lang="en-US" b="true" i="false" u="none" sz="3600">
                <a:solidFill>
                  <a:srgbClr val="FFFFFF"/>
                </a:solidFill>
                <a:latin typeface="Microsoft YaHei"/>
              </a:rPr>
              <a:t>Centered Title Pattern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73100" y="2565400"/>
            <a:ext cx="77978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pPr algn="ctr"/>
            <a:r>
              <a:rPr lang="en-US" b="false" i="false" u="none" sz="2000">
                <a:solidFill>
                  <a:srgbClr val="F48FB1"/>
                </a:solidFill>
                <a:latin typeface="Microsoft YaHei"/>
              </a:rPr>
              <a:t>This is a common slide pattern for section dividers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320800" y="3111500"/>
            <a:ext cx="65024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pPr algn="ctr"/>
            <a:r>
              <a:rPr lang="en-US" b="false" i="false" u="none" sz="1600">
                <a:solidFill>
                  <a:srgbClr val="F8BBD0"/>
                </a:solidFill>
                <a:latin typeface="Microsoft YaHei"/>
              </a:rPr>
              <a:t>Using justify-content: center and align-items: center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pPr algn="ctr"/>
            <a:r>
              <a:rPr lang="en-US" b="true" i="false" u="none" sz="2400">
                <a:solidFill>
                  <a:srgbClr val="4A148C"/>
                </a:solidFill>
                <a:latin typeface="Microsoft YaHei"/>
              </a:rPr>
              <a:t>Mixed Alignments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578100" cy="379730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578100" cy="3797300"/>
              <a:chOff x="0" y="0"/>
              <a:chExt cx="2578100" cy="37973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90500"/>
                <a:ext cx="2209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l"/>
                <a:r>
                  <a:rPr lang="en-US" b="true" i="false" u="none" sz="1600">
                    <a:latin typeface="Microsoft YaHei"/>
                  </a:rPr>
                  <a:t>Left Column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190500" y="469900"/>
                <a:ext cx="2209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l"/>
                <a:r>
                  <a:rPr lang="en-US" b="false" i="false" u="none" sz="1400">
                    <a:latin typeface="Microsoft YaHei"/>
                  </a:rPr>
                  <a:t>Data point A: 1234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190500" y="723900"/>
                <a:ext cx="2209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l"/>
                <a:r>
                  <a:rPr lang="en-US" b="false" i="false" u="none" sz="1400">
                    <a:latin typeface="Microsoft YaHei"/>
                  </a:rPr>
                  <a:t>Data point B: 5678</a:t>
                </a: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2768600" y="0"/>
              <a:ext cx="2590800" cy="37973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10" id="10"/>
            <p:cNvGrpSpPr/>
            <p:nvPr/>
          </p:nvGrpSpPr>
          <p:grpSpPr>
            <a:xfrm>
              <a:off x="2768600" y="0"/>
              <a:ext cx="2590800" cy="3797300"/>
              <a:chOff x="0" y="0"/>
              <a:chExt cx="2590800" cy="37973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190500" y="190500"/>
                <a:ext cx="2209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true" i="false" u="none" sz="1600">
                    <a:latin typeface="Microsoft YaHei"/>
                  </a:rPr>
                  <a:t>Center Column</a:t>
                </a:r>
              </a:p>
            </p:txBody>
          </p:sp>
          <p:sp>
            <p:nvSpPr>
              <p:cNvPr name="TextBox 12" id="12"/>
              <p:cNvSpPr txBox="true"/>
              <p:nvPr/>
            </p:nvSpPr>
            <p:spPr>
              <a:xfrm>
                <a:off x="190500" y="469900"/>
                <a:ext cx="2209800" cy="5715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3200">
                    <a:solidFill>
                      <a:srgbClr val="E65100"/>
                    </a:solidFill>
                    <a:latin typeface="Microsoft YaHei"/>
                  </a:rPr>
                  <a:t>42%</a:t>
                </a:r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190500" y="1041400"/>
                <a:ext cx="2209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1400">
                    <a:latin typeface="Microsoft YaHei"/>
                  </a:rPr>
                  <a:t>Conversion Rate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>
              <a:off x="5549900" y="0"/>
              <a:ext cx="2578100" cy="37973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</p:sp>
        <p:grpSp>
          <p:nvGrpSpPr>
            <p:cNvPr name="Group 15" id="15"/>
            <p:cNvGrpSpPr/>
            <p:nvPr/>
          </p:nvGrpSpPr>
          <p:grpSpPr>
            <a:xfrm>
              <a:off x="5549900" y="0"/>
              <a:ext cx="2578100" cy="3797300"/>
              <a:chOff x="0" y="0"/>
              <a:chExt cx="2578100" cy="3797300"/>
            </a:xfrm>
          </p:grpSpPr>
          <p:sp>
            <p:nvSpPr>
              <p:cNvPr name="TextBox 16" id="16"/>
              <p:cNvSpPr txBox="true"/>
              <p:nvPr/>
            </p:nvSpPr>
            <p:spPr>
              <a:xfrm>
                <a:off x="190500" y="190500"/>
                <a:ext cx="2209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r"/>
                <a:r>
                  <a:rPr lang="en-US" b="true" i="false" u="none" sz="1600">
                    <a:latin typeface="Microsoft YaHei"/>
                  </a:rPr>
                  <a:t>Right Column</a:t>
                </a:r>
              </a:p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190500" y="469900"/>
                <a:ext cx="2209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r"/>
                <a:r>
                  <a:rPr lang="en-US" b="false" i="false" u="none" sz="1400">
                    <a:latin typeface="Microsoft YaHei"/>
                  </a:rPr>
                  <a:t>Revenue: $2.4M</a:t>
                </a:r>
              </a:p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190500" y="723900"/>
                <a:ext cx="2209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r"/>
                <a:r>
                  <a:rPr lang="en-US" b="false" i="false" u="none" sz="1400">
                    <a:latin typeface="Microsoft YaHei"/>
                  </a:rPr>
                  <a:t>Profit: $1.2M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