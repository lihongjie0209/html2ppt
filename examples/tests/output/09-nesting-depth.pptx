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032000" y="1981200"/>
            <a:ext cx="5080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Nesting &amp; Depth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019300" y="2819400"/>
            <a:ext cx="51054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FFCC80"/>
                </a:solidFill>
                <a:latin typeface="Microsoft YaHei"/>
              </a:rPr>
              <a:t>Testing deeply nested flex containers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E65100"/>
                </a:solidFill>
                <a:latin typeface="Microsoft YaHei"/>
              </a:rPr>
              <a:t>3 Levels of Nesting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3987800" cy="3822700"/>
            </a:xfrm>
            <a:prstGeom prst="round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3987800" cy="3822700"/>
              <a:chOff x="0" y="0"/>
              <a:chExt cx="3987800" cy="38227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52400" y="152400"/>
                <a:ext cx="3683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300">
                    <a:solidFill>
                      <a:srgbClr val="666666"/>
                    </a:solidFill>
                    <a:latin typeface="Microsoft YaHei"/>
                  </a:rPr>
                  <a:t>Outer A</a:t>
                </a:r>
              </a:p>
            </p:txBody>
          </p:sp>
          <p:sp>
            <p:nvSpPr>
              <p:cNvPr name="AutoShape 7" id="7"/>
              <p:cNvSpPr/>
              <p:nvPr/>
            </p:nvSpPr>
            <p:spPr>
              <a:xfrm>
                <a:off x="152400" y="482600"/>
                <a:ext cx="3683000" cy="673100"/>
              </a:xfrm>
              <a:prstGeom prst="roundRect">
                <a:avLst/>
              </a:prstGeom>
              <a:solidFill>
                <a:srgbClr val="FFE0B2"/>
              </a:solidFill>
              <a:ln>
                <a:noFill/>
              </a:ln>
            </p:spPr>
          </p:sp>
          <p:grpSp>
            <p:nvGrpSpPr>
              <p:cNvPr name="Group 8" id="8"/>
              <p:cNvGrpSpPr/>
              <p:nvPr/>
            </p:nvGrpSpPr>
            <p:grpSpPr>
              <a:xfrm>
                <a:off x="152400" y="482600"/>
                <a:ext cx="3683000" cy="673100"/>
                <a:chOff x="0" y="0"/>
                <a:chExt cx="3683000" cy="673100"/>
              </a:xfrm>
            </p:grpSpPr>
            <p:sp>
              <p:nvSpPr>
                <p:cNvPr name="AutoShape 9" id="9"/>
                <p:cNvSpPr/>
                <p:nvPr/>
              </p:nvSpPr>
              <p:spPr>
                <a:xfrm>
                  <a:off x="127000" y="127000"/>
                  <a:ext cx="1663700" cy="4191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10" id="10"/>
                <p:cNvGrpSpPr/>
                <p:nvPr/>
              </p:nvGrpSpPr>
              <p:grpSpPr>
                <a:xfrm>
                  <a:off x="127000" y="127000"/>
                  <a:ext cx="1663700" cy="419100"/>
                  <a:chOff x="0" y="0"/>
                  <a:chExt cx="1663700" cy="419100"/>
                </a:xfrm>
              </p:grpSpPr>
              <p:sp>
                <p:nvSpPr>
                  <p:cNvPr name="TextBox 11" id="11"/>
                  <p:cNvSpPr txBox="true"/>
                  <p:nvPr/>
                </p:nvSpPr>
                <p:spPr>
                  <a:xfrm>
                    <a:off x="101600" y="101600"/>
                    <a:ext cx="14605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A.1.a</a:t>
                    </a:r>
                  </a:p>
                </p:txBody>
              </p:sp>
            </p:grpSp>
            <p:sp>
              <p:nvSpPr>
                <p:cNvPr name="AutoShape 12" id="12"/>
                <p:cNvSpPr/>
                <p:nvPr/>
              </p:nvSpPr>
              <p:spPr>
                <a:xfrm>
                  <a:off x="1892300" y="127000"/>
                  <a:ext cx="1663700" cy="4191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13" id="13"/>
                <p:cNvGrpSpPr/>
                <p:nvPr/>
              </p:nvGrpSpPr>
              <p:grpSpPr>
                <a:xfrm>
                  <a:off x="1892300" y="127000"/>
                  <a:ext cx="1663700" cy="419100"/>
                  <a:chOff x="0" y="0"/>
                  <a:chExt cx="1663700" cy="419100"/>
                </a:xfrm>
              </p:grpSpPr>
              <p:sp>
                <p:nvSpPr>
                  <p:cNvPr name="TextBox 14" id="14"/>
                  <p:cNvSpPr txBox="true"/>
                  <p:nvPr/>
                </p:nvSpPr>
                <p:spPr>
                  <a:xfrm>
                    <a:off x="101600" y="101600"/>
                    <a:ext cx="14605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A.1.b</a:t>
                    </a:r>
                  </a:p>
                </p:txBody>
              </p:sp>
            </p:grpSp>
          </p:grpSp>
          <p:sp>
            <p:nvSpPr>
              <p:cNvPr name="AutoShape 15" id="15"/>
              <p:cNvSpPr/>
              <p:nvPr/>
            </p:nvSpPr>
            <p:spPr>
              <a:xfrm>
                <a:off x="152400" y="1257300"/>
                <a:ext cx="3683000" cy="660400"/>
              </a:xfrm>
              <a:prstGeom prst="roundRect">
                <a:avLst/>
              </a:prstGeom>
              <a:solidFill>
                <a:srgbClr val="FFE0B2"/>
              </a:solidFill>
              <a:ln>
                <a:noFill/>
              </a:ln>
            </p:spPr>
          </p:sp>
          <p:grpSp>
            <p:nvGrpSpPr>
              <p:cNvPr name="Group 16" id="16"/>
              <p:cNvGrpSpPr/>
              <p:nvPr/>
            </p:nvGrpSpPr>
            <p:grpSpPr>
              <a:xfrm>
                <a:off x="152400" y="1257300"/>
                <a:ext cx="3683000" cy="660400"/>
                <a:chOff x="0" y="0"/>
                <a:chExt cx="3683000" cy="660400"/>
              </a:xfrm>
            </p:grpSpPr>
            <p:sp>
              <p:nvSpPr>
                <p:cNvPr name="AutoShape 17" id="17"/>
                <p:cNvSpPr/>
                <p:nvPr/>
              </p:nvSpPr>
              <p:spPr>
                <a:xfrm>
                  <a:off x="127000" y="127000"/>
                  <a:ext cx="1663700" cy="4064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18" id="18"/>
                <p:cNvGrpSpPr/>
                <p:nvPr/>
              </p:nvGrpSpPr>
              <p:grpSpPr>
                <a:xfrm>
                  <a:off x="127000" y="127000"/>
                  <a:ext cx="1663700" cy="406400"/>
                  <a:chOff x="0" y="0"/>
                  <a:chExt cx="1663700" cy="406400"/>
                </a:xfrm>
              </p:grpSpPr>
              <p:sp>
                <p:nvSpPr>
                  <p:cNvPr name="TextBox 19" id="19"/>
                  <p:cNvSpPr txBox="true"/>
                  <p:nvPr/>
                </p:nvSpPr>
                <p:spPr>
                  <a:xfrm>
                    <a:off x="101600" y="101600"/>
                    <a:ext cx="14605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A.2.a</a:t>
                    </a:r>
                  </a:p>
                </p:txBody>
              </p:sp>
            </p:grpSp>
            <p:sp>
              <p:nvSpPr>
                <p:cNvPr name="AutoShape 20" id="20"/>
                <p:cNvSpPr/>
                <p:nvPr/>
              </p:nvSpPr>
              <p:spPr>
                <a:xfrm>
                  <a:off x="1892300" y="127000"/>
                  <a:ext cx="1663700" cy="4064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21" id="21"/>
                <p:cNvGrpSpPr/>
                <p:nvPr/>
              </p:nvGrpSpPr>
              <p:grpSpPr>
                <a:xfrm>
                  <a:off x="1892300" y="127000"/>
                  <a:ext cx="1663700" cy="406400"/>
                  <a:chOff x="0" y="0"/>
                  <a:chExt cx="1663700" cy="406400"/>
                </a:xfrm>
              </p:grpSpPr>
              <p:sp>
                <p:nvSpPr>
                  <p:cNvPr name="TextBox 22" id="22"/>
                  <p:cNvSpPr txBox="true"/>
                  <p:nvPr/>
                </p:nvSpPr>
                <p:spPr>
                  <a:xfrm>
                    <a:off x="101600" y="101600"/>
                    <a:ext cx="14605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A.2.b</a:t>
                    </a:r>
                  </a:p>
                </p:txBody>
              </p:sp>
            </p:grpSp>
          </p:grpSp>
        </p:grpSp>
        <p:sp>
          <p:nvSpPr>
            <p:cNvPr name="AutoShape 23" id="23"/>
            <p:cNvSpPr/>
            <p:nvPr/>
          </p:nvSpPr>
          <p:spPr>
            <a:xfrm>
              <a:off x="4140200" y="0"/>
              <a:ext cx="3987800" cy="3822700"/>
            </a:xfrm>
            <a:prstGeom prst="round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24" id="24"/>
            <p:cNvGrpSpPr/>
            <p:nvPr/>
          </p:nvGrpSpPr>
          <p:grpSpPr>
            <a:xfrm>
              <a:off x="4140200" y="0"/>
              <a:ext cx="3987800" cy="3822700"/>
              <a:chOff x="0" y="0"/>
              <a:chExt cx="3987800" cy="3822700"/>
            </a:xfrm>
          </p:grpSpPr>
          <p:sp>
            <p:nvSpPr>
              <p:cNvPr name="TextBox 25" id="25"/>
              <p:cNvSpPr txBox="true"/>
              <p:nvPr/>
            </p:nvSpPr>
            <p:spPr>
              <a:xfrm>
                <a:off x="152400" y="152400"/>
                <a:ext cx="3683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300">
                    <a:solidFill>
                      <a:srgbClr val="666666"/>
                    </a:solidFill>
                    <a:latin typeface="Microsoft YaHei"/>
                  </a:rPr>
                  <a:t>Outer B</a:t>
                </a:r>
              </a:p>
            </p:txBody>
          </p:sp>
          <p:sp>
            <p:nvSpPr>
              <p:cNvPr name="AutoShape 26" id="26"/>
              <p:cNvSpPr/>
              <p:nvPr/>
            </p:nvSpPr>
            <p:spPr>
              <a:xfrm>
                <a:off x="152400" y="482600"/>
                <a:ext cx="3683000" cy="673100"/>
              </a:xfrm>
              <a:prstGeom prst="roundRect">
                <a:avLst/>
              </a:prstGeom>
              <a:solidFill>
                <a:srgbClr val="FFE0B2"/>
              </a:solidFill>
              <a:ln>
                <a:noFill/>
              </a:ln>
            </p:spPr>
          </p:sp>
          <p:grpSp>
            <p:nvGrpSpPr>
              <p:cNvPr name="Group 27" id="27"/>
              <p:cNvGrpSpPr/>
              <p:nvPr/>
            </p:nvGrpSpPr>
            <p:grpSpPr>
              <a:xfrm>
                <a:off x="152400" y="482600"/>
                <a:ext cx="3683000" cy="673100"/>
                <a:chOff x="0" y="0"/>
                <a:chExt cx="3683000" cy="673100"/>
              </a:xfrm>
            </p:grpSpPr>
            <p:sp>
              <p:nvSpPr>
                <p:cNvPr name="AutoShape 28" id="28"/>
                <p:cNvSpPr/>
                <p:nvPr/>
              </p:nvSpPr>
              <p:spPr>
                <a:xfrm>
                  <a:off x="127000" y="127000"/>
                  <a:ext cx="1079500" cy="4191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29" id="29"/>
                <p:cNvGrpSpPr/>
                <p:nvPr/>
              </p:nvGrpSpPr>
              <p:grpSpPr>
                <a:xfrm>
                  <a:off x="127000" y="127000"/>
                  <a:ext cx="1079500" cy="419100"/>
                  <a:chOff x="0" y="0"/>
                  <a:chExt cx="1079500" cy="419100"/>
                </a:xfrm>
              </p:grpSpPr>
              <p:sp>
                <p:nvSpPr>
                  <p:cNvPr name="TextBox 30" id="30"/>
                  <p:cNvSpPr txBox="true"/>
                  <p:nvPr/>
                </p:nvSpPr>
                <p:spPr>
                  <a:xfrm>
                    <a:off x="101600" y="101600"/>
                    <a:ext cx="8763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B.1.a</a:t>
                    </a:r>
                  </a:p>
                </p:txBody>
              </p:sp>
            </p:grpSp>
            <p:sp>
              <p:nvSpPr>
                <p:cNvPr name="AutoShape 31" id="31"/>
                <p:cNvSpPr/>
                <p:nvPr/>
              </p:nvSpPr>
              <p:spPr>
                <a:xfrm>
                  <a:off x="1308100" y="127000"/>
                  <a:ext cx="1066800" cy="4191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32" id="32"/>
                <p:cNvGrpSpPr/>
                <p:nvPr/>
              </p:nvGrpSpPr>
              <p:grpSpPr>
                <a:xfrm>
                  <a:off x="1308100" y="127000"/>
                  <a:ext cx="1066800" cy="419100"/>
                  <a:chOff x="0" y="0"/>
                  <a:chExt cx="1066800" cy="419100"/>
                </a:xfrm>
              </p:grpSpPr>
              <p:sp>
                <p:nvSpPr>
                  <p:cNvPr name="TextBox 33" id="33"/>
                  <p:cNvSpPr txBox="true"/>
                  <p:nvPr/>
                </p:nvSpPr>
                <p:spPr>
                  <a:xfrm>
                    <a:off x="101600" y="101600"/>
                    <a:ext cx="8890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B.1.b</a:t>
                    </a:r>
                  </a:p>
                </p:txBody>
              </p:sp>
            </p:grpSp>
            <p:sp>
              <p:nvSpPr>
                <p:cNvPr name="AutoShape 34" id="34"/>
                <p:cNvSpPr/>
                <p:nvPr/>
              </p:nvSpPr>
              <p:spPr>
                <a:xfrm>
                  <a:off x="2476500" y="127000"/>
                  <a:ext cx="1079500" cy="419100"/>
                </a:xfrm>
                <a:prstGeom prst="roundRect">
                  <a:avLst/>
                </a:prstGeom>
                <a:solidFill>
                  <a:srgbClr val="FFCC80"/>
                </a:solidFill>
                <a:ln>
                  <a:noFill/>
                </a:ln>
              </p:spPr>
            </p:sp>
            <p:grpSp>
              <p:nvGrpSpPr>
                <p:cNvPr name="Group 35" id="35"/>
                <p:cNvGrpSpPr/>
                <p:nvPr/>
              </p:nvGrpSpPr>
              <p:grpSpPr>
                <a:xfrm>
                  <a:off x="2476500" y="127000"/>
                  <a:ext cx="1079500" cy="419100"/>
                  <a:chOff x="0" y="0"/>
                  <a:chExt cx="1079500" cy="419100"/>
                </a:xfrm>
              </p:grpSpPr>
              <p:sp>
                <p:nvSpPr>
                  <p:cNvPr name="TextBox 36" id="36"/>
                  <p:cNvSpPr txBox="true"/>
                  <p:nvPr/>
                </p:nvSpPr>
                <p:spPr>
                  <a:xfrm>
                    <a:off x="101600" y="101600"/>
                    <a:ext cx="8763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B.1.c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E65100"/>
                </a:solidFill>
                <a:latin typeface="Microsoft YaHei"/>
              </a:rPr>
              <a:t>Mixed Direction Nesting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5334000" cy="3822700"/>
              <a:chOff x="0" y="0"/>
              <a:chExt cx="5334000" cy="38227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5334000" cy="1854200"/>
              </a:xfrm>
              <a:prstGeom prst="round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5334000" cy="1854200"/>
                <a:chOff x="0" y="0"/>
                <a:chExt cx="5334000" cy="1854200"/>
              </a:xfrm>
            </p:grpSpPr>
            <p:sp>
              <p:nvSpPr>
                <p:cNvPr name="AutoShape 7" id="7"/>
                <p:cNvSpPr/>
                <p:nvPr/>
              </p:nvSpPr>
              <p:spPr>
                <a:xfrm>
                  <a:off x="152400" y="152400"/>
                  <a:ext cx="2463800" cy="1549400"/>
                </a:xfrm>
                <a:prstGeom prst="roundRect">
                  <a:avLst/>
                </a:prstGeom>
                <a:solidFill>
                  <a:srgbClr val="90CAF9"/>
                </a:solidFill>
                <a:ln>
                  <a:noFill/>
                </a:ln>
              </p:spPr>
            </p:sp>
            <p:grpSp>
              <p:nvGrpSpPr>
                <p:cNvPr name="Group 8" id="8"/>
                <p:cNvGrpSpPr/>
                <p:nvPr/>
              </p:nvGrpSpPr>
              <p:grpSpPr>
                <a:xfrm>
                  <a:off x="152400" y="152400"/>
                  <a:ext cx="2463800" cy="1549400"/>
                  <a:chOff x="0" y="0"/>
                  <a:chExt cx="2463800" cy="1549400"/>
                </a:xfrm>
              </p:grpSpPr>
              <p:sp>
                <p:nvSpPr>
                  <p:cNvPr name="TextBox 9" id="9"/>
                  <p:cNvSpPr txBox="true"/>
                  <p:nvPr/>
                </p:nvSpPr>
                <p:spPr>
                  <a:xfrm>
                    <a:off x="101600" y="101600"/>
                    <a:ext cx="22606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Row inside column (left)</a:t>
                    </a:r>
                  </a:p>
                </p:txBody>
              </p:sp>
            </p:grpSp>
            <p:sp>
              <p:nvSpPr>
                <p:cNvPr name="AutoShape 10" id="10"/>
                <p:cNvSpPr/>
                <p:nvPr/>
              </p:nvSpPr>
              <p:spPr>
                <a:xfrm>
                  <a:off x="2717800" y="152400"/>
                  <a:ext cx="2463800" cy="1549400"/>
                </a:xfrm>
                <a:prstGeom prst="roundRect">
                  <a:avLst/>
                </a:prstGeom>
                <a:solidFill>
                  <a:srgbClr val="90CAF9"/>
                </a:solidFill>
                <a:ln>
                  <a:noFill/>
                </a:ln>
              </p:spPr>
            </p:sp>
            <p:grpSp>
              <p:nvGrpSpPr>
                <p:cNvPr name="Group 11" id="11"/>
                <p:cNvGrpSpPr/>
                <p:nvPr/>
              </p:nvGrpSpPr>
              <p:grpSpPr>
                <a:xfrm>
                  <a:off x="2717800" y="152400"/>
                  <a:ext cx="2463800" cy="1549400"/>
                  <a:chOff x="0" y="0"/>
                  <a:chExt cx="2463800" cy="1549400"/>
                </a:xfrm>
              </p:grpSpPr>
              <p:sp>
                <p:nvSpPr>
                  <p:cNvPr name="TextBox 12" id="12"/>
                  <p:cNvSpPr txBox="true"/>
                  <p:nvPr/>
                </p:nvSpPr>
                <p:spPr>
                  <a:xfrm>
                    <a:off x="101600" y="101600"/>
                    <a:ext cx="22606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Row inside column (right)</a:t>
                    </a:r>
                  </a:p>
                </p:txBody>
              </p:sp>
            </p:grpSp>
          </p:grpSp>
          <p:sp>
            <p:nvSpPr>
              <p:cNvPr name="AutoShape 13" id="13"/>
              <p:cNvSpPr/>
              <p:nvPr/>
            </p:nvSpPr>
            <p:spPr>
              <a:xfrm>
                <a:off x="0" y="1968500"/>
                <a:ext cx="5334000" cy="1866900"/>
              </a:xfrm>
              <a:prstGeom prst="round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14" id="14"/>
              <p:cNvGrpSpPr/>
              <p:nvPr/>
            </p:nvGrpSpPr>
            <p:grpSpPr>
              <a:xfrm>
                <a:off x="0" y="1968500"/>
                <a:ext cx="5334000" cy="1866900"/>
                <a:chOff x="0" y="0"/>
                <a:chExt cx="5334000" cy="1866900"/>
              </a:xfrm>
            </p:grpSpPr>
            <p:sp>
              <p:nvSpPr>
                <p:cNvPr name="AutoShape 15" id="15"/>
                <p:cNvSpPr/>
                <p:nvPr/>
              </p:nvSpPr>
              <p:spPr>
                <a:xfrm>
                  <a:off x="152400" y="152400"/>
                  <a:ext cx="1612900" cy="1562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16" id="16"/>
                <p:cNvGrpSpPr/>
                <p:nvPr/>
              </p:nvGrpSpPr>
              <p:grpSpPr>
                <a:xfrm>
                  <a:off x="152400" y="152400"/>
                  <a:ext cx="1612900" cy="1562100"/>
                  <a:chOff x="0" y="0"/>
                  <a:chExt cx="1612900" cy="1562100"/>
                </a:xfrm>
              </p:grpSpPr>
              <p:sp>
                <p:nvSpPr>
                  <p:cNvPr name="TextBox 17" id="17"/>
                  <p:cNvSpPr txBox="true"/>
                  <p:nvPr/>
                </p:nvSpPr>
                <p:spPr>
                  <a:xfrm>
                    <a:off x="101600" y="101600"/>
                    <a:ext cx="14097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Another row (A)</a:t>
                    </a:r>
                  </a:p>
                </p:txBody>
              </p:sp>
            </p:grpSp>
            <p:sp>
              <p:nvSpPr>
                <p:cNvPr name="AutoShape 18" id="18"/>
                <p:cNvSpPr/>
                <p:nvPr/>
              </p:nvSpPr>
              <p:spPr>
                <a:xfrm>
                  <a:off x="1866900" y="152400"/>
                  <a:ext cx="1600200" cy="1562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19" id="19"/>
                <p:cNvGrpSpPr/>
                <p:nvPr/>
              </p:nvGrpSpPr>
              <p:grpSpPr>
                <a:xfrm>
                  <a:off x="1866900" y="152400"/>
                  <a:ext cx="1600200" cy="1562100"/>
                  <a:chOff x="0" y="0"/>
                  <a:chExt cx="1600200" cy="1562100"/>
                </a:xfrm>
              </p:grpSpPr>
              <p:sp>
                <p:nvSpPr>
                  <p:cNvPr name="TextBox 20" id="20"/>
                  <p:cNvSpPr txBox="true"/>
                  <p:nvPr/>
                </p:nvSpPr>
                <p:spPr>
                  <a:xfrm>
                    <a:off x="101600" y="101600"/>
                    <a:ext cx="14224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Another row (B)</a:t>
                    </a:r>
                  </a:p>
                </p:txBody>
              </p:sp>
            </p:grpSp>
            <p:sp>
              <p:nvSpPr>
                <p:cNvPr name="AutoShape 21" id="21"/>
                <p:cNvSpPr/>
                <p:nvPr/>
              </p:nvSpPr>
              <p:spPr>
                <a:xfrm>
                  <a:off x="3568700" y="152400"/>
                  <a:ext cx="1612900" cy="1562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22" id="22"/>
                <p:cNvGrpSpPr/>
                <p:nvPr/>
              </p:nvGrpSpPr>
              <p:grpSpPr>
                <a:xfrm>
                  <a:off x="3568700" y="152400"/>
                  <a:ext cx="1612900" cy="1562100"/>
                  <a:chOff x="0" y="0"/>
                  <a:chExt cx="1612900" cy="1562100"/>
                </a:xfrm>
              </p:grpSpPr>
              <p:sp>
                <p:nvSpPr>
                  <p:cNvPr name="TextBox 23" id="23"/>
                  <p:cNvSpPr txBox="true"/>
                  <p:nvPr/>
                </p:nvSpPr>
                <p:spPr>
                  <a:xfrm>
                    <a:off x="101600" y="101600"/>
                    <a:ext cx="14097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Another row (C)</a:t>
                    </a:r>
                  </a:p>
                </p:txBody>
              </p:sp>
            </p:grpSp>
          </p:grpSp>
        </p:grpSp>
        <p:grpSp>
          <p:nvGrpSpPr>
            <p:cNvPr name="Group 24" id="24"/>
            <p:cNvGrpSpPr/>
            <p:nvPr/>
          </p:nvGrpSpPr>
          <p:grpSpPr>
            <a:xfrm>
              <a:off x="5461000" y="0"/>
              <a:ext cx="2667000" cy="3822700"/>
              <a:chOff x="0" y="0"/>
              <a:chExt cx="2667000" cy="3822700"/>
            </a:xfrm>
          </p:grpSpPr>
          <p:sp>
            <p:nvSpPr>
              <p:cNvPr name="AutoShape 25" id="25"/>
              <p:cNvSpPr/>
              <p:nvPr/>
            </p:nvSpPr>
            <p:spPr>
              <a:xfrm>
                <a:off x="0" y="0"/>
                <a:ext cx="2667000" cy="1206500"/>
              </a:xfrm>
              <a:prstGeom prst="roundRect">
                <a:avLst/>
              </a:prstGeom>
              <a:solidFill>
                <a:srgbClr val="FCE4EC"/>
              </a:solidFill>
              <a:ln>
                <a:noFill/>
              </a:ln>
            </p:spPr>
          </p:sp>
          <p:grpSp>
            <p:nvGrpSpPr>
              <p:cNvPr name="Group 26" id="26"/>
              <p:cNvGrpSpPr/>
              <p:nvPr/>
            </p:nvGrpSpPr>
            <p:grpSpPr>
              <a:xfrm>
                <a:off x="0" y="0"/>
                <a:ext cx="2667000" cy="1206500"/>
                <a:chOff x="0" y="0"/>
                <a:chExt cx="2667000" cy="1206500"/>
              </a:xfrm>
            </p:grpSpPr>
            <p:sp>
              <p:nvSpPr>
                <p:cNvPr name="TextBox 27" id="27"/>
                <p:cNvSpPr txBox="true"/>
                <p:nvPr/>
              </p:nvSpPr>
              <p:spPr>
                <a:xfrm>
                  <a:off x="152400" y="152400"/>
                  <a:ext cx="23622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Sidebar Top</a:t>
                  </a:r>
                </a:p>
              </p:txBody>
            </p:sp>
          </p:grpSp>
          <p:sp>
            <p:nvSpPr>
              <p:cNvPr name="AutoShape 28" id="28"/>
              <p:cNvSpPr/>
              <p:nvPr/>
            </p:nvSpPr>
            <p:spPr>
              <a:xfrm>
                <a:off x="0" y="1308100"/>
                <a:ext cx="2667000" cy="1206500"/>
              </a:xfrm>
              <a:prstGeom prst="roundRect">
                <a:avLst/>
              </a:prstGeom>
              <a:solidFill>
                <a:srgbClr val="F3E5F5"/>
              </a:solidFill>
              <a:ln>
                <a:noFill/>
              </a:ln>
            </p:spPr>
          </p:sp>
          <p:grpSp>
            <p:nvGrpSpPr>
              <p:cNvPr name="Group 29" id="29"/>
              <p:cNvGrpSpPr/>
              <p:nvPr/>
            </p:nvGrpSpPr>
            <p:grpSpPr>
              <a:xfrm>
                <a:off x="0" y="1308100"/>
                <a:ext cx="2667000" cy="1206500"/>
                <a:chOff x="0" y="0"/>
                <a:chExt cx="2667000" cy="1206500"/>
              </a:xfrm>
            </p:grpSpPr>
            <p:sp>
              <p:nvSpPr>
                <p:cNvPr name="TextBox 30" id="30"/>
                <p:cNvSpPr txBox="true"/>
                <p:nvPr/>
              </p:nvSpPr>
              <p:spPr>
                <a:xfrm>
                  <a:off x="152400" y="152400"/>
                  <a:ext cx="23622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Sidebar Mid</a:t>
                  </a:r>
                </a:p>
              </p:txBody>
            </p:sp>
          </p:grpSp>
          <p:sp>
            <p:nvSpPr>
              <p:cNvPr name="AutoShape 31" id="31"/>
              <p:cNvSpPr/>
              <p:nvPr/>
            </p:nvSpPr>
            <p:spPr>
              <a:xfrm>
                <a:off x="0" y="2616200"/>
                <a:ext cx="2667000" cy="12065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32" id="32"/>
              <p:cNvGrpSpPr/>
              <p:nvPr/>
            </p:nvGrpSpPr>
            <p:grpSpPr>
              <a:xfrm>
                <a:off x="0" y="2616200"/>
                <a:ext cx="2667000" cy="1206500"/>
                <a:chOff x="0" y="0"/>
                <a:chExt cx="2667000" cy="1206500"/>
              </a:xfrm>
            </p:grpSpPr>
            <p:sp>
              <p:nvSpPr>
                <p:cNvPr name="TextBox 33" id="33"/>
                <p:cNvSpPr txBox="true"/>
                <p:nvPr/>
              </p:nvSpPr>
              <p:spPr>
                <a:xfrm>
                  <a:off x="152400" y="152400"/>
                  <a:ext cx="23622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Sidebar Bot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E65100"/>
                </a:solidFill>
                <a:latin typeface="Microsoft YaHei"/>
              </a:rPr>
              <a:t>Many Items in a Container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889000" cy="482600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889000" cy="482600"/>
              <a:chOff x="0" y="0"/>
              <a:chExt cx="889000" cy="4826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27000"/>
                <a:ext cx="5207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1</a:t>
                </a: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990600" y="0"/>
              <a:ext cx="901700" cy="482600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</p:spPr>
        </p:sp>
        <p:grpSp>
          <p:nvGrpSpPr>
            <p:cNvPr name="Group 8" id="8"/>
            <p:cNvGrpSpPr/>
            <p:nvPr/>
          </p:nvGrpSpPr>
          <p:grpSpPr>
            <a:xfrm>
              <a:off x="990600" y="0"/>
              <a:ext cx="901700" cy="482600"/>
              <a:chOff x="0" y="0"/>
              <a:chExt cx="901700" cy="482600"/>
            </a:xfrm>
          </p:grpSpPr>
          <p:sp>
            <p:nvSpPr>
              <p:cNvPr name="TextBox 9" id="9"/>
              <p:cNvSpPr txBox="true"/>
              <p:nvPr/>
            </p:nvSpPr>
            <p:spPr>
              <a:xfrm>
                <a:off x="190500" y="127000"/>
                <a:ext cx="5207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2</a:t>
                </a: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1993900" y="0"/>
              <a:ext cx="889000" cy="482600"/>
            </a:xfrm>
            <a:prstGeom prst="round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11" id="11"/>
            <p:cNvGrpSpPr/>
            <p:nvPr/>
          </p:nvGrpSpPr>
          <p:grpSpPr>
            <a:xfrm>
              <a:off x="1993900" y="0"/>
              <a:ext cx="889000" cy="482600"/>
              <a:chOff x="0" y="0"/>
              <a:chExt cx="889000" cy="4826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190500" y="127000"/>
                <a:ext cx="5207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3</a:t>
                </a: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2984500" y="0"/>
              <a:ext cx="889000" cy="482600"/>
            </a:xfrm>
            <a:prstGeom prst="roundRect">
              <a:avLst/>
            </a:prstGeom>
            <a:solidFill>
              <a:srgbClr val="FCE4EC"/>
            </a:solidFill>
            <a:ln>
              <a:noFill/>
            </a:ln>
          </p:spPr>
        </p:sp>
        <p:grpSp>
          <p:nvGrpSpPr>
            <p:cNvPr name="Group 14" id="14"/>
            <p:cNvGrpSpPr/>
            <p:nvPr/>
          </p:nvGrpSpPr>
          <p:grpSpPr>
            <a:xfrm>
              <a:off x="2984500" y="0"/>
              <a:ext cx="889000" cy="482600"/>
              <a:chOff x="0" y="0"/>
              <a:chExt cx="889000" cy="4826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190500" y="127000"/>
                <a:ext cx="5334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4</a:t>
                </a: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3975100" y="0"/>
              <a:ext cx="901700" cy="482600"/>
            </a:xfrm>
            <a:prstGeom prst="roundRect">
              <a:avLst/>
            </a:prstGeom>
            <a:solidFill>
              <a:srgbClr val="F3E5F5"/>
            </a:solidFill>
            <a:ln>
              <a:noFill/>
            </a:ln>
          </p:spPr>
        </p:sp>
        <p:grpSp>
          <p:nvGrpSpPr>
            <p:cNvPr name="Group 17" id="17"/>
            <p:cNvGrpSpPr/>
            <p:nvPr/>
          </p:nvGrpSpPr>
          <p:grpSpPr>
            <a:xfrm>
              <a:off x="3975100" y="0"/>
              <a:ext cx="901700" cy="482600"/>
              <a:chOff x="0" y="0"/>
              <a:chExt cx="901700" cy="482600"/>
            </a:xfrm>
          </p:grpSpPr>
          <p:sp>
            <p:nvSpPr>
              <p:cNvPr name="TextBox 18" id="18"/>
              <p:cNvSpPr txBox="true"/>
              <p:nvPr/>
            </p:nvSpPr>
            <p:spPr>
              <a:xfrm>
                <a:off x="190500" y="127000"/>
                <a:ext cx="5207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5</a:t>
                </a:r>
              </a:p>
            </p:txBody>
          </p:sp>
        </p:grpSp>
        <p:sp>
          <p:nvSpPr>
            <p:cNvPr name="AutoShape 19" id="19"/>
            <p:cNvSpPr/>
            <p:nvPr/>
          </p:nvSpPr>
          <p:spPr>
            <a:xfrm>
              <a:off x="4978400" y="0"/>
              <a:ext cx="889000" cy="482600"/>
            </a:xfrm>
            <a:prstGeom prst="roundRect">
              <a:avLst/>
            </a:prstGeom>
            <a:solidFill>
              <a:srgbClr val="E0F7FA"/>
            </a:solidFill>
            <a:ln>
              <a:noFill/>
            </a:ln>
          </p:spPr>
        </p:sp>
        <p:grpSp>
          <p:nvGrpSpPr>
            <p:cNvPr name="Group 20" id="20"/>
            <p:cNvGrpSpPr/>
            <p:nvPr/>
          </p:nvGrpSpPr>
          <p:grpSpPr>
            <a:xfrm>
              <a:off x="4978400" y="0"/>
              <a:ext cx="889000" cy="482600"/>
              <a:chOff x="0" y="0"/>
              <a:chExt cx="889000" cy="482600"/>
            </a:xfrm>
          </p:grpSpPr>
          <p:sp>
            <p:nvSpPr>
              <p:cNvPr name="TextBox 21" id="21"/>
              <p:cNvSpPr txBox="true"/>
              <p:nvPr/>
            </p:nvSpPr>
            <p:spPr>
              <a:xfrm>
                <a:off x="190500" y="127000"/>
                <a:ext cx="5207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6</a:t>
                </a: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5969000" y="0"/>
              <a:ext cx="889000" cy="482600"/>
            </a:xfrm>
            <a:prstGeom prst="roundRect">
              <a:avLst/>
            </a:prstGeom>
            <a:solidFill>
              <a:srgbClr val="F1F8E9"/>
            </a:solidFill>
            <a:ln>
              <a:noFill/>
            </a:ln>
          </p:spPr>
        </p:sp>
        <p:grpSp>
          <p:nvGrpSpPr>
            <p:cNvPr name="Group 23" id="23"/>
            <p:cNvGrpSpPr/>
            <p:nvPr/>
          </p:nvGrpSpPr>
          <p:grpSpPr>
            <a:xfrm>
              <a:off x="5969000" y="0"/>
              <a:ext cx="889000" cy="482600"/>
              <a:chOff x="0" y="0"/>
              <a:chExt cx="889000" cy="482600"/>
            </a:xfrm>
          </p:grpSpPr>
          <p:sp>
            <p:nvSpPr>
              <p:cNvPr name="TextBox 24" id="24"/>
              <p:cNvSpPr txBox="true"/>
              <p:nvPr/>
            </p:nvSpPr>
            <p:spPr>
              <a:xfrm>
                <a:off x="190500" y="127000"/>
                <a:ext cx="5334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7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6959600" y="0"/>
              <a:ext cx="889000" cy="482600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E0E0E0"/>
              </a:solidFill>
            </a:ln>
          </p:spPr>
        </p:sp>
        <p:grpSp>
          <p:nvGrpSpPr>
            <p:cNvPr name="Group 26" id="26"/>
            <p:cNvGrpSpPr/>
            <p:nvPr/>
          </p:nvGrpSpPr>
          <p:grpSpPr>
            <a:xfrm>
              <a:off x="6959600" y="0"/>
              <a:ext cx="889000" cy="482600"/>
              <a:chOff x="0" y="0"/>
              <a:chExt cx="889000" cy="482600"/>
            </a:xfrm>
          </p:grpSpPr>
          <p:sp>
            <p:nvSpPr>
              <p:cNvPr name="TextBox 27" id="27"/>
              <p:cNvSpPr txBox="true"/>
              <p:nvPr/>
            </p:nvSpPr>
            <p:spPr>
              <a:xfrm>
                <a:off x="190500" y="127000"/>
                <a:ext cx="5207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latin typeface="Microsoft YaHei"/>
                  </a:rPr>
                  <a:t>Tag 8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E65100"/>
                </a:solidFill>
                <a:latin typeface="Microsoft YaHei"/>
              </a:rPr>
              <a:t>Dashboard Layout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6007100" cy="3822700"/>
              <a:chOff x="0" y="0"/>
              <a:chExt cx="6007100" cy="38227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6007100" cy="2667000"/>
              </a:xfrm>
              <a:prstGeom prst="round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6007100" cy="2667000"/>
                <a:chOff x="0" y="0"/>
                <a:chExt cx="6007100" cy="2667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90500" y="190500"/>
                  <a:ext cx="56261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latin typeface="Microsoft YaHei"/>
                    </a:rPr>
                    <a:t>Main Chart Area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190500" y="431800"/>
                  <a:ext cx="5626100" cy="2159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This large area would contain the primary visualization</a:t>
                  </a:r>
                </a:p>
              </p:txBody>
            </p:sp>
          </p:grpSp>
          <p:grpSp>
            <p:nvGrpSpPr>
              <p:cNvPr name="Group 9" id="9"/>
              <p:cNvGrpSpPr/>
              <p:nvPr/>
            </p:nvGrpSpPr>
            <p:grpSpPr>
              <a:xfrm>
                <a:off x="0" y="2806700"/>
                <a:ext cx="6007100" cy="1028700"/>
                <a:chOff x="0" y="0"/>
                <a:chExt cx="6007100" cy="1028700"/>
              </a:xfrm>
            </p:grpSpPr>
            <p:sp>
              <p:nvSpPr>
                <p:cNvPr name="AutoShape 10" id="10"/>
                <p:cNvSpPr/>
                <p:nvPr/>
              </p:nvSpPr>
              <p:spPr>
                <a:xfrm>
                  <a:off x="0" y="0"/>
                  <a:ext cx="1917700" cy="1028700"/>
                </a:xfrm>
                <a:prstGeom prst="roundRect">
                  <a:avLst/>
                </a:prstGeom>
                <a:solidFill>
                  <a:srgbClr val="E8F5E9"/>
                </a:solidFill>
                <a:ln>
                  <a:noFill/>
                </a:ln>
              </p:spPr>
            </p:sp>
            <p:grpSp>
              <p:nvGrpSpPr>
                <p:cNvPr name="Group 11" id="11"/>
                <p:cNvGrpSpPr/>
                <p:nvPr/>
              </p:nvGrpSpPr>
              <p:grpSpPr>
                <a:xfrm>
                  <a:off x="0" y="0"/>
                  <a:ext cx="1917700" cy="1028700"/>
                  <a:chOff x="0" y="0"/>
                  <a:chExt cx="1917700" cy="1028700"/>
                </a:xfrm>
              </p:grpSpPr>
              <p:sp>
                <p:nvSpPr>
                  <p:cNvPr name="TextBox 12" id="12"/>
                  <p:cNvSpPr txBox="true"/>
                  <p:nvPr/>
                </p:nvSpPr>
                <p:spPr>
                  <a:xfrm>
                    <a:off x="127000" y="127000"/>
                    <a:ext cx="16637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1200">
                        <a:latin typeface="Microsoft YaHei"/>
                      </a:rPr>
                      <a:t>Metric A</a:t>
                    </a:r>
                  </a:p>
                </p:txBody>
              </p:sp>
              <p:sp>
                <p:nvSpPr>
                  <p:cNvPr name="TextBox 13" id="13"/>
                  <p:cNvSpPr txBox="true"/>
                  <p:nvPr/>
                </p:nvSpPr>
                <p:spPr>
                  <a:xfrm>
                    <a:off x="127000" y="330200"/>
                    <a:ext cx="16637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2E7D32"/>
                        </a:solidFill>
                        <a:latin typeface="Microsoft YaHei"/>
                      </a:rPr>
                      <a:t>94.2%</a:t>
                    </a:r>
                  </a:p>
                </p:txBody>
              </p:sp>
            </p:grpSp>
            <p:sp>
              <p:nvSpPr>
                <p:cNvPr name="AutoShape 14" id="14"/>
                <p:cNvSpPr/>
                <p:nvPr/>
              </p:nvSpPr>
              <p:spPr>
                <a:xfrm>
                  <a:off x="2044700" y="0"/>
                  <a:ext cx="1917700" cy="1028700"/>
                </a:xfrm>
                <a:prstGeom prst="roundRect">
                  <a:avLst/>
                </a:prstGeom>
                <a:solidFill>
                  <a:srgbClr val="FFF3E0"/>
                </a:solidFill>
                <a:ln>
                  <a:noFill/>
                </a:ln>
              </p:spPr>
            </p:sp>
            <p:grpSp>
              <p:nvGrpSpPr>
                <p:cNvPr name="Group 15" id="15"/>
                <p:cNvGrpSpPr/>
                <p:nvPr/>
              </p:nvGrpSpPr>
              <p:grpSpPr>
                <a:xfrm>
                  <a:off x="2044700" y="0"/>
                  <a:ext cx="1917700" cy="1028700"/>
                  <a:chOff x="0" y="0"/>
                  <a:chExt cx="1917700" cy="1028700"/>
                </a:xfrm>
              </p:grpSpPr>
              <p:sp>
                <p:nvSpPr>
                  <p:cNvPr name="TextBox 16" id="16"/>
                  <p:cNvSpPr txBox="true"/>
                  <p:nvPr/>
                </p:nvSpPr>
                <p:spPr>
                  <a:xfrm>
                    <a:off x="127000" y="127000"/>
                    <a:ext cx="16764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1200">
                        <a:latin typeface="Microsoft YaHei"/>
                      </a:rPr>
                      <a:t>Metric B</a:t>
                    </a:r>
                  </a:p>
                </p:txBody>
              </p:sp>
              <p:sp>
                <p:nvSpPr>
                  <p:cNvPr name="TextBox 17" id="17"/>
                  <p:cNvSpPr txBox="true"/>
                  <p:nvPr/>
                </p:nvSpPr>
                <p:spPr>
                  <a:xfrm>
                    <a:off x="127000" y="330200"/>
                    <a:ext cx="16764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E65100"/>
                        </a:solidFill>
                        <a:latin typeface="Microsoft YaHei"/>
                      </a:rPr>
                      <a:t>$3.8K</a:t>
                    </a:r>
                  </a:p>
                </p:txBody>
              </p:sp>
            </p:grpSp>
            <p:sp>
              <p:nvSpPr>
                <p:cNvPr name="AutoShape 18" id="18"/>
                <p:cNvSpPr/>
                <p:nvPr/>
              </p:nvSpPr>
              <p:spPr>
                <a:xfrm>
                  <a:off x="4089400" y="0"/>
                  <a:ext cx="1917700" cy="1028700"/>
                </a:xfrm>
                <a:prstGeom prst="roundRect">
                  <a:avLst/>
                </a:prstGeom>
                <a:solidFill>
                  <a:srgbClr val="FCE4EC"/>
                </a:solidFill>
                <a:ln>
                  <a:noFill/>
                </a:ln>
              </p:spPr>
            </p:sp>
            <p:grpSp>
              <p:nvGrpSpPr>
                <p:cNvPr name="Group 19" id="19"/>
                <p:cNvGrpSpPr/>
                <p:nvPr/>
              </p:nvGrpSpPr>
              <p:grpSpPr>
                <a:xfrm>
                  <a:off x="4089400" y="0"/>
                  <a:ext cx="1917700" cy="1028700"/>
                  <a:chOff x="0" y="0"/>
                  <a:chExt cx="1917700" cy="1028700"/>
                </a:xfrm>
              </p:grpSpPr>
              <p:sp>
                <p:nvSpPr>
                  <p:cNvPr name="TextBox 20" id="20"/>
                  <p:cNvSpPr txBox="true"/>
                  <p:nvPr/>
                </p:nvSpPr>
                <p:spPr>
                  <a:xfrm>
                    <a:off x="127000" y="127000"/>
                    <a:ext cx="16764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1200">
                        <a:latin typeface="Microsoft YaHei"/>
                      </a:rPr>
                      <a:t>Metric C</a:t>
                    </a:r>
                  </a:p>
                </p:txBody>
              </p:sp>
              <p:sp>
                <p:nvSpPr>
                  <p:cNvPr name="TextBox 21" id="21"/>
                  <p:cNvSpPr txBox="true"/>
                  <p:nvPr/>
                </p:nvSpPr>
                <p:spPr>
                  <a:xfrm>
                    <a:off x="127000" y="330200"/>
                    <a:ext cx="1676400" cy="355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000">
                        <a:solidFill>
                          <a:srgbClr val="C62828"/>
                        </a:solidFill>
                        <a:latin typeface="Microsoft YaHei"/>
                      </a:rPr>
                      <a:t>127</a:t>
                    </a:r>
                  </a:p>
                </p:txBody>
              </p:sp>
            </p:grpSp>
          </p:grpSp>
        </p:grpSp>
        <p:grpSp>
          <p:nvGrpSpPr>
            <p:cNvPr name="Group 22" id="22"/>
            <p:cNvGrpSpPr/>
            <p:nvPr/>
          </p:nvGrpSpPr>
          <p:grpSpPr>
            <a:xfrm>
              <a:off x="6134100" y="0"/>
              <a:ext cx="1993900" cy="3822700"/>
              <a:chOff x="0" y="0"/>
              <a:chExt cx="1993900" cy="3822700"/>
            </a:xfrm>
          </p:grpSpPr>
          <p:sp>
            <p:nvSpPr>
              <p:cNvPr name="AutoShape 23" id="23"/>
              <p:cNvSpPr/>
              <p:nvPr/>
            </p:nvSpPr>
            <p:spPr>
              <a:xfrm>
                <a:off x="0" y="0"/>
                <a:ext cx="1993900" cy="3822700"/>
              </a:xfrm>
              <a:prstGeom prst="roundRect">
                <a:avLst/>
              </a:prstGeom>
              <a:solidFill>
                <a:srgbClr val="F5F5F5"/>
              </a:solidFill>
              <a:ln>
                <a:noFill/>
              </a:ln>
            </p:spPr>
          </p:sp>
          <p:grpSp>
            <p:nvGrpSpPr>
              <p:cNvPr name="Group 24" id="24"/>
              <p:cNvGrpSpPr/>
              <p:nvPr/>
            </p:nvGrpSpPr>
            <p:grpSpPr>
              <a:xfrm>
                <a:off x="0" y="0"/>
                <a:ext cx="1993900" cy="3822700"/>
                <a:chOff x="0" y="0"/>
                <a:chExt cx="1993900" cy="3822700"/>
              </a:xfrm>
            </p:grpSpPr>
            <p:sp>
              <p:nvSpPr>
                <p:cNvPr name="TextBox 25" id="25"/>
                <p:cNvSpPr txBox="true"/>
                <p:nvPr/>
              </p:nvSpPr>
              <p:spPr>
                <a:xfrm>
                  <a:off x="127000" y="127000"/>
                  <a:ext cx="17526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200">
                      <a:latin typeface="Microsoft YaHei"/>
                    </a:rPr>
                    <a:t>Recent Activity</a:t>
                  </a:r>
                </a:p>
              </p:txBody>
            </p:sp>
            <p:sp>
              <p:nvSpPr>
                <p:cNvPr name="TextBox 26" id="26"/>
                <p:cNvSpPr txBox="true"/>
                <p:nvPr/>
              </p:nvSpPr>
              <p:spPr>
                <a:xfrm>
                  <a:off x="127000" y="330200"/>
                  <a:ext cx="1752600" cy="203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100">
                      <a:latin typeface="Microsoft YaHei"/>
                    </a:rPr>
                    <a:t>User A signed up</a:t>
                  </a:r>
                </a:p>
              </p:txBody>
            </p:sp>
            <p:sp>
              <p:nvSpPr>
                <p:cNvPr name="TextBox 27" id="27"/>
                <p:cNvSpPr txBox="true"/>
                <p:nvPr/>
              </p:nvSpPr>
              <p:spPr>
                <a:xfrm>
                  <a:off x="127000" y="533400"/>
                  <a:ext cx="1752600" cy="2159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100">
                      <a:latin typeface="Microsoft YaHei"/>
                    </a:rPr>
                    <a:t>Order #4521 placed</a:t>
                  </a:r>
                </a:p>
              </p:txBody>
            </p:sp>
            <p:sp>
              <p:nvSpPr>
                <p:cNvPr name="TextBox 28" id="28"/>
                <p:cNvSpPr txBox="true"/>
                <p:nvPr/>
              </p:nvSpPr>
              <p:spPr>
                <a:xfrm>
                  <a:off x="127000" y="723900"/>
                  <a:ext cx="1752600" cy="203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100">
                      <a:latin typeface="Microsoft YaHei"/>
                    </a:rPr>
                    <a:t>Report generated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