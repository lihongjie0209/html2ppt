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Lst>
  <p:sldSz cx="9144000" cy="5143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006064"/>
        </a:solidFill>
        <a:effectLst/>
      </p:bgPr>
    </p:bg>
    <p:spTree>
      <p:nvGrpSpPr>
        <p:cNvPr id="1" name=""/>
        <p:cNvGrpSpPr/>
        <p:nvPr/>
      </p:nvGrpSpPr>
      <p:grpSpPr>
        <a:xfrm>
          <a:off x="0" y="0"/>
          <a:ext cx="0" cy="0"/>
          <a:chOff x="0" y="0"/>
          <a:chExt cx="0" cy="0"/>
        </a:xfrm>
      </p:grpSpPr>
      <p:sp>
        <p:nvSpPr>
          <p:cNvPr name="TextBox 2" id="2"/>
          <p:cNvSpPr txBox="true"/>
          <p:nvPr/>
        </p:nvSpPr>
        <p:spPr>
          <a:xfrm>
            <a:off x="1193800" y="1981200"/>
            <a:ext cx="6756400" cy="711200"/>
          </a:xfrm>
          <a:prstGeom prst="rect">
            <a:avLst/>
          </a:prstGeom>
        </p:spPr>
        <p:txBody>
          <a:bodyPr anchor="t" rtlCol="false" lIns="0" rIns="0" tIns="0" bIns="0" wrap="square"/>
          <a:lstStyle/>
          <a:p>
            <a:r>
              <a:rPr lang="en-US" b="true" i="false" u="none" sz="4000">
                <a:solidFill>
                  <a:srgbClr val="FFFFFF"/>
                </a:solidFill>
                <a:latin typeface="Microsoft YaHei"/>
              </a:rPr>
              <a:t>Long Text &amp; Wrapping</a:t>
            </a:r>
          </a:p>
        </p:txBody>
      </p:sp>
      <p:sp>
        <p:nvSpPr>
          <p:cNvPr name="TextBox 3" id="3"/>
          <p:cNvSpPr txBox="true"/>
          <p:nvPr/>
        </p:nvSpPr>
        <p:spPr>
          <a:xfrm>
            <a:off x="787400" y="2819400"/>
            <a:ext cx="7569200" cy="342900"/>
          </a:xfrm>
          <a:prstGeom prst="rect">
            <a:avLst/>
          </a:prstGeom>
        </p:spPr>
        <p:txBody>
          <a:bodyPr anchor="t" rtlCol="false" lIns="0" rIns="0" tIns="0" bIns="0" wrap="square"/>
          <a:lstStyle/>
          <a:p>
            <a:r>
              <a:rPr lang="en-US" b="false" i="false" u="none" sz="1800">
                <a:solidFill>
                  <a:srgbClr val="80DEEA"/>
                </a:solidFill>
                <a:latin typeface="Microsoft YaHei"/>
              </a:rPr>
              <a:t>Testing text overflow, wrapping and multi-line behavior</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FFFFF"/>
        </a:solidFill>
        <a:effectLst/>
      </p:bgPr>
    </p:bg>
    <p:spTree>
      <p:nvGrpSpPr>
        <p:cNvPr id="1" name=""/>
        <p:cNvGrpSpPr/>
        <p:nvPr/>
      </p:nvGrpSpPr>
      <p:grpSpPr>
        <a:xfrm>
          <a:off x="0" y="0"/>
          <a:ext cx="0" cy="0"/>
          <a:chOff x="0" y="0"/>
          <a:chExt cx="0" cy="0"/>
        </a:xfrm>
      </p:grpSpPr>
      <p:sp>
        <p:nvSpPr>
          <p:cNvPr name="TextBox 2" id="2"/>
          <p:cNvSpPr txBox="true"/>
          <p:nvPr/>
        </p:nvSpPr>
        <p:spPr>
          <a:xfrm>
            <a:off x="508000" y="381000"/>
            <a:ext cx="8128000" cy="431800"/>
          </a:xfrm>
          <a:prstGeom prst="rect">
            <a:avLst/>
          </a:prstGeom>
        </p:spPr>
        <p:txBody>
          <a:bodyPr anchor="t" rtlCol="false" lIns="0" rIns="0" tIns="0" bIns="0" wrap="square"/>
          <a:lstStyle/>
          <a:p>
            <a:r>
              <a:rPr lang="en-US" b="true" i="false" u="none" sz="2400">
                <a:solidFill>
                  <a:srgbClr val="006064"/>
                </a:solidFill>
                <a:latin typeface="Microsoft YaHei"/>
              </a:rPr>
              <a:t>Long Paragraph Text</a:t>
            </a:r>
          </a:p>
        </p:txBody>
      </p:sp>
      <p:sp>
        <p:nvSpPr>
          <p:cNvPr name="AutoShape 3" id="3"/>
          <p:cNvSpPr/>
          <p:nvPr/>
        </p:nvSpPr>
        <p:spPr>
          <a:xfrm>
            <a:off x="508000" y="939800"/>
            <a:ext cx="8128000" cy="1790700"/>
          </a:xfrm>
          <a:prstGeom prst="roundRect">
            <a:avLst/>
          </a:prstGeom>
          <a:solidFill>
            <a:srgbClr val="E0F7FA"/>
          </a:solidFill>
          <a:ln>
            <a:noFill/>
          </a:ln>
        </p:spPr>
      </p:sp>
      <p:grpSp>
        <p:nvGrpSpPr>
          <p:cNvPr name="Group 4" id="4"/>
          <p:cNvGrpSpPr/>
          <p:nvPr/>
        </p:nvGrpSpPr>
        <p:grpSpPr>
          <a:xfrm>
            <a:off x="508000" y="939800"/>
            <a:ext cx="8128000" cy="1790700"/>
            <a:chOff x="0" y="0"/>
            <a:chExt cx="8128000" cy="1790700"/>
          </a:xfrm>
        </p:grpSpPr>
        <p:sp>
          <p:nvSpPr>
            <p:cNvPr name="TextBox 5" id="5"/>
            <p:cNvSpPr txBox="true"/>
            <p:nvPr/>
          </p:nvSpPr>
          <p:spPr>
            <a:xfrm>
              <a:off x="152400" y="152400"/>
              <a:ext cx="7823200" cy="1511300"/>
            </a:xfrm>
            <a:prstGeom prst="rect">
              <a:avLst/>
            </a:prstGeom>
          </p:spPr>
          <p:txBody>
            <a:bodyPr anchor="t" rtlCol="false" lIns="0" rIns="0" tIns="0" bIns="0" wrap="square"/>
            <a:lstStyle/>
            <a:p>
              <a:r>
                <a:rPr lang="en-US" b="false" i="false" u="none" sz="1400">
                  <a:latin typeface="Microsoft YaHei"/>
                </a:rPr>
                <a:t>This is a long paragraph that tests how the layout engine handles text wrapping within a container. The text should automatically wrap to the next line when it reaches the edge of the container. Text measurement needs to be accurate to prevent overflow or excessive whitespace. This paragraph contains both English text and some numbers like 12345 to test mixed content wrapping behavior.</a:t>
              </a:r>
            </a:p>
          </p:txBody>
        </p:sp>
      </p:grpSp>
      <p:sp>
        <p:nvSpPr>
          <p:cNvPr name="AutoShape 6" id="6"/>
          <p:cNvSpPr/>
          <p:nvPr/>
        </p:nvSpPr>
        <p:spPr>
          <a:xfrm>
            <a:off x="508000" y="2857500"/>
            <a:ext cx="8128000" cy="1054100"/>
          </a:xfrm>
          <a:prstGeom prst="roundRect">
            <a:avLst/>
          </a:prstGeom>
          <a:solidFill>
            <a:srgbClr val="E0F7FA"/>
          </a:solidFill>
          <a:ln>
            <a:noFill/>
          </a:ln>
        </p:spPr>
      </p:sp>
      <p:grpSp>
        <p:nvGrpSpPr>
          <p:cNvPr name="Group 7" id="7"/>
          <p:cNvGrpSpPr/>
          <p:nvPr/>
        </p:nvGrpSpPr>
        <p:grpSpPr>
          <a:xfrm>
            <a:off x="508000" y="2857500"/>
            <a:ext cx="8128000" cy="1054100"/>
            <a:chOff x="0" y="0"/>
            <a:chExt cx="8128000" cy="1054100"/>
          </a:xfrm>
        </p:grpSpPr>
        <p:sp>
          <p:nvSpPr>
            <p:cNvPr name="TextBox 8" id="8"/>
            <p:cNvSpPr txBox="true"/>
            <p:nvPr/>
          </p:nvSpPr>
          <p:spPr>
            <a:xfrm>
              <a:off x="152400" y="152400"/>
              <a:ext cx="7823200" cy="749300"/>
            </a:xfrm>
            <a:prstGeom prst="rect">
              <a:avLst/>
            </a:prstGeom>
          </p:spPr>
          <p:txBody>
            <a:bodyPr anchor="t" rtlCol="false" lIns="0" rIns="0" tIns="0" bIns="0" wrap="square"/>
            <a:lstStyle/>
            <a:p>
              <a:r>
                <a:rPr lang="en-US" b="false" i="false" u="none" sz="1400">
                  <a:ea typeface="Microsoft YaHei"/>
                </a:rPr>
                <a:t>这是一段较长的中文测试文本，用于验证中文字符的换行行为。在排版引擎中，中文字符每个都可以作为换行点，但是连续的标点符号和数字应该保持在同一行内。测试数据：2024年第四季度营收增长15.3%，达到人民币1,234万元。</a:t>
              </a:r>
            </a:p>
          </p:txBody>
        </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FFFFFF"/>
        </a:solidFill>
        <a:effectLst/>
      </p:bgPr>
    </p:bg>
    <p:spTree>
      <p:nvGrpSpPr>
        <p:cNvPr id="1" name=""/>
        <p:cNvGrpSpPr/>
        <p:nvPr/>
      </p:nvGrpSpPr>
      <p:grpSpPr>
        <a:xfrm>
          <a:off x="0" y="0"/>
          <a:ext cx="0" cy="0"/>
          <a:chOff x="0" y="0"/>
          <a:chExt cx="0" cy="0"/>
        </a:xfrm>
      </p:grpSpPr>
      <p:sp>
        <p:nvSpPr>
          <p:cNvPr name="TextBox 2" id="2"/>
          <p:cNvSpPr txBox="true"/>
          <p:nvPr/>
        </p:nvSpPr>
        <p:spPr>
          <a:xfrm>
            <a:off x="508000" y="381000"/>
            <a:ext cx="8128000" cy="431800"/>
          </a:xfrm>
          <a:prstGeom prst="rect">
            <a:avLst/>
          </a:prstGeom>
        </p:spPr>
        <p:txBody>
          <a:bodyPr anchor="t" rtlCol="false" lIns="0" rIns="0" tIns="0" bIns="0" wrap="square"/>
          <a:lstStyle/>
          <a:p>
            <a:r>
              <a:rPr lang="en-US" b="true" i="false" u="none" sz="2400">
                <a:solidFill>
                  <a:srgbClr val="006064"/>
                </a:solidFill>
                <a:latin typeface="Microsoft YaHei"/>
              </a:rPr>
              <a:t>Narrow Columns</a:t>
            </a:r>
          </a:p>
        </p:txBody>
      </p:sp>
      <p:grpSp>
        <p:nvGrpSpPr>
          <p:cNvPr name="Group 3" id="3"/>
          <p:cNvGrpSpPr/>
          <p:nvPr/>
        </p:nvGrpSpPr>
        <p:grpSpPr>
          <a:xfrm>
            <a:off x="508000" y="939800"/>
            <a:ext cx="8128000" cy="3822700"/>
            <a:chOff x="0" y="0"/>
            <a:chExt cx="8128000" cy="3822700"/>
          </a:xfrm>
        </p:grpSpPr>
        <p:grpSp>
          <p:nvGrpSpPr>
            <p:cNvPr name="Group 4" id="4"/>
            <p:cNvGrpSpPr/>
            <p:nvPr/>
          </p:nvGrpSpPr>
          <p:grpSpPr>
            <a:xfrm>
              <a:off x="0" y="0"/>
              <a:ext cx="1892300" cy="3822700"/>
              <a:chOff x="0" y="0"/>
              <a:chExt cx="1892300" cy="3822700"/>
            </a:xfrm>
          </p:grpSpPr>
          <p:sp>
            <p:nvSpPr>
              <p:cNvPr name="AutoShape 5" id="5"/>
              <p:cNvSpPr/>
              <p:nvPr/>
            </p:nvSpPr>
            <p:spPr>
              <a:xfrm>
                <a:off x="0" y="0"/>
                <a:ext cx="1892300" cy="2044700"/>
              </a:xfrm>
              <a:prstGeom prst="roundRect">
                <a:avLst/>
              </a:prstGeom>
              <a:solidFill>
                <a:srgbClr val="E0F7FA"/>
              </a:solidFill>
              <a:ln>
                <a:noFill/>
              </a:ln>
            </p:spPr>
          </p:sp>
          <p:grpSp>
            <p:nvGrpSpPr>
              <p:cNvPr name="Group 6" id="6"/>
              <p:cNvGrpSpPr/>
              <p:nvPr/>
            </p:nvGrpSpPr>
            <p:grpSpPr>
              <a:xfrm>
                <a:off x="0" y="0"/>
                <a:ext cx="1892300" cy="2044700"/>
                <a:chOff x="0" y="0"/>
                <a:chExt cx="1892300" cy="2044700"/>
              </a:xfrm>
            </p:grpSpPr>
            <p:sp>
              <p:nvSpPr>
                <p:cNvPr name="TextBox 7" id="7"/>
                <p:cNvSpPr txBox="true"/>
                <p:nvPr/>
              </p:nvSpPr>
              <p:spPr>
                <a:xfrm>
                  <a:off x="152400" y="152400"/>
                  <a:ext cx="1587500" cy="266700"/>
                </a:xfrm>
                <a:prstGeom prst="rect">
                  <a:avLst/>
                </a:prstGeom>
              </p:spPr>
              <p:txBody>
                <a:bodyPr anchor="t" rtlCol="false" lIns="0" rIns="0" tIns="0" bIns="0" wrap="square"/>
                <a:lstStyle/>
                <a:p>
                  <a:r>
                    <a:rPr lang="en-US" b="true" i="false" u="none" sz="1400">
                      <a:solidFill>
                        <a:srgbClr val="666666"/>
                      </a:solidFill>
                      <a:latin typeface="Microsoft YaHei"/>
                    </a:rPr>
                    <a:t>Column 1</a:t>
                  </a:r>
                </a:p>
              </p:txBody>
            </p:sp>
            <p:sp>
              <p:nvSpPr>
                <p:cNvPr name="TextBox 8" id="8"/>
                <p:cNvSpPr txBox="true"/>
                <p:nvPr/>
              </p:nvSpPr>
              <p:spPr>
                <a:xfrm>
                  <a:off x="152400" y="393700"/>
                  <a:ext cx="1587500" cy="1498600"/>
                </a:xfrm>
                <a:prstGeom prst="rect">
                  <a:avLst/>
                </a:prstGeom>
              </p:spPr>
              <p:txBody>
                <a:bodyPr anchor="t" rtlCol="false" lIns="0" rIns="0" tIns="0" bIns="0" wrap="square"/>
                <a:lstStyle/>
                <a:p>
                  <a:r>
                    <a:rPr lang="en-US" b="false" i="false" u="none" sz="1400">
                      <a:latin typeface="Microsoft YaHei"/>
                    </a:rPr>
                    <a:t>This text is in a narrow column and should wrap nicely without breaking the layout.</a:t>
                  </a:r>
                </a:p>
              </p:txBody>
            </p:sp>
          </p:grpSp>
        </p:grpSp>
        <p:grpSp>
          <p:nvGrpSpPr>
            <p:cNvPr name="Group 9" id="9"/>
            <p:cNvGrpSpPr/>
            <p:nvPr/>
          </p:nvGrpSpPr>
          <p:grpSpPr>
            <a:xfrm>
              <a:off x="2082800" y="0"/>
              <a:ext cx="1892300" cy="3822700"/>
              <a:chOff x="0" y="0"/>
              <a:chExt cx="1892300" cy="3822700"/>
            </a:xfrm>
          </p:grpSpPr>
          <p:sp>
            <p:nvSpPr>
              <p:cNvPr name="AutoShape 10" id="10"/>
              <p:cNvSpPr/>
              <p:nvPr/>
            </p:nvSpPr>
            <p:spPr>
              <a:xfrm>
                <a:off x="0" y="0"/>
                <a:ext cx="1892300" cy="1790700"/>
              </a:xfrm>
              <a:prstGeom prst="roundRect">
                <a:avLst/>
              </a:prstGeom>
              <a:solidFill>
                <a:srgbClr val="E0F7FA"/>
              </a:solidFill>
              <a:ln>
                <a:noFill/>
              </a:ln>
            </p:spPr>
          </p:sp>
          <p:grpSp>
            <p:nvGrpSpPr>
              <p:cNvPr name="Group 11" id="11"/>
              <p:cNvGrpSpPr/>
              <p:nvPr/>
            </p:nvGrpSpPr>
            <p:grpSpPr>
              <a:xfrm>
                <a:off x="0" y="0"/>
                <a:ext cx="1892300" cy="1790700"/>
                <a:chOff x="0" y="0"/>
                <a:chExt cx="1892300" cy="1790700"/>
              </a:xfrm>
            </p:grpSpPr>
            <p:sp>
              <p:nvSpPr>
                <p:cNvPr name="TextBox 12" id="12"/>
                <p:cNvSpPr txBox="true"/>
                <p:nvPr/>
              </p:nvSpPr>
              <p:spPr>
                <a:xfrm>
                  <a:off x="152400" y="152400"/>
                  <a:ext cx="1600200" cy="266700"/>
                </a:xfrm>
                <a:prstGeom prst="rect">
                  <a:avLst/>
                </a:prstGeom>
              </p:spPr>
              <p:txBody>
                <a:bodyPr anchor="t" rtlCol="false" lIns="0" rIns="0" tIns="0" bIns="0" wrap="square"/>
                <a:lstStyle/>
                <a:p>
                  <a:r>
                    <a:rPr lang="en-US" b="true" i="false" u="none" sz="1400">
                      <a:solidFill>
                        <a:srgbClr val="666666"/>
                      </a:solidFill>
                      <a:latin typeface="Microsoft YaHei"/>
                    </a:rPr>
                    <a:t>Column 2</a:t>
                  </a:r>
                </a:p>
              </p:txBody>
            </p:sp>
            <p:sp>
              <p:nvSpPr>
                <p:cNvPr name="TextBox 13" id="13"/>
                <p:cNvSpPr txBox="true"/>
                <p:nvPr/>
              </p:nvSpPr>
              <p:spPr>
                <a:xfrm>
                  <a:off x="152400" y="393700"/>
                  <a:ext cx="1600200" cy="1244600"/>
                </a:xfrm>
                <a:prstGeom prst="rect">
                  <a:avLst/>
                </a:prstGeom>
              </p:spPr>
              <p:txBody>
                <a:bodyPr anchor="t" rtlCol="false" lIns="0" rIns="0" tIns="0" bIns="0" wrap="square"/>
                <a:lstStyle/>
                <a:p>
                  <a:r>
                    <a:rPr lang="en-US" b="false" i="false" u="none" sz="1400">
                      <a:latin typeface="Microsoft YaHei"/>
                    </a:rPr>
                    <a:t>Second column with different text length for comparison testing.</a:t>
                  </a:r>
                </a:p>
              </p:txBody>
            </p:sp>
          </p:grpSp>
        </p:grpSp>
        <p:grpSp>
          <p:nvGrpSpPr>
            <p:cNvPr name="Group 14" id="14"/>
            <p:cNvGrpSpPr/>
            <p:nvPr/>
          </p:nvGrpSpPr>
          <p:grpSpPr>
            <a:xfrm>
              <a:off x="4165600" y="0"/>
              <a:ext cx="1879600" cy="3822700"/>
              <a:chOff x="0" y="0"/>
              <a:chExt cx="1879600" cy="3822700"/>
            </a:xfrm>
          </p:grpSpPr>
          <p:sp>
            <p:nvSpPr>
              <p:cNvPr name="AutoShape 15" id="15"/>
              <p:cNvSpPr/>
              <p:nvPr/>
            </p:nvSpPr>
            <p:spPr>
              <a:xfrm>
                <a:off x="0" y="0"/>
                <a:ext cx="1879600" cy="2044700"/>
              </a:xfrm>
              <a:prstGeom prst="roundRect">
                <a:avLst/>
              </a:prstGeom>
              <a:solidFill>
                <a:srgbClr val="E0F7FA"/>
              </a:solidFill>
              <a:ln>
                <a:noFill/>
              </a:ln>
            </p:spPr>
          </p:sp>
          <p:grpSp>
            <p:nvGrpSpPr>
              <p:cNvPr name="Group 16" id="16"/>
              <p:cNvGrpSpPr/>
              <p:nvPr/>
            </p:nvGrpSpPr>
            <p:grpSpPr>
              <a:xfrm>
                <a:off x="0" y="0"/>
                <a:ext cx="1879600" cy="2044700"/>
                <a:chOff x="0" y="0"/>
                <a:chExt cx="1879600" cy="2044700"/>
              </a:xfrm>
            </p:grpSpPr>
            <p:sp>
              <p:nvSpPr>
                <p:cNvPr name="TextBox 17" id="17"/>
                <p:cNvSpPr txBox="true"/>
                <p:nvPr/>
              </p:nvSpPr>
              <p:spPr>
                <a:xfrm>
                  <a:off x="152400" y="152400"/>
                  <a:ext cx="1600200" cy="266700"/>
                </a:xfrm>
                <a:prstGeom prst="rect">
                  <a:avLst/>
                </a:prstGeom>
              </p:spPr>
              <p:txBody>
                <a:bodyPr anchor="t" rtlCol="false" lIns="0" rIns="0" tIns="0" bIns="0" wrap="square"/>
                <a:lstStyle/>
                <a:p>
                  <a:r>
                    <a:rPr lang="en-US" b="true" i="false" u="none" sz="1400">
                      <a:solidFill>
                        <a:srgbClr val="666666"/>
                      </a:solidFill>
                      <a:latin typeface="Microsoft YaHei"/>
                    </a:rPr>
                    <a:t>Column 3</a:t>
                  </a:r>
                </a:p>
              </p:txBody>
            </p:sp>
            <p:sp>
              <p:nvSpPr>
                <p:cNvPr name="TextBox 18" id="18"/>
                <p:cNvSpPr txBox="true"/>
                <p:nvPr/>
              </p:nvSpPr>
              <p:spPr>
                <a:xfrm>
                  <a:off x="152400" y="393700"/>
                  <a:ext cx="1600200" cy="1498600"/>
                </a:xfrm>
                <a:prstGeom prst="rect">
                  <a:avLst/>
                </a:prstGeom>
              </p:spPr>
              <p:txBody>
                <a:bodyPr anchor="t" rtlCol="false" lIns="0" rIns="0" tIns="0" bIns="0" wrap="square"/>
                <a:lstStyle/>
                <a:p>
                  <a:r>
                    <a:rPr lang="en-US" b="false" i="false" u="none" sz="1400">
                      <a:latin typeface="Microsoft YaHei"/>
                    </a:rPr>
                    <a:t>Third column text that is slightly longer than the others to test uneven heights.</a:t>
                  </a:r>
                </a:p>
              </p:txBody>
            </p:sp>
          </p:grpSp>
        </p:grpSp>
        <p:grpSp>
          <p:nvGrpSpPr>
            <p:cNvPr name="Group 19" id="19"/>
            <p:cNvGrpSpPr/>
            <p:nvPr/>
          </p:nvGrpSpPr>
          <p:grpSpPr>
            <a:xfrm>
              <a:off x="6235700" y="0"/>
              <a:ext cx="1892300" cy="3822700"/>
              <a:chOff x="0" y="0"/>
              <a:chExt cx="1892300" cy="3822700"/>
            </a:xfrm>
          </p:grpSpPr>
          <p:sp>
            <p:nvSpPr>
              <p:cNvPr name="AutoShape 20" id="20"/>
              <p:cNvSpPr/>
              <p:nvPr/>
            </p:nvSpPr>
            <p:spPr>
              <a:xfrm>
                <a:off x="0" y="0"/>
                <a:ext cx="1892300" cy="800100"/>
              </a:xfrm>
              <a:prstGeom prst="roundRect">
                <a:avLst/>
              </a:prstGeom>
              <a:solidFill>
                <a:srgbClr val="E0F7FA"/>
              </a:solidFill>
              <a:ln>
                <a:noFill/>
              </a:ln>
            </p:spPr>
          </p:sp>
          <p:grpSp>
            <p:nvGrpSpPr>
              <p:cNvPr name="Group 21" id="21"/>
              <p:cNvGrpSpPr/>
              <p:nvPr/>
            </p:nvGrpSpPr>
            <p:grpSpPr>
              <a:xfrm>
                <a:off x="0" y="0"/>
                <a:ext cx="1892300" cy="800100"/>
                <a:chOff x="0" y="0"/>
                <a:chExt cx="1892300" cy="800100"/>
              </a:xfrm>
            </p:grpSpPr>
            <p:sp>
              <p:nvSpPr>
                <p:cNvPr name="TextBox 22" id="22"/>
                <p:cNvSpPr txBox="true"/>
                <p:nvPr/>
              </p:nvSpPr>
              <p:spPr>
                <a:xfrm>
                  <a:off x="152400" y="152400"/>
                  <a:ext cx="1587500" cy="266700"/>
                </a:xfrm>
                <a:prstGeom prst="rect">
                  <a:avLst/>
                </a:prstGeom>
              </p:spPr>
              <p:txBody>
                <a:bodyPr anchor="t" rtlCol="false" lIns="0" rIns="0" tIns="0" bIns="0" wrap="square"/>
                <a:lstStyle/>
                <a:p>
                  <a:r>
                    <a:rPr lang="en-US" b="true" i="false" u="none" sz="1400">
                      <a:solidFill>
                        <a:srgbClr val="666666"/>
                      </a:solidFill>
                      <a:latin typeface="Microsoft YaHei"/>
                    </a:rPr>
                    <a:t>Column 4</a:t>
                  </a:r>
                </a:p>
              </p:txBody>
            </p:sp>
            <p:sp>
              <p:nvSpPr>
                <p:cNvPr name="TextBox 23" id="23"/>
                <p:cNvSpPr txBox="true"/>
                <p:nvPr/>
              </p:nvSpPr>
              <p:spPr>
                <a:xfrm>
                  <a:off x="152400" y="393700"/>
                  <a:ext cx="1587500" cy="254000"/>
                </a:xfrm>
                <a:prstGeom prst="rect">
                  <a:avLst/>
                </a:prstGeom>
              </p:spPr>
              <p:txBody>
                <a:bodyPr anchor="t" rtlCol="false" lIns="0" rIns="0" tIns="0" bIns="0" wrap="square"/>
                <a:lstStyle/>
                <a:p>
                  <a:r>
                    <a:rPr lang="en-US" b="false" i="false" u="none" sz="1400">
                      <a:latin typeface="Microsoft YaHei"/>
                    </a:rPr>
                    <a:t>Short text.</a:t>
                  </a:r>
                </a:p>
              </p:txBody>
            </p:sp>
          </p:grpSp>
        </p:gr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FFFFFF"/>
        </a:solidFill>
        <a:effectLst/>
      </p:bgPr>
    </p:bg>
    <p:spTree>
      <p:nvGrpSpPr>
        <p:cNvPr id="1" name=""/>
        <p:cNvGrpSpPr/>
        <p:nvPr/>
      </p:nvGrpSpPr>
      <p:grpSpPr>
        <a:xfrm>
          <a:off x="0" y="0"/>
          <a:ext cx="0" cy="0"/>
          <a:chOff x="0" y="0"/>
          <a:chExt cx="0" cy="0"/>
        </a:xfrm>
      </p:grpSpPr>
      <p:sp>
        <p:nvSpPr>
          <p:cNvPr name="TextBox 2" id="2"/>
          <p:cNvSpPr txBox="true"/>
          <p:nvPr/>
        </p:nvSpPr>
        <p:spPr>
          <a:xfrm>
            <a:off x="508000" y="381000"/>
            <a:ext cx="8128000" cy="431800"/>
          </a:xfrm>
          <a:prstGeom prst="rect">
            <a:avLst/>
          </a:prstGeom>
        </p:spPr>
        <p:txBody>
          <a:bodyPr anchor="t" rtlCol="false" lIns="0" rIns="0" tIns="0" bIns="0" wrap="square"/>
          <a:lstStyle/>
          <a:p>
            <a:r>
              <a:rPr lang="en-US" b="true" i="false" u="none" sz="2400">
                <a:solidFill>
                  <a:srgbClr val="006064"/>
                </a:solidFill>
                <a:latin typeface="Microsoft YaHei"/>
              </a:rPr>
              <a:t>Content Length Variation</a:t>
            </a:r>
          </a:p>
        </p:txBody>
      </p:sp>
      <p:grpSp>
        <p:nvGrpSpPr>
          <p:cNvPr name="Group 3" id="3"/>
          <p:cNvGrpSpPr/>
          <p:nvPr/>
        </p:nvGrpSpPr>
        <p:grpSpPr>
          <a:xfrm>
            <a:off x="508000" y="939800"/>
            <a:ext cx="8128000" cy="3822700"/>
            <a:chOff x="0" y="0"/>
            <a:chExt cx="8128000" cy="3822700"/>
          </a:xfrm>
        </p:grpSpPr>
        <p:sp>
          <p:nvSpPr>
            <p:cNvPr name="AutoShape 4" id="4"/>
            <p:cNvSpPr/>
            <p:nvPr/>
          </p:nvSpPr>
          <p:spPr>
            <a:xfrm>
              <a:off x="0" y="0"/>
              <a:ext cx="2578100" cy="3822700"/>
            </a:xfrm>
            <a:prstGeom prst="roundRect">
              <a:avLst/>
            </a:prstGeom>
            <a:solidFill>
              <a:srgbClr val="E8F5E9"/>
            </a:solidFill>
            <a:ln>
              <a:noFill/>
            </a:ln>
          </p:spPr>
        </p:sp>
        <p:grpSp>
          <p:nvGrpSpPr>
            <p:cNvPr name="Group 5" id="5"/>
            <p:cNvGrpSpPr/>
            <p:nvPr/>
          </p:nvGrpSpPr>
          <p:grpSpPr>
            <a:xfrm>
              <a:off x="0" y="0"/>
              <a:ext cx="2578100" cy="3822700"/>
              <a:chOff x="0" y="0"/>
              <a:chExt cx="2578100" cy="3822700"/>
            </a:xfrm>
          </p:grpSpPr>
          <p:sp>
            <p:nvSpPr>
              <p:cNvPr name="TextBox 6" id="6"/>
              <p:cNvSpPr txBox="true"/>
              <p:nvPr/>
            </p:nvSpPr>
            <p:spPr>
              <a:xfrm>
                <a:off x="190500" y="190500"/>
                <a:ext cx="2209800" cy="241300"/>
              </a:xfrm>
              <a:prstGeom prst="rect">
                <a:avLst/>
              </a:prstGeom>
            </p:spPr>
            <p:txBody>
              <a:bodyPr anchor="t" rtlCol="false" lIns="0" rIns="0" tIns="0" bIns="0" wrap="square"/>
              <a:lstStyle/>
              <a:p>
                <a:r>
                  <a:rPr lang="en-US" b="true" i="false" u="none" sz="1300">
                    <a:solidFill>
                      <a:srgbClr val="666666"/>
                    </a:solidFill>
                    <a:latin typeface="Microsoft YaHei"/>
                  </a:rPr>
                  <a:t>Short</a:t>
                </a:r>
              </a:p>
            </p:txBody>
          </p:sp>
          <p:sp>
            <p:nvSpPr>
              <p:cNvPr name="TextBox 7" id="7"/>
              <p:cNvSpPr txBox="true"/>
              <p:nvPr/>
            </p:nvSpPr>
            <p:spPr>
              <a:xfrm>
                <a:off x="190500" y="482600"/>
                <a:ext cx="2209800" cy="266700"/>
              </a:xfrm>
              <a:prstGeom prst="rect">
                <a:avLst/>
              </a:prstGeom>
            </p:spPr>
            <p:txBody>
              <a:bodyPr anchor="t" rtlCol="false" lIns="0" rIns="0" tIns="0" bIns="0" wrap="square"/>
              <a:lstStyle/>
              <a:p>
                <a:r>
                  <a:rPr lang="en-US" b="false" i="false" u="none" sz="1400">
                    <a:latin typeface="Microsoft YaHei"/>
                  </a:rPr>
                  <a:t>OK</a:t>
                </a:r>
              </a:p>
            </p:txBody>
          </p:sp>
        </p:grpSp>
        <p:sp>
          <p:nvSpPr>
            <p:cNvPr name="AutoShape 8" id="8"/>
            <p:cNvSpPr/>
            <p:nvPr/>
          </p:nvSpPr>
          <p:spPr>
            <a:xfrm>
              <a:off x="2768600" y="0"/>
              <a:ext cx="2590800" cy="3822700"/>
            </a:xfrm>
            <a:prstGeom prst="roundRect">
              <a:avLst/>
            </a:prstGeom>
            <a:solidFill>
              <a:srgbClr val="E3F2FD"/>
            </a:solidFill>
            <a:ln>
              <a:noFill/>
            </a:ln>
          </p:spPr>
        </p:sp>
        <p:grpSp>
          <p:nvGrpSpPr>
            <p:cNvPr name="Group 9" id="9"/>
            <p:cNvGrpSpPr/>
            <p:nvPr/>
          </p:nvGrpSpPr>
          <p:grpSpPr>
            <a:xfrm>
              <a:off x="2768600" y="0"/>
              <a:ext cx="2590800" cy="3822700"/>
              <a:chOff x="0" y="0"/>
              <a:chExt cx="2590800" cy="3822700"/>
            </a:xfrm>
          </p:grpSpPr>
          <p:sp>
            <p:nvSpPr>
              <p:cNvPr name="TextBox 10" id="10"/>
              <p:cNvSpPr txBox="true"/>
              <p:nvPr/>
            </p:nvSpPr>
            <p:spPr>
              <a:xfrm>
                <a:off x="190500" y="190500"/>
                <a:ext cx="2209800" cy="241300"/>
              </a:xfrm>
              <a:prstGeom prst="rect">
                <a:avLst/>
              </a:prstGeom>
            </p:spPr>
            <p:txBody>
              <a:bodyPr anchor="t" rtlCol="false" lIns="0" rIns="0" tIns="0" bIns="0" wrap="square"/>
              <a:lstStyle/>
              <a:p>
                <a:r>
                  <a:rPr lang="en-US" b="true" i="false" u="none" sz="1300">
                    <a:solidFill>
                      <a:srgbClr val="666666"/>
                    </a:solidFill>
                    <a:latin typeface="Microsoft YaHei"/>
                  </a:rPr>
                  <a:t>Medium</a:t>
                </a:r>
              </a:p>
            </p:txBody>
          </p:sp>
          <p:sp>
            <p:nvSpPr>
              <p:cNvPr name="TextBox 11" id="11"/>
              <p:cNvSpPr txBox="true"/>
              <p:nvPr/>
            </p:nvSpPr>
            <p:spPr>
              <a:xfrm>
                <a:off x="190500" y="482600"/>
                <a:ext cx="2209800" cy="762000"/>
              </a:xfrm>
              <a:prstGeom prst="rect">
                <a:avLst/>
              </a:prstGeom>
            </p:spPr>
            <p:txBody>
              <a:bodyPr anchor="t" rtlCol="false" lIns="0" rIns="0" tIns="0" bIns="0" wrap="square"/>
              <a:lstStyle/>
              <a:p>
                <a:r>
                  <a:rPr lang="en-US" b="false" i="false" u="none" sz="1400">
                    <a:latin typeface="Microsoft YaHei"/>
                  </a:rPr>
                  <a:t>This card has a moderate amount of text content.</a:t>
                </a:r>
              </a:p>
            </p:txBody>
          </p:sp>
        </p:grpSp>
        <p:sp>
          <p:nvSpPr>
            <p:cNvPr name="AutoShape 12" id="12"/>
            <p:cNvSpPr/>
            <p:nvPr/>
          </p:nvSpPr>
          <p:spPr>
            <a:xfrm>
              <a:off x="5549900" y="0"/>
              <a:ext cx="2578100" cy="3822700"/>
            </a:xfrm>
            <a:prstGeom prst="roundRect">
              <a:avLst/>
            </a:prstGeom>
            <a:solidFill>
              <a:srgbClr val="FFF3E0"/>
            </a:solidFill>
            <a:ln>
              <a:noFill/>
            </a:ln>
          </p:spPr>
        </p:sp>
        <p:grpSp>
          <p:nvGrpSpPr>
            <p:cNvPr name="Group 13" id="13"/>
            <p:cNvGrpSpPr/>
            <p:nvPr/>
          </p:nvGrpSpPr>
          <p:grpSpPr>
            <a:xfrm>
              <a:off x="5549900" y="0"/>
              <a:ext cx="2578100" cy="3822700"/>
              <a:chOff x="0" y="0"/>
              <a:chExt cx="2578100" cy="3822700"/>
            </a:xfrm>
          </p:grpSpPr>
          <p:sp>
            <p:nvSpPr>
              <p:cNvPr name="TextBox 14" id="14"/>
              <p:cNvSpPr txBox="true"/>
              <p:nvPr/>
            </p:nvSpPr>
            <p:spPr>
              <a:xfrm>
                <a:off x="190500" y="190500"/>
                <a:ext cx="2209800" cy="241300"/>
              </a:xfrm>
              <a:prstGeom prst="rect">
                <a:avLst/>
              </a:prstGeom>
            </p:spPr>
            <p:txBody>
              <a:bodyPr anchor="t" rtlCol="false" lIns="0" rIns="0" tIns="0" bIns="0" wrap="square"/>
              <a:lstStyle/>
              <a:p>
                <a:r>
                  <a:rPr lang="en-US" b="true" i="false" u="none" sz="1300">
                    <a:solidFill>
                      <a:srgbClr val="666666"/>
                    </a:solidFill>
                    <a:latin typeface="Microsoft YaHei"/>
                  </a:rPr>
                  <a:t>Long</a:t>
                </a:r>
              </a:p>
            </p:txBody>
          </p:sp>
          <p:sp>
            <p:nvSpPr>
              <p:cNvPr name="TextBox 15" id="15"/>
              <p:cNvSpPr txBox="true"/>
              <p:nvPr/>
            </p:nvSpPr>
            <p:spPr>
              <a:xfrm>
                <a:off x="190500" y="482600"/>
                <a:ext cx="2209800" cy="2260600"/>
              </a:xfrm>
              <a:prstGeom prst="rect">
                <a:avLst/>
              </a:prstGeom>
            </p:spPr>
            <p:txBody>
              <a:bodyPr anchor="t" rtlCol="false" lIns="0" rIns="0" tIns="0" bIns="0" wrap="square"/>
              <a:lstStyle/>
              <a:p>
                <a:r>
                  <a:rPr lang="en-US" b="false" i="false" u="none" sz="1400">
                    <a:latin typeface="Microsoft YaHei"/>
                  </a:rPr>
                  <a:t>This card contains significantly more text than the others. It should handle wrapping and height adjustment properly within the flex container, respecting the available width.</a:t>
                </a:r>
              </a:p>
            </p:txBody>
          </p:sp>
        </p:grpSp>
      </p:grpSp>
    </p:spTree>
  </p:cSld>
  <p:clrMapOvr>
    <a:masterClrMapping/>
  </p:clrMapOvr>
</p:sld>
</file>

<file path=ppt/slides/slide5.xml><?xml version="1.0" encoding="utf-8"?>
<p:sld xmlns:p="http://schemas.openxmlformats.org/presentationml/2006/main" xmlns:a="http://schemas.openxmlformats.org/drawingml/2006/main">
  <p:cSld>
    <p:bg>
      <p:bgPr>
        <a:solidFill>
          <a:srgbClr val="FFFFFF"/>
        </a:solidFill>
        <a:effectLst/>
      </p:bgPr>
    </p:bg>
    <p:spTree>
      <p:nvGrpSpPr>
        <p:cNvPr id="1" name=""/>
        <p:cNvGrpSpPr/>
        <p:nvPr/>
      </p:nvGrpSpPr>
      <p:grpSpPr>
        <a:xfrm>
          <a:off x="0" y="0"/>
          <a:ext cx="0" cy="0"/>
          <a:chOff x="0" y="0"/>
          <a:chExt cx="0" cy="0"/>
        </a:xfrm>
      </p:grpSpPr>
      <p:sp>
        <p:nvSpPr>
          <p:cNvPr name="TextBox 2" id="2"/>
          <p:cNvSpPr txBox="true"/>
          <p:nvPr/>
        </p:nvSpPr>
        <p:spPr>
          <a:xfrm>
            <a:off x="508000" y="381000"/>
            <a:ext cx="8128000" cy="431800"/>
          </a:xfrm>
          <a:prstGeom prst="rect">
            <a:avLst/>
          </a:prstGeom>
        </p:spPr>
        <p:txBody>
          <a:bodyPr anchor="t" rtlCol="false" lIns="0" rIns="0" tIns="0" bIns="0" wrap="square"/>
          <a:lstStyle/>
          <a:p>
            <a:r>
              <a:rPr lang="en-US" b="true" i="false" u="none" sz="2400">
                <a:solidFill>
                  <a:srgbClr val="006064"/>
                </a:solidFill>
                <a:latin typeface="Microsoft YaHei"/>
              </a:rPr>
              <a:t>CJK 长文本测试</a:t>
            </a:r>
          </a:p>
        </p:txBody>
      </p:sp>
      <p:grpSp>
        <p:nvGrpSpPr>
          <p:cNvPr name="Group 3" id="3"/>
          <p:cNvGrpSpPr/>
          <p:nvPr/>
        </p:nvGrpSpPr>
        <p:grpSpPr>
          <a:xfrm>
            <a:off x="508000" y="939800"/>
            <a:ext cx="8128000" cy="3822700"/>
            <a:chOff x="0" y="0"/>
            <a:chExt cx="8128000" cy="3822700"/>
          </a:xfrm>
        </p:grpSpPr>
        <p:sp>
          <p:nvSpPr>
            <p:cNvPr name="AutoShape 4" id="4"/>
            <p:cNvSpPr/>
            <p:nvPr/>
          </p:nvSpPr>
          <p:spPr>
            <a:xfrm>
              <a:off x="0" y="0"/>
              <a:ext cx="2578100" cy="3822700"/>
            </a:xfrm>
            <a:prstGeom prst="roundRect">
              <a:avLst/>
            </a:prstGeom>
            <a:solidFill>
              <a:srgbClr val="FCE4EC"/>
            </a:solidFill>
            <a:ln>
              <a:noFill/>
            </a:ln>
          </p:spPr>
        </p:sp>
        <p:grpSp>
          <p:nvGrpSpPr>
            <p:cNvPr name="Group 5" id="5"/>
            <p:cNvGrpSpPr/>
            <p:nvPr/>
          </p:nvGrpSpPr>
          <p:grpSpPr>
            <a:xfrm>
              <a:off x="0" y="0"/>
              <a:ext cx="2578100" cy="3822700"/>
              <a:chOff x="0" y="0"/>
              <a:chExt cx="2578100" cy="3822700"/>
            </a:xfrm>
          </p:grpSpPr>
          <p:sp>
            <p:nvSpPr>
              <p:cNvPr name="TextBox 6" id="6"/>
              <p:cNvSpPr txBox="true"/>
              <p:nvPr/>
            </p:nvSpPr>
            <p:spPr>
              <a:xfrm>
                <a:off x="152400" y="152400"/>
                <a:ext cx="2286000" cy="266700"/>
              </a:xfrm>
              <a:prstGeom prst="rect">
                <a:avLst/>
              </a:prstGeom>
            </p:spPr>
            <p:txBody>
              <a:bodyPr anchor="t" rtlCol="false" lIns="0" rIns="0" tIns="0" bIns="0" wrap="square"/>
              <a:lstStyle/>
              <a:p>
                <a:r>
                  <a:rPr lang="en-US" b="true" i="false" u="none" sz="1400">
                    <a:ea typeface="Microsoft YaHei"/>
                  </a:rPr>
                  <a:t>产品规划</a:t>
                </a:r>
              </a:p>
            </p:txBody>
          </p:sp>
          <p:sp>
            <p:nvSpPr>
              <p:cNvPr name="TextBox 7" id="7"/>
              <p:cNvSpPr txBox="true"/>
              <p:nvPr/>
            </p:nvSpPr>
            <p:spPr>
              <a:xfrm>
                <a:off x="152400" y="457200"/>
                <a:ext cx="2286000" cy="647700"/>
              </a:xfrm>
              <a:prstGeom prst="rect">
                <a:avLst/>
              </a:prstGeom>
            </p:spPr>
            <p:txBody>
              <a:bodyPr anchor="t" rtlCol="false" lIns="0" rIns="0" tIns="0" bIns="0" wrap="square"/>
              <a:lstStyle/>
              <a:p>
                <a:r>
                  <a:rPr lang="en-US" b="false" i="false" u="none" sz="1200">
                    <a:ea typeface="Microsoft YaHei"/>
                  </a:rPr>
                  <a:t>根据市场调研结果和用户反馈，我们将在下一季度重点推进以下功能的开发和优化工作。</a:t>
                </a:r>
              </a:p>
            </p:txBody>
          </p:sp>
        </p:grpSp>
        <p:sp>
          <p:nvSpPr>
            <p:cNvPr name="AutoShape 8" id="8"/>
            <p:cNvSpPr/>
            <p:nvPr/>
          </p:nvSpPr>
          <p:spPr>
            <a:xfrm>
              <a:off x="2768600" y="0"/>
              <a:ext cx="2590800" cy="3822700"/>
            </a:xfrm>
            <a:prstGeom prst="roundRect">
              <a:avLst/>
            </a:prstGeom>
            <a:solidFill>
              <a:srgbClr val="F3E5F5"/>
            </a:solidFill>
            <a:ln>
              <a:noFill/>
            </a:ln>
          </p:spPr>
        </p:sp>
        <p:grpSp>
          <p:nvGrpSpPr>
            <p:cNvPr name="Group 9" id="9"/>
            <p:cNvGrpSpPr/>
            <p:nvPr/>
          </p:nvGrpSpPr>
          <p:grpSpPr>
            <a:xfrm>
              <a:off x="2768600" y="0"/>
              <a:ext cx="2590800" cy="3822700"/>
              <a:chOff x="0" y="0"/>
              <a:chExt cx="2590800" cy="3822700"/>
            </a:xfrm>
          </p:grpSpPr>
          <p:sp>
            <p:nvSpPr>
              <p:cNvPr name="TextBox 10" id="10"/>
              <p:cNvSpPr txBox="true"/>
              <p:nvPr/>
            </p:nvSpPr>
            <p:spPr>
              <a:xfrm>
                <a:off x="152400" y="152400"/>
                <a:ext cx="2286000" cy="266700"/>
              </a:xfrm>
              <a:prstGeom prst="rect">
                <a:avLst/>
              </a:prstGeom>
            </p:spPr>
            <p:txBody>
              <a:bodyPr anchor="t" rtlCol="false" lIns="0" rIns="0" tIns="0" bIns="0" wrap="square"/>
              <a:lstStyle/>
              <a:p>
                <a:r>
                  <a:rPr lang="en-US" b="true" i="false" u="none" sz="1400">
                    <a:ea typeface="Microsoft YaHei"/>
                  </a:rPr>
                  <a:t>技术架构</a:t>
                </a:r>
              </a:p>
            </p:txBody>
          </p:sp>
          <p:sp>
            <p:nvSpPr>
              <p:cNvPr name="TextBox 11" id="11"/>
              <p:cNvSpPr txBox="true"/>
              <p:nvPr/>
            </p:nvSpPr>
            <p:spPr>
              <a:xfrm>
                <a:off x="152400" y="457200"/>
                <a:ext cx="2286000" cy="647700"/>
              </a:xfrm>
              <a:prstGeom prst="rect">
                <a:avLst/>
              </a:prstGeom>
            </p:spPr>
            <p:txBody>
              <a:bodyPr anchor="t" rtlCol="false" lIns="0" rIns="0" tIns="0" bIns="0" wrap="square"/>
              <a:lstStyle/>
              <a:p>
                <a:r>
                  <a:rPr lang="en-US" b="false" i="false" u="none" sz="1200">
                    <a:ea typeface="Microsoft YaHei"/>
                  </a:rPr>
                  <a:t>采用微服务架构设计，使用Spring Cloud Alibaba作为底层框架，实现服务注册与发现。</a:t>
                </a:r>
              </a:p>
            </p:txBody>
          </p:sp>
        </p:grpSp>
        <p:sp>
          <p:nvSpPr>
            <p:cNvPr name="AutoShape 12" id="12"/>
            <p:cNvSpPr/>
            <p:nvPr/>
          </p:nvSpPr>
          <p:spPr>
            <a:xfrm>
              <a:off x="5549900" y="0"/>
              <a:ext cx="2578100" cy="3822700"/>
            </a:xfrm>
            <a:prstGeom prst="roundRect">
              <a:avLst/>
            </a:prstGeom>
            <a:solidFill>
              <a:srgbClr val="E8EAF6"/>
            </a:solidFill>
            <a:ln>
              <a:noFill/>
            </a:ln>
          </p:spPr>
        </p:sp>
        <p:grpSp>
          <p:nvGrpSpPr>
            <p:cNvPr name="Group 13" id="13"/>
            <p:cNvGrpSpPr/>
            <p:nvPr/>
          </p:nvGrpSpPr>
          <p:grpSpPr>
            <a:xfrm>
              <a:off x="5549900" y="0"/>
              <a:ext cx="2578100" cy="3822700"/>
              <a:chOff x="0" y="0"/>
              <a:chExt cx="2578100" cy="3822700"/>
            </a:xfrm>
          </p:grpSpPr>
          <p:sp>
            <p:nvSpPr>
              <p:cNvPr name="TextBox 14" id="14"/>
              <p:cNvSpPr txBox="true"/>
              <p:nvPr/>
            </p:nvSpPr>
            <p:spPr>
              <a:xfrm>
                <a:off x="152400" y="152400"/>
                <a:ext cx="2286000" cy="266700"/>
              </a:xfrm>
              <a:prstGeom prst="rect">
                <a:avLst/>
              </a:prstGeom>
            </p:spPr>
            <p:txBody>
              <a:bodyPr anchor="t" rtlCol="false" lIns="0" rIns="0" tIns="0" bIns="0" wrap="square"/>
              <a:lstStyle/>
              <a:p>
                <a:r>
                  <a:rPr lang="en-US" b="true" i="false" u="none" sz="1400">
                    <a:ea typeface="Microsoft YaHei"/>
                  </a:rPr>
                  <a:t>质量保证</a:t>
                </a:r>
              </a:p>
            </p:txBody>
          </p:sp>
          <p:sp>
            <p:nvSpPr>
              <p:cNvPr name="TextBox 15" id="15"/>
              <p:cNvSpPr txBox="true"/>
              <p:nvPr/>
            </p:nvSpPr>
            <p:spPr>
              <a:xfrm>
                <a:off x="152400" y="457200"/>
                <a:ext cx="2286000" cy="647700"/>
              </a:xfrm>
              <a:prstGeom prst="rect">
                <a:avLst/>
              </a:prstGeom>
            </p:spPr>
            <p:txBody>
              <a:bodyPr anchor="t" rtlCol="false" lIns="0" rIns="0" tIns="0" bIns="0" wrap="square"/>
              <a:lstStyle/>
              <a:p>
                <a:r>
                  <a:rPr lang="en-US" b="false" i="false" u="none" sz="1200">
                    <a:ea typeface="Microsoft YaHei"/>
                  </a:rPr>
                  <a:t>建立完善的自动化测试体系，包括单元测试、集成测试和端到端测试，确保代码质量。</a:t>
                </a: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