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74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1612900"/>
            <a:ext cx="8128000" cy="14224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CSS Cascade &amp; Specificity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3187700"/>
            <a:ext cx="8115300" cy="3429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B0BEC5"/>
                </a:solidFill>
                <a:latin typeface="Microsoft YaHei"/>
              </a:rPr>
              <a:t>Testing selector priority, inheritance, and style overrides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7474F"/>
                </a:solidFill>
                <a:latin typeface="Microsoft YaHei"/>
              </a:rPr>
              <a:t>Selector Specificity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892300" cy="3797300"/>
              <a:chOff x="0" y="0"/>
              <a:chExt cx="1892300" cy="37973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1892300" cy="1752600"/>
              </a:xfrm>
              <a:prstGeom prst="roundRect">
                <a:avLst/>
              </a:prstGeom>
              <a:solidFill>
                <a:srgbClr val="FAFAFA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1892300" cy="1752600"/>
                <a:chOff x="0" y="0"/>
                <a:chExt cx="1892300" cy="17526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152400" y="152400"/>
                  <a:ext cx="15875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Element selector (p)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152400" y="647700"/>
                  <a:ext cx="1587500" cy="9779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latin typeface="Microsoft YaHei"/>
                    </a:rPr>
                    <a:t>Styled by element selector</a:t>
                  </a:r>
                </a:p>
              </p:txBody>
            </p:sp>
          </p:grpSp>
        </p:grpSp>
        <p:grpSp>
          <p:nvGrpSpPr>
            <p:cNvPr name="Group 9" id="9"/>
            <p:cNvGrpSpPr/>
            <p:nvPr/>
          </p:nvGrpSpPr>
          <p:grpSpPr>
            <a:xfrm>
              <a:off x="2082800" y="0"/>
              <a:ext cx="1892300" cy="3797300"/>
              <a:chOff x="0" y="0"/>
              <a:chExt cx="1892300" cy="3797300"/>
            </a:xfrm>
          </p:grpSpPr>
          <p:sp>
            <p:nvSpPr>
              <p:cNvPr name="AutoShape 10" id="10"/>
              <p:cNvSpPr/>
              <p:nvPr/>
            </p:nvSpPr>
            <p:spPr>
              <a:xfrm>
                <a:off x="0" y="0"/>
                <a:ext cx="1892300" cy="1752600"/>
              </a:xfrm>
              <a:prstGeom prst="roundRect">
                <a:avLst/>
              </a:prstGeom>
              <a:solidFill>
                <a:srgbClr val="FAFAFA"/>
              </a:solidFill>
              <a:ln>
                <a:noFill/>
              </a:ln>
            </p:spPr>
          </p:sp>
          <p:grpSp>
            <p:nvGrpSpPr>
              <p:cNvPr name="Group 11" id="11"/>
              <p:cNvGrpSpPr/>
              <p:nvPr/>
            </p:nvGrpSpPr>
            <p:grpSpPr>
              <a:xfrm>
                <a:off x="0" y="0"/>
                <a:ext cx="1892300" cy="1752600"/>
                <a:chOff x="0" y="0"/>
                <a:chExt cx="1892300" cy="1752600"/>
              </a:xfrm>
            </p:grpSpPr>
            <p:sp>
              <p:nvSpPr>
                <p:cNvPr name="TextBox 12" id="12"/>
                <p:cNvSpPr txBox="true"/>
                <p:nvPr/>
              </p:nvSpPr>
              <p:spPr>
                <a:xfrm>
                  <a:off x="152400" y="152400"/>
                  <a:ext cx="16002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Class selector (.specific)</a:t>
                  </a:r>
                </a:p>
              </p:txBody>
            </p:sp>
            <p:sp>
              <p:nvSpPr>
                <p:cNvPr name="TextBox 13" id="13"/>
                <p:cNvSpPr txBox="true"/>
                <p:nvPr/>
              </p:nvSpPr>
              <p:spPr>
                <a:xfrm>
                  <a:off x="152400" y="647700"/>
                  <a:ext cx="1600200" cy="9779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solidFill>
                        <a:srgbClr val="7B1FA2"/>
                      </a:solidFill>
                      <a:latin typeface="Microsoft YaHei"/>
                    </a:rPr>
                    <a:t>Styled by class selector</a:t>
                  </a:r>
                </a:p>
              </p:txBody>
            </p:sp>
          </p:grpSp>
        </p:grpSp>
        <p:grpSp>
          <p:nvGrpSpPr>
            <p:cNvPr name="Group 14" id="14"/>
            <p:cNvGrpSpPr/>
            <p:nvPr/>
          </p:nvGrpSpPr>
          <p:grpSpPr>
            <a:xfrm>
              <a:off x="4165600" y="0"/>
              <a:ext cx="1879600" cy="3797300"/>
              <a:chOff x="0" y="0"/>
              <a:chExt cx="1879600" cy="3797300"/>
            </a:xfrm>
          </p:grpSpPr>
          <p:sp>
            <p:nvSpPr>
              <p:cNvPr name="AutoShape 15" id="15"/>
              <p:cNvSpPr/>
              <p:nvPr/>
            </p:nvSpPr>
            <p:spPr>
              <a:xfrm>
                <a:off x="0" y="0"/>
                <a:ext cx="1879600" cy="2108200"/>
              </a:xfrm>
              <a:prstGeom prst="roundRect">
                <a:avLst/>
              </a:prstGeom>
              <a:solidFill>
                <a:srgbClr val="FAFAFA"/>
              </a:solidFill>
              <a:ln>
                <a:noFill/>
              </a:ln>
            </p:spPr>
          </p:sp>
          <p:grpSp>
            <p:nvGrpSpPr>
              <p:cNvPr name="Group 16" id="16"/>
              <p:cNvGrpSpPr/>
              <p:nvPr/>
            </p:nvGrpSpPr>
            <p:grpSpPr>
              <a:xfrm>
                <a:off x="0" y="0"/>
                <a:ext cx="1879600" cy="2108200"/>
                <a:chOff x="0" y="0"/>
                <a:chExt cx="1879600" cy="2108200"/>
              </a:xfrm>
            </p:grpSpPr>
            <p:sp>
              <p:nvSpPr>
                <p:cNvPr name="TextBox 17" id="17"/>
                <p:cNvSpPr txBox="true"/>
                <p:nvPr/>
              </p:nvSpPr>
              <p:spPr>
                <a:xfrm>
                  <a:off x="152400" y="152400"/>
                  <a:ext cx="1600200" cy="762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ID selector (#header-special)</a:t>
                  </a:r>
                </a:p>
              </p:txBody>
            </p:sp>
            <p:sp>
              <p:nvSpPr>
                <p:cNvPr name="TextBox 18" id="18"/>
                <p:cNvSpPr txBox="true"/>
                <p:nvPr/>
              </p:nvSpPr>
              <p:spPr>
                <a:xfrm>
                  <a:off x="152400" y="889000"/>
                  <a:ext cx="1600200" cy="1066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2000">
                      <a:solidFill>
                        <a:srgbClr val="D32F2F"/>
                      </a:solidFill>
                      <a:latin typeface="Microsoft YaHei"/>
                    </a:rPr>
                    <a:t>Styled by ID selector</a:t>
                  </a:r>
                </a:p>
              </p:txBody>
            </p:sp>
          </p:grpSp>
        </p:grpSp>
        <p:grpSp>
          <p:nvGrpSpPr>
            <p:cNvPr name="Group 19" id="19"/>
            <p:cNvGrpSpPr/>
            <p:nvPr/>
          </p:nvGrpSpPr>
          <p:grpSpPr>
            <a:xfrm>
              <a:off x="6235700" y="0"/>
              <a:ext cx="1892300" cy="3797300"/>
              <a:chOff x="0" y="0"/>
              <a:chExt cx="1892300" cy="3797300"/>
            </a:xfrm>
          </p:grpSpPr>
          <p:sp>
            <p:nvSpPr>
              <p:cNvPr name="AutoShape 20" id="20"/>
              <p:cNvSpPr/>
              <p:nvPr/>
            </p:nvSpPr>
            <p:spPr>
              <a:xfrm>
                <a:off x="0" y="0"/>
                <a:ext cx="1892300" cy="1612900"/>
              </a:xfrm>
              <a:prstGeom prst="roundRect">
                <a:avLst/>
              </a:prstGeom>
              <a:solidFill>
                <a:srgbClr val="FAFAFA"/>
              </a:solidFill>
              <a:ln>
                <a:noFill/>
              </a:ln>
            </p:spPr>
          </p:sp>
          <p:grpSp>
            <p:nvGrpSpPr>
              <p:cNvPr name="Group 21" id="21"/>
              <p:cNvGrpSpPr/>
              <p:nvPr/>
            </p:nvGrpSpPr>
            <p:grpSpPr>
              <a:xfrm>
                <a:off x="0" y="0"/>
                <a:ext cx="1892300" cy="1612900"/>
                <a:chOff x="0" y="0"/>
                <a:chExt cx="1892300" cy="1612900"/>
              </a:xfrm>
            </p:grpSpPr>
            <p:sp>
              <p:nvSpPr>
                <p:cNvPr name="TextBox 22" id="22"/>
                <p:cNvSpPr txBox="true"/>
                <p:nvPr/>
              </p:nvSpPr>
              <p:spPr>
                <a:xfrm>
                  <a:off x="152400" y="152400"/>
                  <a:ext cx="1587500" cy="266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Inline style</a:t>
                  </a:r>
                </a:p>
              </p:txBody>
            </p:sp>
            <p:sp>
              <p:nvSpPr>
                <p:cNvPr name="TextBox 23" id="23"/>
                <p:cNvSpPr txBox="true"/>
                <p:nvPr/>
              </p:nvSpPr>
              <p:spPr>
                <a:xfrm>
                  <a:off x="152400" y="393700"/>
                  <a:ext cx="1587500" cy="1066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2000">
                      <a:solidFill>
                        <a:srgbClr val="E65100"/>
                      </a:solidFill>
                      <a:latin typeface="Microsoft YaHei"/>
                    </a:rPr>
                    <a:t>Inline style override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7474F"/>
                </a:solidFill>
                <a:latin typeface="Microsoft YaHei"/>
              </a:rPr>
              <a:t>CSS Inheritance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75100" cy="3797300"/>
              <a:chOff x="0" y="0"/>
              <a:chExt cx="3975100" cy="37973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3975100" cy="1905000"/>
              </a:xfrm>
              <a:prstGeom prst="round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3975100" cy="1905000"/>
                <a:chOff x="0" y="0"/>
                <a:chExt cx="3975100" cy="19050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152400" y="152400"/>
                  <a:ext cx="36703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solidFill>
                        <a:srgbClr val="1565C0"/>
                      </a:solidFill>
                      <a:latin typeface="Microsoft YaHei"/>
                    </a:rPr>
                    <a:t>Parent: blue 16pt</a:t>
                  </a:r>
                </a:p>
              </p:txBody>
            </p:sp>
            <p:grpSp>
              <p:nvGrpSpPr>
                <p:cNvPr name="Group 8" id="8"/>
                <p:cNvGrpSpPr/>
                <p:nvPr/>
              </p:nvGrpSpPr>
              <p:grpSpPr>
                <a:xfrm>
                  <a:off x="152400" y="469900"/>
                  <a:ext cx="3670300" cy="1282700"/>
                  <a:chOff x="0" y="0"/>
                  <a:chExt cx="3670300" cy="1282700"/>
                </a:xfrm>
              </p:grpSpPr>
              <p:sp>
                <p:nvSpPr>
                  <p:cNvPr name="TextBox 9" id="9"/>
                  <p:cNvSpPr txBox="true"/>
                  <p:nvPr/>
                </p:nvSpPr>
                <p:spPr>
                  <a:xfrm>
                    <a:off x="0" y="0"/>
                    <a:ext cx="3670300" cy="6604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true" i="false" u="none" sz="1800">
                        <a:solidFill>
                          <a:srgbClr val="1565C0"/>
                        </a:solidFill>
                        <a:latin typeface="Microsoft YaHei"/>
                      </a:rPr>
                      <a:t>Child: inherits blue, adds bold</a:t>
                    </a:r>
                  </a:p>
                </p:txBody>
              </p:sp>
              <p:grpSp>
                <p:nvGrpSpPr>
                  <p:cNvPr name="Group 10" id="10"/>
                  <p:cNvGrpSpPr/>
                  <p:nvPr/>
                </p:nvGrpSpPr>
                <p:grpSpPr>
                  <a:xfrm>
                    <a:off x="0" y="635000"/>
                    <a:ext cx="3670300" cy="647700"/>
                    <a:chOff x="0" y="0"/>
                    <a:chExt cx="3670300" cy="647700"/>
                  </a:xfrm>
                </p:grpSpPr>
                <p:sp>
                  <p:nvSpPr>
                    <p:cNvPr name="TextBox 11" id="11"/>
                    <p:cNvSpPr txBox="true"/>
                    <p:nvPr/>
                  </p:nvSpPr>
                  <p:spPr>
                    <a:xfrm>
                      <a:off x="0" y="0"/>
                      <a:ext cx="3670300" cy="647700"/>
                    </a:xfrm>
                    <a:prstGeom prst="rect">
                      <a:avLst/>
                    </a:prstGeom>
                  </p:spPr>
                  <p:txBody>
                    <a:bodyPr anchor="t" rtlCol="false" lIns="0" rIns="0" tIns="0" bIns="0" wrap="square"/>
                    <a:lstStyle/>
                    <a:p>
                      <a:r>
                        <a:rPr lang="en-US" b="true" i="false" u="none" sz="1800">
                          <a:solidFill>
                            <a:srgbClr val="1565C0"/>
                          </a:solidFill>
                          <a:latin typeface="Microsoft YaHei"/>
                        </a:rPr>
                        <a:t>Grandchild: inherits both blue and bold</a:t>
                      </a:r>
                    </a:p>
                  </p:txBody>
                </p:sp>
              </p:grpSp>
            </p:grpSp>
          </p:grpSp>
        </p:grpSp>
        <p:grpSp>
          <p:nvGrpSpPr>
            <p:cNvPr name="Group 12" id="12"/>
            <p:cNvGrpSpPr/>
            <p:nvPr/>
          </p:nvGrpSpPr>
          <p:grpSpPr>
            <a:xfrm>
              <a:off x="4165600" y="0"/>
              <a:ext cx="3962400" cy="3797300"/>
              <a:chOff x="0" y="0"/>
              <a:chExt cx="3962400" cy="3797300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0" y="0"/>
                <a:ext cx="3962400" cy="1574800"/>
              </a:xfrm>
              <a:prstGeom prst="roundRect">
                <a:avLst/>
              </a:prstGeom>
              <a:solidFill>
                <a:srgbClr val="FCE4EC"/>
              </a:solidFill>
              <a:ln>
                <a:noFill/>
              </a:ln>
            </p:spPr>
          </p:sp>
          <p:grpSp>
            <p:nvGrpSpPr>
              <p:cNvPr name="Group 14" id="14"/>
              <p:cNvGrpSpPr/>
              <p:nvPr/>
            </p:nvGrpSpPr>
            <p:grpSpPr>
              <a:xfrm>
                <a:off x="0" y="0"/>
                <a:ext cx="3962400" cy="1574800"/>
                <a:chOff x="0" y="0"/>
                <a:chExt cx="3962400" cy="1574800"/>
              </a:xfrm>
            </p:grpSpPr>
            <p:sp>
              <p:nvSpPr>
                <p:cNvPr name="TextBox 15" id="15"/>
                <p:cNvSpPr txBox="true"/>
                <p:nvPr/>
              </p:nvSpPr>
              <p:spPr>
                <a:xfrm>
                  <a:off x="152400" y="152400"/>
                  <a:ext cx="36703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solidFill>
                        <a:srgbClr val="C62828"/>
                      </a:solidFill>
                      <a:latin typeface="Microsoft YaHei"/>
                    </a:rPr>
                    <a:t>Parent: red 18pt</a:t>
                  </a:r>
                </a:p>
              </p:txBody>
            </p:sp>
            <p:sp>
              <p:nvSpPr>
                <p:cNvPr name="TextBox 16" id="16"/>
                <p:cNvSpPr txBox="true"/>
                <p:nvPr/>
              </p:nvSpPr>
              <p:spPr>
                <a:xfrm>
                  <a:off x="152400" y="469900"/>
                  <a:ext cx="36703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solidFill>
                        <a:srgbClr val="C62828"/>
                      </a:solidFill>
                      <a:latin typeface="Microsoft YaHei"/>
                    </a:rPr>
                    <a:t>Child inherits red</a:t>
                  </a:r>
                </a:p>
              </p:txBody>
            </p:sp>
            <p:sp>
              <p:nvSpPr>
                <p:cNvPr name="TextBox 17" id="17"/>
                <p:cNvSpPr txBox="true"/>
                <p:nvPr/>
              </p:nvSpPr>
              <p:spPr>
                <a:xfrm>
                  <a:off x="152400" y="787400"/>
                  <a:ext cx="36703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solidFill>
                        <a:srgbClr val="1565C0"/>
                      </a:solidFill>
                      <a:latin typeface="Microsoft YaHei"/>
                    </a:rPr>
                    <a:t>Override to blue</a:t>
                  </a:r>
                </a:p>
              </p:txBody>
            </p:sp>
            <p:sp>
              <p:nvSpPr>
                <p:cNvPr name="TextBox 18" id="18"/>
                <p:cNvSpPr txBox="true"/>
                <p:nvPr/>
              </p:nvSpPr>
              <p:spPr>
                <a:xfrm>
                  <a:off x="152400" y="1104900"/>
                  <a:ext cx="36703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800">
                      <a:solidFill>
                        <a:srgbClr val="C62828"/>
                      </a:solidFill>
                      <a:latin typeface="Microsoft YaHei"/>
                    </a:rPr>
                    <a:t>Back to inherited red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7474F"/>
                </a:solidFill>
                <a:latin typeface="Microsoft YaHei"/>
              </a:rPr>
              <a:t>Override Patterns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2578100" cy="3797300"/>
              <a:chOff x="0" y="0"/>
              <a:chExt cx="2578100" cy="37973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2578100" cy="1612900"/>
              </a:xfrm>
              <a:prstGeom prst="roundRect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2578100" cy="1612900"/>
                <a:chOff x="0" y="0"/>
                <a:chExt cx="2578100" cy="16129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152400" y="152400"/>
                  <a:ext cx="2286000" cy="266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Class style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152400" y="393700"/>
                  <a:ext cx="2286000" cy="1066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2000">
                      <a:solidFill>
                        <a:srgbClr val="2E7D32"/>
                      </a:solidFill>
                      <a:latin typeface="Microsoft YaHei"/>
                    </a:rPr>
                    <a:t>Green 20pt from .override-class</a:t>
                  </a:r>
                </a:p>
              </p:txBody>
            </p:sp>
          </p:grpSp>
        </p:grpSp>
        <p:grpSp>
          <p:nvGrpSpPr>
            <p:cNvPr name="Group 9" id="9"/>
            <p:cNvGrpSpPr/>
            <p:nvPr/>
          </p:nvGrpSpPr>
          <p:grpSpPr>
            <a:xfrm>
              <a:off x="2768600" y="0"/>
              <a:ext cx="2590800" cy="3797300"/>
              <a:chOff x="0" y="0"/>
              <a:chExt cx="2590800" cy="3797300"/>
            </a:xfrm>
          </p:grpSpPr>
          <p:sp>
            <p:nvSpPr>
              <p:cNvPr name="AutoShape 10" id="10"/>
              <p:cNvSpPr/>
              <p:nvPr/>
            </p:nvSpPr>
            <p:spPr>
              <a:xfrm>
                <a:off x="0" y="0"/>
                <a:ext cx="2590800" cy="1511300"/>
              </a:xfrm>
              <a:prstGeom prst="roundRect">
                <a:avLst/>
              </a:prstGeom>
              <a:solidFill>
                <a:srgbClr val="FFF3E0"/>
              </a:solidFill>
              <a:ln>
                <a:noFill/>
              </a:ln>
            </p:spPr>
          </p:sp>
          <p:grpSp>
            <p:nvGrpSpPr>
              <p:cNvPr name="Group 11" id="11"/>
              <p:cNvGrpSpPr/>
              <p:nvPr/>
            </p:nvGrpSpPr>
            <p:grpSpPr>
              <a:xfrm>
                <a:off x="0" y="0"/>
                <a:ext cx="2590800" cy="1511300"/>
                <a:chOff x="0" y="0"/>
                <a:chExt cx="2590800" cy="1511300"/>
              </a:xfrm>
            </p:grpSpPr>
            <p:sp>
              <p:nvSpPr>
                <p:cNvPr name="TextBox 12" id="12"/>
                <p:cNvSpPr txBox="true"/>
                <p:nvPr/>
              </p:nvSpPr>
              <p:spPr>
                <a:xfrm>
                  <a:off x="152400" y="152400"/>
                  <a:ext cx="22860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Inline overrides class</a:t>
                  </a:r>
                </a:p>
              </p:txBody>
            </p:sp>
            <p:sp>
              <p:nvSpPr>
                <p:cNvPr name="TextBox 13" id="13"/>
                <p:cNvSpPr txBox="true"/>
                <p:nvPr/>
              </p:nvSpPr>
              <p:spPr>
                <a:xfrm>
                  <a:off x="152400" y="647700"/>
                  <a:ext cx="2286000" cy="711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2000">
                      <a:solidFill>
                        <a:srgbClr val="E65100"/>
                      </a:solidFill>
                      <a:latin typeface="Microsoft YaHei"/>
                    </a:rPr>
                    <a:t>Orange overrides green</a:t>
                  </a:r>
                </a:p>
              </p:txBody>
            </p:sp>
          </p:grpSp>
        </p:grpSp>
        <p:grpSp>
          <p:nvGrpSpPr>
            <p:cNvPr name="Group 14" id="14"/>
            <p:cNvGrpSpPr/>
            <p:nvPr/>
          </p:nvGrpSpPr>
          <p:grpSpPr>
            <a:xfrm>
              <a:off x="5549900" y="0"/>
              <a:ext cx="2578100" cy="3797300"/>
              <a:chOff x="0" y="0"/>
              <a:chExt cx="2578100" cy="3797300"/>
            </a:xfrm>
          </p:grpSpPr>
          <p:sp>
            <p:nvSpPr>
              <p:cNvPr name="AutoShape 15" id="15"/>
              <p:cNvSpPr/>
              <p:nvPr/>
            </p:nvSpPr>
            <p:spPr>
              <a:xfrm>
                <a:off x="0" y="0"/>
                <a:ext cx="2578100" cy="1257300"/>
              </a:xfrm>
              <a:prstGeom prst="roundRect">
                <a:avLst/>
              </a:prstGeom>
              <a:solidFill>
                <a:srgbClr val="F3E5F5"/>
              </a:solidFill>
              <a:ln>
                <a:noFill/>
              </a:ln>
            </p:spPr>
          </p:sp>
          <p:grpSp>
            <p:nvGrpSpPr>
              <p:cNvPr name="Group 16" id="16"/>
              <p:cNvGrpSpPr/>
              <p:nvPr/>
            </p:nvGrpSpPr>
            <p:grpSpPr>
              <a:xfrm>
                <a:off x="0" y="0"/>
                <a:ext cx="2578100" cy="1257300"/>
                <a:chOff x="0" y="0"/>
                <a:chExt cx="2578100" cy="1257300"/>
              </a:xfrm>
            </p:grpSpPr>
            <p:sp>
              <p:nvSpPr>
                <p:cNvPr name="TextBox 17" id="17"/>
                <p:cNvSpPr txBox="true"/>
                <p:nvPr/>
              </p:nvSpPr>
              <p:spPr>
                <a:xfrm>
                  <a:off x="152400" y="152400"/>
                  <a:ext cx="2286000" cy="266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Multiple classes</a:t>
                  </a:r>
                </a:p>
              </p:txBody>
            </p:sp>
            <p:sp>
              <p:nvSpPr>
                <p:cNvPr name="TextBox 18" id="18"/>
                <p:cNvSpPr txBox="true"/>
                <p:nvPr/>
              </p:nvSpPr>
              <p:spPr>
                <a:xfrm>
                  <a:off x="152400" y="393700"/>
                  <a:ext cx="2286000" cy="711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2000">
                      <a:solidFill>
                        <a:srgbClr val="7B1FA2"/>
                      </a:solidFill>
                      <a:latin typeface="Microsoft YaHei"/>
                    </a:rPr>
                    <a:t>Last wins? (specificity)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37474F"/>
                </a:solidFill>
                <a:latin typeface="Microsoft YaHei"/>
              </a:rPr>
              <a:t>Complex Selector Patterns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65200"/>
            <a:ext cx="8128000" cy="3797300"/>
            <a:chOff x="0" y="0"/>
            <a:chExt cx="8128000" cy="37973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3975100" cy="3797300"/>
              <a:chOff x="0" y="0"/>
              <a:chExt cx="3975100" cy="37973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3975100" cy="1930400"/>
              </a:xfrm>
              <a:prstGeom prst="roundRect">
                <a:avLst/>
              </a:prstGeom>
              <a:solidFill>
                <a:srgbClr val="E8EAF6"/>
              </a:solidFill>
              <a:ln>
                <a:noFill/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3975100" cy="1930400"/>
                <a:chOff x="0" y="0"/>
                <a:chExt cx="3975100" cy="19304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152400" y="152400"/>
                  <a:ext cx="3670300" cy="266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Default heading sizes</a:t>
                  </a:r>
                </a:p>
              </p:txBody>
            </p:sp>
            <p:sp>
              <p:nvSpPr>
                <p:cNvPr name="TextBox 8" id="8"/>
                <p:cNvSpPr txBox="true"/>
                <p:nvPr/>
              </p:nvSpPr>
              <p:spPr>
                <a:xfrm>
                  <a:off x="152400" y="393700"/>
                  <a:ext cx="3670300" cy="4318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2400">
                      <a:latin typeface="Microsoft YaHei"/>
                    </a:rPr>
                    <a:t>H3 — 24pt bold</a:t>
                  </a:r>
                </a:p>
              </p:txBody>
            </p:sp>
            <p:sp>
              <p:nvSpPr>
                <p:cNvPr name="TextBox 9" id="9"/>
                <p:cNvSpPr txBox="true"/>
                <p:nvPr/>
              </p:nvSpPr>
              <p:spPr>
                <a:xfrm>
                  <a:off x="152400" y="825500"/>
                  <a:ext cx="3670300" cy="3556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2000">
                      <a:latin typeface="Microsoft YaHei"/>
                    </a:rPr>
                    <a:t>H4 — 20pt bold</a:t>
                  </a:r>
                </a:p>
              </p:txBody>
            </p:sp>
            <p:sp>
              <p:nvSpPr>
                <p:cNvPr name="TextBox 10" id="10"/>
                <p:cNvSpPr txBox="true"/>
                <p:nvPr/>
              </p:nvSpPr>
              <p:spPr>
                <a:xfrm>
                  <a:off x="152400" y="1181100"/>
                  <a:ext cx="3670300" cy="3302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800">
                      <a:latin typeface="Microsoft YaHei"/>
                    </a:rPr>
                    <a:t>H5 — 18pt bold</a:t>
                  </a:r>
                </a:p>
              </p:txBody>
            </p:sp>
            <p:sp>
              <p:nvSpPr>
                <p:cNvPr name="TextBox 11" id="11"/>
                <p:cNvSpPr txBox="true"/>
                <p:nvPr/>
              </p:nvSpPr>
              <p:spPr>
                <a:xfrm>
                  <a:off x="152400" y="1498600"/>
                  <a:ext cx="3670300" cy="2921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600">
                      <a:latin typeface="Microsoft YaHei"/>
                    </a:rPr>
                    <a:t>H6 — 16pt bold</a:t>
                  </a:r>
                </a:p>
              </p:txBody>
            </p:sp>
          </p:grpSp>
        </p:grpSp>
        <p:grpSp>
          <p:nvGrpSpPr>
            <p:cNvPr name="Group 12" id="12"/>
            <p:cNvGrpSpPr/>
            <p:nvPr/>
          </p:nvGrpSpPr>
          <p:grpSpPr>
            <a:xfrm>
              <a:off x="4165600" y="0"/>
              <a:ext cx="3962400" cy="3797300"/>
              <a:chOff x="0" y="0"/>
              <a:chExt cx="3962400" cy="3797300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0" y="0"/>
                <a:ext cx="3962400" cy="1295400"/>
              </a:xfrm>
              <a:prstGeom prst="roundRect">
                <a:avLst/>
              </a:prstGeom>
              <a:solidFill>
                <a:srgbClr val="FAFAFA"/>
              </a:solidFill>
              <a:ln>
                <a:noFill/>
              </a:ln>
            </p:spPr>
          </p:sp>
          <p:grpSp>
            <p:nvGrpSpPr>
              <p:cNvPr name="Group 14" id="14"/>
              <p:cNvGrpSpPr/>
              <p:nvPr/>
            </p:nvGrpSpPr>
            <p:grpSpPr>
              <a:xfrm>
                <a:off x="0" y="0"/>
                <a:ext cx="3962400" cy="1295400"/>
                <a:chOff x="0" y="0"/>
                <a:chExt cx="3962400" cy="1295400"/>
              </a:xfrm>
            </p:grpSpPr>
            <p:sp>
              <p:nvSpPr>
                <p:cNvPr name="TextBox 15" id="15"/>
                <p:cNvSpPr txBox="true"/>
                <p:nvPr/>
              </p:nvSpPr>
              <p:spPr>
                <a:xfrm>
                  <a:off x="152400" y="152400"/>
                  <a:ext cx="3670300" cy="266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666666"/>
                      </a:solidFill>
                      <a:latin typeface="Microsoft YaHei"/>
                    </a:rPr>
                    <a:t>Styled text combinations</a:t>
                  </a:r>
                </a:p>
              </p:txBody>
            </p:sp>
            <p:sp>
              <p:nvSpPr>
                <p:cNvPr name="TextBox 16" id="16"/>
                <p:cNvSpPr txBox="true"/>
                <p:nvPr/>
              </p:nvSpPr>
              <p:spPr>
                <a:xfrm>
                  <a:off x="152400" y="393700"/>
                  <a:ext cx="3670300" cy="254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latin typeface="Microsoft YaHei"/>
                    </a:rPr>
                    <a:t>Normal </a:t>
                  </a:r>
                  <a:r>
                    <a:rPr lang="en-US" b="true" i="false" u="none" sz="1400">
                      <a:latin typeface="Microsoft YaHei"/>
                    </a:rPr>
                    <a:t>bold</a:t>
                  </a:r>
                  <a:r>
                    <a:rPr lang="en-US" b="false" i="true" u="none" sz="1400">
                      <a:latin typeface="Microsoft YaHei"/>
                    </a:rPr>
                    <a:t>italic</a:t>
                  </a:r>
                  <a:r>
                    <a:rPr lang="en-US" b="false" i="false" u="sng" sz="1400">
                      <a:latin typeface="Microsoft YaHei"/>
                    </a:rPr>
                    <a:t>underline</a:t>
                  </a:r>
                </a:p>
              </p:txBody>
            </p:sp>
            <p:sp>
              <p:nvSpPr>
                <p:cNvPr name="TextBox 17" id="17"/>
                <p:cNvSpPr txBox="true"/>
                <p:nvPr/>
              </p:nvSpPr>
              <p:spPr>
                <a:xfrm>
                  <a:off x="152400" y="647700"/>
                  <a:ext cx="3670300" cy="2667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1565C0"/>
                      </a:solidFill>
                      <a:latin typeface="Microsoft YaHei"/>
                    </a:rPr>
                    <a:t>Bold blue</a:t>
                  </a:r>
                  <a:r>
                    <a:rPr lang="en-US" b="false" i="false" u="none" sz="1400">
                      <a:solidFill>
                        <a:srgbClr val="1565C0"/>
                      </a:solidFill>
                      <a:latin typeface="Microsoft YaHei"/>
                    </a:rPr>
                    <a:t> and </a:t>
                  </a:r>
                  <a:r>
                    <a:rPr lang="en-US" b="false" i="true" u="none" sz="1400">
                      <a:solidFill>
                        <a:srgbClr val="1565C0"/>
                      </a:solidFill>
                      <a:latin typeface="Microsoft YaHei"/>
                    </a:rPr>
                    <a:t>italic blue</a:t>
                  </a:r>
                </a:p>
              </p:txBody>
            </p:sp>
            <p:sp>
              <p:nvSpPr>
                <p:cNvPr name="TextBox 18" id="18"/>
                <p:cNvSpPr txBox="true"/>
                <p:nvPr/>
              </p:nvSpPr>
              <p:spPr>
                <a:xfrm>
                  <a:off x="152400" y="889000"/>
                  <a:ext cx="3670300" cy="254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true" i="false" u="none" sz="1400">
                      <a:solidFill>
                        <a:srgbClr val="C62828"/>
                      </a:solidFill>
                      <a:latin typeface="Microsoft YaHei"/>
                    </a:rPr>
                    <a:t>All three combined in red</a:t>
                  </a: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