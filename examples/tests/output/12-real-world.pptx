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524000" y="1968500"/>
            <a:ext cx="6096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Real-World Layouts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333500" y="2832100"/>
            <a:ext cx="64770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9FA8DA"/>
                </a:solidFill>
                <a:latin typeface="Microsoft YaHei"/>
              </a:rPr>
              <a:t>Complex presentation patterns found in practice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393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200">
                <a:solidFill>
                  <a:srgbClr val="1A237E"/>
                </a:solidFill>
                <a:latin typeface="Microsoft YaHei"/>
              </a:rPr>
              <a:t>Analytics Dashboard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27100"/>
            <a:ext cx="8128000" cy="3835400"/>
            <a:chOff x="0" y="0"/>
            <a:chExt cx="8128000" cy="38354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1778000" cy="3835400"/>
            </a:xfrm>
            <a:prstGeom prst="roundRect">
              <a:avLst/>
            </a:prstGeom>
            <a:solidFill>
              <a:srgbClr val="1A237E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1778000" cy="3835400"/>
              <a:chOff x="0" y="0"/>
              <a:chExt cx="1778000" cy="38354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1397000" cy="393700"/>
              </a:xfrm>
              <a:prstGeom prst="rect">
                <a:avLst/>
              </a:prstGeom>
              <a:solidFill>
                <a:srgbClr val="3949AB"/>
              </a:solidFill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FFFFFF"/>
                    </a:solidFill>
                    <a:latin typeface="Microsoft YaHei"/>
                  </a:rPr>
                  <a:t>Overview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190500" y="647700"/>
                <a:ext cx="1397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FFFFFF"/>
                    </a:solidFill>
                    <a:latin typeface="Microsoft YaHei"/>
                  </a:rPr>
                  <a:t>Users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190500" y="952500"/>
                <a:ext cx="1397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FFFFFF"/>
                    </a:solidFill>
                    <a:latin typeface="Microsoft YaHei"/>
                  </a:rPr>
                  <a:t>Revenue</a:t>
                </a:r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190500" y="1257300"/>
                <a:ext cx="1397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FFFFFF"/>
                    </a:solidFill>
                    <a:latin typeface="Microsoft YaHei"/>
                  </a:rPr>
                  <a:t>Products</a:t>
                </a:r>
              </a:p>
            </p:txBody>
          </p:sp>
          <p:sp>
            <p:nvSpPr>
              <p:cNvPr name="TextBox 10" id="10"/>
              <p:cNvSpPr txBox="true"/>
              <p:nvPr/>
            </p:nvSpPr>
            <p:spPr>
              <a:xfrm>
                <a:off x="190500" y="1562100"/>
                <a:ext cx="1397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FFFFFF"/>
                    </a:solidFill>
                    <a:latin typeface="Microsoft YaHei"/>
                  </a:rPr>
                  <a:t>Settings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>
              <a:off x="1930400" y="0"/>
              <a:ext cx="6197600" cy="3835400"/>
              <a:chOff x="0" y="0"/>
              <a:chExt cx="6197600" cy="3835400"/>
            </a:xfrm>
          </p:grpSpPr>
          <p:grpSp>
            <p:nvGrpSpPr>
              <p:cNvPr name="Group 12" id="12"/>
              <p:cNvGrpSpPr/>
              <p:nvPr/>
            </p:nvGrpSpPr>
            <p:grpSpPr>
              <a:xfrm>
                <a:off x="0" y="0"/>
                <a:ext cx="6197600" cy="901700"/>
                <a:chOff x="0" y="0"/>
                <a:chExt cx="6197600" cy="901700"/>
              </a:xfrm>
            </p:grpSpPr>
            <p:sp>
              <p:nvSpPr>
                <p:cNvPr name="AutoShape 13" id="13"/>
                <p:cNvSpPr/>
                <p:nvPr/>
              </p:nvSpPr>
              <p:spPr>
                <a:xfrm>
                  <a:off x="0" y="0"/>
                  <a:ext cx="1460500" cy="9017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14" id="14"/>
                <p:cNvGrpSpPr/>
                <p:nvPr/>
              </p:nvGrpSpPr>
              <p:grpSpPr>
                <a:xfrm>
                  <a:off x="0" y="0"/>
                  <a:ext cx="1460500" cy="901700"/>
                  <a:chOff x="0" y="0"/>
                  <a:chExt cx="1460500" cy="901700"/>
                </a:xfrm>
              </p:grpSpPr>
              <p:sp>
                <p:nvSpPr>
                  <p:cNvPr name="TextBox 15" id="15"/>
                  <p:cNvSpPr txBox="true"/>
                  <p:nvPr/>
                </p:nvSpPr>
                <p:spPr>
                  <a:xfrm>
                    <a:off x="241300" y="127000"/>
                    <a:ext cx="965200" cy="4064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200">
                        <a:solidFill>
                          <a:srgbClr val="1565C0"/>
                        </a:solidFill>
                        <a:latin typeface="Microsoft YaHei"/>
                      </a:rPr>
                      <a:t>12.4K</a:t>
                    </a:r>
                  </a:p>
                </p:txBody>
              </p:sp>
              <p:sp>
                <p:nvSpPr>
                  <p:cNvPr name="TextBox 16" id="16"/>
                  <p:cNvSpPr txBox="true"/>
                  <p:nvPr/>
                </p:nvSpPr>
                <p:spPr>
                  <a:xfrm>
                    <a:off x="215900" y="571500"/>
                    <a:ext cx="10287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757575"/>
                        </a:solidFill>
                        <a:latin typeface="Microsoft YaHei"/>
                      </a:rPr>
                      <a:t>Active Users</a:t>
                    </a:r>
                  </a:p>
                </p:txBody>
              </p:sp>
            </p:grpSp>
            <p:sp>
              <p:nvSpPr>
                <p:cNvPr name="AutoShape 17" id="17"/>
                <p:cNvSpPr/>
                <p:nvPr/>
              </p:nvSpPr>
              <p:spPr>
                <a:xfrm>
                  <a:off x="1587500" y="0"/>
                  <a:ext cx="1447800" cy="9017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18" id="18"/>
                <p:cNvGrpSpPr/>
                <p:nvPr/>
              </p:nvGrpSpPr>
              <p:grpSpPr>
                <a:xfrm>
                  <a:off x="1587500" y="0"/>
                  <a:ext cx="1447800" cy="901700"/>
                  <a:chOff x="0" y="0"/>
                  <a:chExt cx="1447800" cy="901700"/>
                </a:xfrm>
              </p:grpSpPr>
              <p:sp>
                <p:nvSpPr>
                  <p:cNvPr name="TextBox 19" id="19"/>
                  <p:cNvSpPr txBox="true"/>
                  <p:nvPr/>
                </p:nvSpPr>
                <p:spPr>
                  <a:xfrm>
                    <a:off x="152400" y="127000"/>
                    <a:ext cx="1143000" cy="4064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200">
                        <a:solidFill>
                          <a:srgbClr val="2E7D32"/>
                        </a:solidFill>
                        <a:latin typeface="Microsoft YaHei"/>
                      </a:rPr>
                      <a:t>$84.2K</a:t>
                    </a:r>
                  </a:p>
                </p:txBody>
              </p:sp>
              <p:sp>
                <p:nvSpPr>
                  <p:cNvPr name="TextBox 20" id="20"/>
                  <p:cNvSpPr txBox="true"/>
                  <p:nvPr/>
                </p:nvSpPr>
                <p:spPr>
                  <a:xfrm>
                    <a:off x="419100" y="571500"/>
                    <a:ext cx="6096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757575"/>
                        </a:solidFill>
                        <a:latin typeface="Microsoft YaHei"/>
                      </a:rPr>
                      <a:t>Revenue</a:t>
                    </a:r>
                  </a:p>
                </p:txBody>
              </p:sp>
            </p:grpSp>
            <p:sp>
              <p:nvSpPr>
                <p:cNvPr name="AutoShape 21" id="21"/>
                <p:cNvSpPr/>
                <p:nvPr/>
              </p:nvSpPr>
              <p:spPr>
                <a:xfrm>
                  <a:off x="3162300" y="0"/>
                  <a:ext cx="1460500" cy="9017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22" id="22"/>
                <p:cNvGrpSpPr/>
                <p:nvPr/>
              </p:nvGrpSpPr>
              <p:grpSpPr>
                <a:xfrm>
                  <a:off x="3162300" y="0"/>
                  <a:ext cx="1460500" cy="901700"/>
                  <a:chOff x="0" y="0"/>
                  <a:chExt cx="1460500" cy="901700"/>
                </a:xfrm>
              </p:grpSpPr>
              <p:sp>
                <p:nvSpPr>
                  <p:cNvPr name="TextBox 23" id="23"/>
                  <p:cNvSpPr txBox="true"/>
                  <p:nvPr/>
                </p:nvSpPr>
                <p:spPr>
                  <a:xfrm>
                    <a:off x="342900" y="127000"/>
                    <a:ext cx="774700" cy="4064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200">
                        <a:solidFill>
                          <a:srgbClr val="E65100"/>
                        </a:solidFill>
                        <a:latin typeface="Microsoft YaHei"/>
                      </a:rPr>
                      <a:t>3.2%</a:t>
                    </a:r>
                  </a:p>
                </p:txBody>
              </p:sp>
              <p:sp>
                <p:nvSpPr>
                  <p:cNvPr name="TextBox 24" id="24"/>
                  <p:cNvSpPr txBox="true"/>
                  <p:nvPr/>
                </p:nvSpPr>
                <p:spPr>
                  <a:xfrm>
                    <a:off x="292100" y="571500"/>
                    <a:ext cx="8636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757575"/>
                        </a:solidFill>
                        <a:latin typeface="Microsoft YaHei"/>
                      </a:rPr>
                      <a:t>Conversion</a:t>
                    </a:r>
                  </a:p>
                </p:txBody>
              </p:sp>
            </p:grpSp>
            <p:sp>
              <p:nvSpPr>
                <p:cNvPr name="AutoShape 25" id="25"/>
                <p:cNvSpPr/>
                <p:nvPr/>
              </p:nvSpPr>
              <p:spPr>
                <a:xfrm>
                  <a:off x="4749800" y="0"/>
                  <a:ext cx="1447800" cy="9017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26" id="26"/>
                <p:cNvGrpSpPr/>
                <p:nvPr/>
              </p:nvGrpSpPr>
              <p:grpSpPr>
                <a:xfrm>
                  <a:off x="4749800" y="0"/>
                  <a:ext cx="1447800" cy="901700"/>
                  <a:chOff x="0" y="0"/>
                  <a:chExt cx="1447800" cy="901700"/>
                </a:xfrm>
              </p:grpSpPr>
              <p:sp>
                <p:nvSpPr>
                  <p:cNvPr name="TextBox 27" id="27"/>
                  <p:cNvSpPr txBox="true"/>
                  <p:nvPr/>
                </p:nvSpPr>
                <p:spPr>
                  <a:xfrm>
                    <a:off x="520700" y="127000"/>
                    <a:ext cx="406400" cy="4064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2200">
                        <a:solidFill>
                          <a:srgbClr val="C62828"/>
                        </a:solidFill>
                        <a:latin typeface="Microsoft YaHei"/>
                      </a:rPr>
                      <a:t>24</a:t>
                    </a:r>
                  </a:p>
                </p:txBody>
              </p:sp>
              <p:sp>
                <p:nvSpPr>
                  <p:cNvPr name="TextBox 28" id="28"/>
                  <p:cNvSpPr txBox="true"/>
                  <p:nvPr/>
                </p:nvSpPr>
                <p:spPr>
                  <a:xfrm>
                    <a:off x="457200" y="571500"/>
                    <a:ext cx="533400" cy="2032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100">
                        <a:solidFill>
                          <a:srgbClr val="757575"/>
                        </a:solidFill>
                        <a:latin typeface="Microsoft YaHei"/>
                      </a:rPr>
                      <a:t>Issues</a:t>
                    </a:r>
                  </a:p>
                </p:txBody>
              </p:sp>
            </p:grpSp>
          </p:grpSp>
          <p:sp>
            <p:nvSpPr>
              <p:cNvPr name="AutoShape 29" id="29"/>
              <p:cNvSpPr/>
              <p:nvPr/>
            </p:nvSpPr>
            <p:spPr>
              <a:xfrm>
                <a:off x="0" y="1028700"/>
                <a:ext cx="6197600" cy="28067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30" id="30"/>
              <p:cNvGrpSpPr/>
              <p:nvPr/>
            </p:nvGrpSpPr>
            <p:grpSpPr>
              <a:xfrm>
                <a:off x="0" y="1028700"/>
                <a:ext cx="6197600" cy="2806700"/>
                <a:chOff x="0" y="0"/>
                <a:chExt cx="6197600" cy="2806700"/>
              </a:xfrm>
            </p:grpSpPr>
            <p:sp>
              <p:nvSpPr>
                <p:cNvPr name="TextBox 31" id="31"/>
                <p:cNvSpPr txBox="true"/>
                <p:nvPr/>
              </p:nvSpPr>
              <p:spPr>
                <a:xfrm>
                  <a:off x="190500" y="190500"/>
                  <a:ext cx="58166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1A237E"/>
                      </a:solidFill>
                      <a:latin typeface="Microsoft YaHei"/>
                    </a:rPr>
                    <a:t>Monthly Trend</a:t>
                  </a:r>
                </a:p>
              </p:txBody>
            </p:sp>
            <p:sp>
              <p:nvSpPr>
                <p:cNvPr name="AutoShape 32" id="32"/>
                <p:cNvSpPr/>
                <p:nvPr/>
              </p:nvSpPr>
              <p:spPr>
                <a:xfrm>
                  <a:off x="190500" y="508000"/>
                  <a:ext cx="5816600" cy="2108200"/>
                </a:xfrm>
                <a:prstGeom prst="roundRect">
                  <a:avLst/>
                </a:prstGeom>
                <a:solidFill>
                  <a:srgbClr val="C5CAE9"/>
                </a:solidFill>
                <a:ln>
                  <a:noFill/>
                </a:ln>
              </p:spPr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393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200">
                <a:solidFill>
                  <a:srgbClr val="1A237E"/>
                </a:solidFill>
                <a:latin typeface="Microsoft YaHei"/>
              </a:rPr>
              <a:t>Project Timeline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27100"/>
            <a:ext cx="8128000" cy="3835400"/>
            <a:chOff x="0" y="0"/>
            <a:chExt cx="8128000" cy="38354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87800" cy="3835400"/>
              <a:chOff x="0" y="0"/>
              <a:chExt cx="3987800" cy="3835400"/>
            </a:xfrm>
          </p:grpSpPr>
          <p:grpSp>
            <p:nvGrpSpPr>
              <p:cNvPr name="Group 5" id="5"/>
              <p:cNvGrpSpPr/>
              <p:nvPr/>
            </p:nvGrpSpPr>
            <p:grpSpPr>
              <a:xfrm>
                <a:off x="0" y="0"/>
                <a:ext cx="3987800" cy="3454400"/>
                <a:chOff x="0" y="0"/>
                <a:chExt cx="3987800" cy="3454400"/>
              </a:xfrm>
            </p:grpSpPr>
            <p:sp>
              <p:nvSpPr>
                <p:cNvPr name="AutoShape 6" id="6"/>
                <p:cNvSpPr/>
                <p:nvPr/>
              </p:nvSpPr>
              <p:spPr>
                <a:xfrm>
                  <a:off x="0" y="0"/>
                  <a:ext cx="3987800" cy="6223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7" id="7"/>
                <p:cNvGrpSpPr/>
                <p:nvPr/>
              </p:nvGrpSpPr>
              <p:grpSpPr>
                <a:xfrm>
                  <a:off x="0" y="0"/>
                  <a:ext cx="3987800" cy="622300"/>
                  <a:chOff x="0" y="0"/>
                  <a:chExt cx="3987800" cy="622300"/>
                </a:xfrm>
              </p:grpSpPr>
              <p:sp>
                <p:nvSpPr>
                  <p:cNvPr name="AutoShape 8" id="8"/>
                  <p:cNvSpPr/>
                  <p:nvPr/>
                </p:nvSpPr>
                <p:spPr>
                  <a:xfrm>
                    <a:off x="152400" y="152400"/>
                    <a:ext cx="127000" cy="127000"/>
                  </a:xfrm>
                  <a:prstGeom prst="roundRect">
                    <a:avLst/>
                  </a:prstGeom>
                  <a:solidFill>
                    <a:srgbClr val="4CAF50"/>
                  </a:solidFill>
                  <a:ln>
                    <a:noFill/>
                  </a:ln>
                </p:spPr>
              </p:sp>
              <p:grpSp>
                <p:nvGrpSpPr>
                  <p:cNvPr name="Group 9" id="9"/>
                  <p:cNvGrpSpPr/>
                  <p:nvPr/>
                </p:nvGrpSpPr>
                <p:grpSpPr>
                  <a:xfrm>
                    <a:off x="406400" y="101600"/>
                    <a:ext cx="1803400" cy="419100"/>
                    <a:chOff x="0" y="0"/>
                    <a:chExt cx="1803400" cy="419100"/>
                  </a:xfrm>
                </p:grpSpPr>
                <p:sp>
                  <p:nvSpPr>
                    <p:cNvPr name="TextBox 10" id="10"/>
                    <p:cNvSpPr txBox="true"/>
                    <p:nvPr/>
                  </p:nvSpPr>
                  <p:spPr>
                    <a:xfrm>
                      <a:off x="0" y="0"/>
                      <a:ext cx="1803400" cy="2413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300">
                          <a:latin typeface="Microsoft YaHei"/>
                        </a:rPr>
                        <a:t>Phase 1: Discovery</a:t>
                      </a:r>
                    </a:p>
                  </p:txBody>
                </p:sp>
                <p:sp>
                  <p:nvSpPr>
                    <p:cNvPr name="TextBox 11" id="11"/>
                    <p:cNvSpPr txBox="true"/>
                    <p:nvPr/>
                  </p:nvSpPr>
                  <p:spPr>
                    <a:xfrm>
                      <a:off x="0" y="228600"/>
                      <a:ext cx="1803400" cy="2032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 sz="1100">
                          <a:solidFill>
                            <a:srgbClr val="9E9E9E"/>
                          </a:solidFill>
                          <a:latin typeface="Microsoft YaHei"/>
                        </a:rPr>
                        <a:t>Jan 2024 — Completed</a:t>
                      </a:r>
                    </a:p>
                  </p:txBody>
                </p:sp>
              </p:grpSp>
            </p:grpSp>
            <p:sp>
              <p:nvSpPr>
                <p:cNvPr name="AutoShape 12" id="12"/>
                <p:cNvSpPr/>
                <p:nvPr/>
              </p:nvSpPr>
              <p:spPr>
                <a:xfrm>
                  <a:off x="0" y="711200"/>
                  <a:ext cx="3987800" cy="6350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13" id="13"/>
                <p:cNvGrpSpPr/>
                <p:nvPr/>
              </p:nvGrpSpPr>
              <p:grpSpPr>
                <a:xfrm>
                  <a:off x="0" y="711200"/>
                  <a:ext cx="3987800" cy="635000"/>
                  <a:chOff x="0" y="0"/>
                  <a:chExt cx="3987800" cy="635000"/>
                </a:xfrm>
              </p:grpSpPr>
              <p:sp>
                <p:nvSpPr>
                  <p:cNvPr name="AutoShape 14" id="14"/>
                  <p:cNvSpPr/>
                  <p:nvPr/>
                </p:nvSpPr>
                <p:spPr>
                  <a:xfrm>
                    <a:off x="152400" y="152400"/>
                    <a:ext cx="127000" cy="127000"/>
                  </a:xfrm>
                  <a:prstGeom prst="roundRect">
                    <a:avLst/>
                  </a:prstGeom>
                  <a:solidFill>
                    <a:srgbClr val="4CAF50"/>
                  </a:solidFill>
                  <a:ln>
                    <a:noFill/>
                  </a:ln>
                </p:spPr>
              </p:sp>
              <p:grpSp>
                <p:nvGrpSpPr>
                  <p:cNvPr name="Group 15" id="15"/>
                  <p:cNvGrpSpPr/>
                  <p:nvPr/>
                </p:nvGrpSpPr>
                <p:grpSpPr>
                  <a:xfrm>
                    <a:off x="406400" y="101600"/>
                    <a:ext cx="2032000" cy="431800"/>
                    <a:chOff x="0" y="0"/>
                    <a:chExt cx="2032000" cy="431800"/>
                  </a:xfrm>
                </p:grpSpPr>
                <p:sp>
                  <p:nvSpPr>
                    <p:cNvPr name="TextBox 16" id="16"/>
                    <p:cNvSpPr txBox="true"/>
                    <p:nvPr/>
                  </p:nvSpPr>
                  <p:spPr>
                    <a:xfrm>
                      <a:off x="0" y="0"/>
                      <a:ext cx="2032000" cy="2413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300">
                          <a:latin typeface="Microsoft YaHei"/>
                        </a:rPr>
                        <a:t>Phase 2: Design</a:t>
                      </a:r>
                    </a:p>
                  </p:txBody>
                </p:sp>
                <p:sp>
                  <p:nvSpPr>
                    <p:cNvPr name="TextBox 17" id="17"/>
                    <p:cNvSpPr txBox="true"/>
                    <p:nvPr/>
                  </p:nvSpPr>
                  <p:spPr>
                    <a:xfrm>
                      <a:off x="0" y="228600"/>
                      <a:ext cx="2032000" cy="2032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 sz="1100">
                          <a:solidFill>
                            <a:srgbClr val="9E9E9E"/>
                          </a:solidFill>
                          <a:latin typeface="Microsoft YaHei"/>
                        </a:rPr>
                        <a:t>Feb—Mar 2024 — Completed</a:t>
                      </a:r>
                    </a:p>
                  </p:txBody>
                </p:sp>
              </p:grpSp>
            </p:grpSp>
            <p:sp>
              <p:nvSpPr>
                <p:cNvPr name="AutoShape 18" id="18"/>
                <p:cNvSpPr/>
                <p:nvPr/>
              </p:nvSpPr>
              <p:spPr>
                <a:xfrm>
                  <a:off x="0" y="1409700"/>
                  <a:ext cx="3987800" cy="6350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19" id="19"/>
                <p:cNvGrpSpPr/>
                <p:nvPr/>
              </p:nvGrpSpPr>
              <p:grpSpPr>
                <a:xfrm>
                  <a:off x="0" y="1409700"/>
                  <a:ext cx="3987800" cy="635000"/>
                  <a:chOff x="0" y="0"/>
                  <a:chExt cx="3987800" cy="635000"/>
                </a:xfrm>
              </p:grpSpPr>
              <p:sp>
                <p:nvSpPr>
                  <p:cNvPr name="AutoShape 20" id="20"/>
                  <p:cNvSpPr/>
                  <p:nvPr/>
                </p:nvSpPr>
                <p:spPr>
                  <a:xfrm>
                    <a:off x="152400" y="152400"/>
                    <a:ext cx="127000" cy="127000"/>
                  </a:xfrm>
                  <a:prstGeom prst="roundRect">
                    <a:avLst/>
                  </a:prstGeom>
                  <a:solidFill>
                    <a:srgbClr val="FF9800"/>
                  </a:solidFill>
                  <a:ln>
                    <a:noFill/>
                  </a:ln>
                </p:spPr>
              </p:sp>
              <p:grpSp>
                <p:nvGrpSpPr>
                  <p:cNvPr name="Group 21" id="21"/>
                  <p:cNvGrpSpPr/>
                  <p:nvPr/>
                </p:nvGrpSpPr>
                <p:grpSpPr>
                  <a:xfrm>
                    <a:off x="406400" y="101600"/>
                    <a:ext cx="2197100" cy="431800"/>
                    <a:chOff x="0" y="0"/>
                    <a:chExt cx="2197100" cy="431800"/>
                  </a:xfrm>
                </p:grpSpPr>
                <p:sp>
                  <p:nvSpPr>
                    <p:cNvPr name="TextBox 22" id="22"/>
                    <p:cNvSpPr txBox="true"/>
                    <p:nvPr/>
                  </p:nvSpPr>
                  <p:spPr>
                    <a:xfrm>
                      <a:off x="0" y="0"/>
                      <a:ext cx="2197100" cy="2413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300">
                          <a:latin typeface="Microsoft YaHei"/>
                        </a:rPr>
                        <a:t>Phase 3: Development</a:t>
                      </a:r>
                    </a:p>
                  </p:txBody>
                </p:sp>
                <p:sp>
                  <p:nvSpPr>
                    <p:cNvPr name="TextBox 23" id="23"/>
                    <p:cNvSpPr txBox="true"/>
                    <p:nvPr/>
                  </p:nvSpPr>
                  <p:spPr>
                    <a:xfrm>
                      <a:off x="0" y="228600"/>
                      <a:ext cx="2197100" cy="2032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 sz="1100">
                          <a:solidFill>
                            <a:srgbClr val="9E9E9E"/>
                          </a:solidFill>
                          <a:latin typeface="Microsoft YaHei"/>
                        </a:rPr>
                        <a:t>Apr—Sep 2024 — In Progress</a:t>
                      </a:r>
                    </a:p>
                  </p:txBody>
                </p:sp>
              </p:grpSp>
            </p:grpSp>
            <p:sp>
              <p:nvSpPr>
                <p:cNvPr name="AutoShape 24" id="24"/>
                <p:cNvSpPr/>
                <p:nvPr/>
              </p:nvSpPr>
              <p:spPr>
                <a:xfrm>
                  <a:off x="0" y="2120900"/>
                  <a:ext cx="3987800" cy="6223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25" id="25"/>
                <p:cNvGrpSpPr/>
                <p:nvPr/>
              </p:nvGrpSpPr>
              <p:grpSpPr>
                <a:xfrm>
                  <a:off x="0" y="2120900"/>
                  <a:ext cx="3987800" cy="622300"/>
                  <a:chOff x="0" y="0"/>
                  <a:chExt cx="3987800" cy="622300"/>
                </a:xfrm>
              </p:grpSpPr>
              <p:sp>
                <p:nvSpPr>
                  <p:cNvPr name="AutoShape 26" id="26"/>
                  <p:cNvSpPr/>
                  <p:nvPr/>
                </p:nvSpPr>
                <p:spPr>
                  <a:xfrm>
                    <a:off x="152400" y="152400"/>
                    <a:ext cx="127000" cy="127000"/>
                  </a:xfrm>
                  <a:prstGeom prst="roundRect">
                    <a:avLst/>
                  </a:prstGeom>
                  <a:solidFill>
                    <a:srgbClr val="9E9E9E"/>
                  </a:solidFill>
                  <a:ln>
                    <a:noFill/>
                  </a:ln>
                </p:spPr>
              </p:sp>
              <p:grpSp>
                <p:nvGrpSpPr>
                  <p:cNvPr name="Group 27" id="27"/>
                  <p:cNvGrpSpPr/>
                  <p:nvPr/>
                </p:nvGrpSpPr>
                <p:grpSpPr>
                  <a:xfrm>
                    <a:off x="406400" y="101600"/>
                    <a:ext cx="1854200" cy="419100"/>
                    <a:chOff x="0" y="0"/>
                    <a:chExt cx="1854200" cy="419100"/>
                  </a:xfrm>
                </p:grpSpPr>
                <p:sp>
                  <p:nvSpPr>
                    <p:cNvPr name="TextBox 28" id="28"/>
                    <p:cNvSpPr txBox="true"/>
                    <p:nvPr/>
                  </p:nvSpPr>
                  <p:spPr>
                    <a:xfrm>
                      <a:off x="0" y="0"/>
                      <a:ext cx="1866900" cy="2413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300">
                          <a:latin typeface="Microsoft YaHei"/>
                        </a:rPr>
                        <a:t>Phase 4: Testing</a:t>
                      </a:r>
                    </a:p>
                  </p:txBody>
                </p:sp>
                <p:sp>
                  <p:nvSpPr>
                    <p:cNvPr name="TextBox 29" id="29"/>
                    <p:cNvSpPr txBox="true"/>
                    <p:nvPr/>
                  </p:nvSpPr>
                  <p:spPr>
                    <a:xfrm>
                      <a:off x="0" y="228600"/>
                      <a:ext cx="1866900" cy="2159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 sz="1100">
                          <a:solidFill>
                            <a:srgbClr val="9E9E9E"/>
                          </a:solidFill>
                          <a:latin typeface="Microsoft YaHei"/>
                        </a:rPr>
                        <a:t>Oct—Nov 2024 — Planned</a:t>
                      </a:r>
                    </a:p>
                  </p:txBody>
                </p:sp>
              </p:grpSp>
            </p:grpSp>
            <p:sp>
              <p:nvSpPr>
                <p:cNvPr name="AutoShape 30" id="30"/>
                <p:cNvSpPr/>
                <p:nvPr/>
              </p:nvSpPr>
              <p:spPr>
                <a:xfrm>
                  <a:off x="0" y="2819400"/>
                  <a:ext cx="3987800" cy="635000"/>
                </a:xfrm>
                <a:prstGeom prst="round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</p:sp>
            <p:grpSp>
              <p:nvGrpSpPr>
                <p:cNvPr name="Group 31" id="31"/>
                <p:cNvGrpSpPr/>
                <p:nvPr/>
              </p:nvGrpSpPr>
              <p:grpSpPr>
                <a:xfrm>
                  <a:off x="0" y="2819400"/>
                  <a:ext cx="3987800" cy="635000"/>
                  <a:chOff x="0" y="0"/>
                  <a:chExt cx="3987800" cy="635000"/>
                </a:xfrm>
              </p:grpSpPr>
              <p:sp>
                <p:nvSpPr>
                  <p:cNvPr name="AutoShape 32" id="32"/>
                  <p:cNvSpPr/>
                  <p:nvPr/>
                </p:nvSpPr>
                <p:spPr>
                  <a:xfrm>
                    <a:off x="152400" y="152400"/>
                    <a:ext cx="127000" cy="127000"/>
                  </a:xfrm>
                  <a:prstGeom prst="roundRect">
                    <a:avLst/>
                  </a:prstGeom>
                  <a:solidFill>
                    <a:srgbClr val="9E9E9E"/>
                  </a:solidFill>
                  <a:ln>
                    <a:noFill/>
                  </a:ln>
                </p:spPr>
              </p:sp>
              <p:grpSp>
                <p:nvGrpSpPr>
                  <p:cNvPr name="Group 33" id="33"/>
                  <p:cNvGrpSpPr/>
                  <p:nvPr/>
                </p:nvGrpSpPr>
                <p:grpSpPr>
                  <a:xfrm>
                    <a:off x="406400" y="101600"/>
                    <a:ext cx="1524000" cy="431800"/>
                    <a:chOff x="0" y="0"/>
                    <a:chExt cx="1524000" cy="431800"/>
                  </a:xfrm>
                </p:grpSpPr>
                <p:sp>
                  <p:nvSpPr>
                    <p:cNvPr name="TextBox 34" id="34"/>
                    <p:cNvSpPr txBox="true"/>
                    <p:nvPr/>
                  </p:nvSpPr>
                  <p:spPr>
                    <a:xfrm>
                      <a:off x="0" y="0"/>
                      <a:ext cx="1524000" cy="2413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300">
                          <a:latin typeface="Microsoft YaHei"/>
                        </a:rPr>
                        <a:t>Phase 5: Launch</a:t>
                      </a:r>
                    </a:p>
                  </p:txBody>
                </p:sp>
                <p:sp>
                  <p:nvSpPr>
                    <p:cNvPr name="TextBox 35" id="35"/>
                    <p:cNvSpPr txBox="true"/>
                    <p:nvPr/>
                  </p:nvSpPr>
                  <p:spPr>
                    <a:xfrm>
                      <a:off x="0" y="228600"/>
                      <a:ext cx="1524000" cy="2032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false" i="false" u="none" sz="1100">
                          <a:solidFill>
                            <a:srgbClr val="9E9E9E"/>
                          </a:solidFill>
                          <a:latin typeface="Microsoft YaHei"/>
                        </a:rPr>
                        <a:t>Dec 2024 — Planned</a:t>
                      </a:r>
                    </a:p>
                  </p:txBody>
                </p:sp>
              </p:grpSp>
            </p:grpSp>
          </p:grpSp>
        </p:grpSp>
        <p:grpSp>
          <p:nvGrpSpPr>
            <p:cNvPr name="Group 36" id="36"/>
            <p:cNvGrpSpPr/>
            <p:nvPr/>
          </p:nvGrpSpPr>
          <p:grpSpPr>
            <a:xfrm>
              <a:off x="4140200" y="0"/>
              <a:ext cx="3987800" cy="3835400"/>
              <a:chOff x="0" y="0"/>
              <a:chExt cx="3987800" cy="3835400"/>
            </a:xfrm>
          </p:grpSpPr>
          <p:sp>
            <p:nvSpPr>
              <p:cNvPr name="AutoShape 37" id="37"/>
              <p:cNvSpPr/>
              <p:nvPr/>
            </p:nvSpPr>
            <p:spPr>
              <a:xfrm>
                <a:off x="0" y="0"/>
                <a:ext cx="3987800" cy="3835400"/>
              </a:xfrm>
              <a:prstGeom prst="round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38" id="38"/>
              <p:cNvGrpSpPr/>
              <p:nvPr/>
            </p:nvGrpSpPr>
            <p:grpSpPr>
              <a:xfrm>
                <a:off x="0" y="0"/>
                <a:ext cx="3987800" cy="3835400"/>
                <a:chOff x="0" y="0"/>
                <a:chExt cx="3987800" cy="3835400"/>
              </a:xfrm>
            </p:grpSpPr>
            <p:sp>
              <p:nvSpPr>
                <p:cNvPr name="TextBox 39" id="39"/>
                <p:cNvSpPr txBox="true"/>
                <p:nvPr/>
              </p:nvSpPr>
              <p:spPr>
                <a:xfrm>
                  <a:off x="190500" y="190500"/>
                  <a:ext cx="36068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2E7D32"/>
                      </a:solidFill>
                      <a:latin typeface="Microsoft YaHei"/>
                    </a:rPr>
                    <a:t>Current Sprint</a:t>
                  </a:r>
                </a:p>
              </p:txBody>
            </p:sp>
            <p:sp>
              <p:nvSpPr>
                <p:cNvPr name="TextBox 40" id="40"/>
                <p:cNvSpPr txBox="true"/>
                <p:nvPr/>
              </p:nvSpPr>
              <p:spPr>
                <a:xfrm>
                  <a:off x="190500" y="571500"/>
                  <a:ext cx="3606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Sprint 14 — Week of Oct 7</a:t>
                  </a:r>
                </a:p>
              </p:txBody>
            </p:sp>
            <p:sp>
              <p:nvSpPr>
                <p:cNvPr name="TextBox 41" id="41"/>
                <p:cNvSpPr txBox="true"/>
                <p:nvPr/>
              </p:nvSpPr>
              <p:spPr>
                <a:xfrm>
                  <a:off x="190500" y="901700"/>
                  <a:ext cx="3606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300">
                      <a:latin typeface="Microsoft YaHei"/>
                    </a:rPr>
                    <a:t>Goal:</a:t>
                  </a:r>
                  <a:r>
                    <a:rPr lang="en-US" b="false" i="false" u="none" sz="1300">
                      <a:latin typeface="Microsoft YaHei"/>
                    </a:rPr>
                    <a:t> Complete user auth module</a:t>
                  </a:r>
                </a:p>
              </p:txBody>
            </p:sp>
            <p:sp>
              <p:nvSpPr>
                <p:cNvPr name="TextBox 42" id="42"/>
                <p:cNvSpPr txBox="true"/>
                <p:nvPr/>
              </p:nvSpPr>
              <p:spPr>
                <a:xfrm>
                  <a:off x="190500" y="1231900"/>
                  <a:ext cx="3606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300">
                      <a:latin typeface="Microsoft YaHei"/>
                    </a:rPr>
                    <a:t>Tasks:</a:t>
                  </a:r>
                  <a:r>
                    <a:rPr lang="en-US" b="false" i="false" u="none" sz="1300">
                      <a:latin typeface="Microsoft YaHei"/>
                    </a:rPr>
                    <a:t> 8 remaining</a:t>
                  </a:r>
                </a:p>
              </p:txBody>
            </p:sp>
            <p:sp>
              <p:nvSpPr>
                <p:cNvPr name="TextBox 43" id="43"/>
                <p:cNvSpPr txBox="true"/>
                <p:nvPr/>
              </p:nvSpPr>
              <p:spPr>
                <a:xfrm>
                  <a:off x="190500" y="1574800"/>
                  <a:ext cx="3606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300">
                      <a:latin typeface="Microsoft YaHei"/>
                    </a:rPr>
                    <a:t>Blockers:</a:t>
                  </a:r>
                  <a:r>
                    <a:rPr lang="en-US" b="false" i="false" u="none" sz="1300">
                      <a:latin typeface="Microsoft YaHei"/>
                    </a:rPr>
                    <a:t> 1 (API dependency)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393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200">
                <a:solidFill>
                  <a:srgbClr val="1A237E"/>
                </a:solidFill>
                <a:latin typeface="Microsoft YaHei"/>
              </a:rPr>
              <a:t>Before &amp; After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27100"/>
            <a:ext cx="8128000" cy="3835400"/>
            <a:chOff x="0" y="0"/>
            <a:chExt cx="8128000" cy="38354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3987800" cy="3835400"/>
            </a:xfrm>
            <a:prstGeom prst="roundRect">
              <a:avLst/>
            </a:prstGeom>
            <a:solidFill>
              <a:srgbClr val="FFEBEE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3987800" cy="3835400"/>
              <a:chOff x="0" y="0"/>
              <a:chExt cx="3987800" cy="38354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90500"/>
                <a:ext cx="36068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solidFill>
                      <a:srgbClr val="C62828"/>
                    </a:solidFill>
                    <a:latin typeface="Microsoft YaHei"/>
                  </a:rPr>
                  <a:t>Before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190500" y="609600"/>
                <a:ext cx="3606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Response time: 850ms</a:t>
                </a:r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190500" y="952500"/>
                <a:ext cx="3606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Error rate: 2.3%</a:t>
                </a:r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190500" y="1308100"/>
                <a:ext cx="3606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Uptime: 98.5%</a:t>
                </a:r>
              </a:p>
            </p:txBody>
          </p:sp>
          <p:sp>
            <p:nvSpPr>
              <p:cNvPr name="TextBox 10" id="10"/>
              <p:cNvSpPr txBox="true"/>
              <p:nvPr/>
            </p:nvSpPr>
            <p:spPr>
              <a:xfrm>
                <a:off x="190500" y="1663700"/>
                <a:ext cx="3606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Test coverage: 45%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190500" y="2006600"/>
                <a:ext cx="3606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Deploy frequency: Monthly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4140200" y="0"/>
              <a:ext cx="3987800" cy="3835400"/>
            </a:xfrm>
            <a:prstGeom prst="roundRect">
              <a:avLst/>
            </a:prstGeom>
            <a:solidFill>
              <a:srgbClr val="E8F5E9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4140200" y="0"/>
              <a:ext cx="3987800" cy="3835400"/>
              <a:chOff x="0" y="0"/>
              <a:chExt cx="3987800" cy="38354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190500" y="190500"/>
                <a:ext cx="3606800" cy="330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1800">
                    <a:solidFill>
                      <a:srgbClr val="2E7D32"/>
                    </a:solidFill>
                    <a:latin typeface="Microsoft YaHei"/>
                  </a:rPr>
                  <a:t>After</a:t>
                </a:r>
              </a:p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190500" y="609600"/>
                <a:ext cx="3606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Response time: 120ms</a:t>
                </a:r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190500" y="952500"/>
                <a:ext cx="3606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Error rate: 0.1%</a:t>
                </a:r>
              </a:p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1308100"/>
                <a:ext cx="3606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Uptime: 99.99%</a:t>
                </a:r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1663700"/>
                <a:ext cx="36068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Test coverage: 92%</a:t>
                </a:r>
              </a:p>
            </p:txBody>
          </p:sp>
          <p:sp>
            <p:nvSpPr>
              <p:cNvPr name="TextBox 19" id="19"/>
              <p:cNvSpPr txBox="true"/>
              <p:nvPr/>
            </p:nvSpPr>
            <p:spPr>
              <a:xfrm>
                <a:off x="190500" y="2006600"/>
                <a:ext cx="36068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latin typeface="Microsoft YaHei"/>
                  </a:rPr>
                  <a:t>Deploy frequency: Daily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393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200">
                <a:solidFill>
                  <a:srgbClr val="1A237E"/>
                </a:solidFill>
                <a:latin typeface="Microsoft YaHei"/>
              </a:rPr>
              <a:t>Summary &amp; Contact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27100"/>
            <a:ext cx="8128000" cy="3835400"/>
            <a:chOff x="0" y="0"/>
            <a:chExt cx="8128000" cy="38354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8128000" cy="3289300"/>
              <a:chOff x="0" y="0"/>
              <a:chExt cx="8128000" cy="32893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3987800" cy="3289300"/>
              </a:xfrm>
              <a:prstGeom prst="round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3987800" cy="3289300"/>
                <a:chOff x="0" y="0"/>
                <a:chExt cx="3987800" cy="32893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90500" y="190500"/>
                  <a:ext cx="36068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latin typeface="Microsoft YaHei"/>
                    </a:rPr>
                    <a:t>Key Takeaways</a:t>
                  </a:r>
                </a:p>
              </p:txBody>
            </p:sp>
            <p:grpSp>
              <p:nvGrpSpPr>
                <p:cNvPr name="Group 8" id="8"/>
                <p:cNvGrpSpPr/>
                <p:nvPr/>
              </p:nvGrpSpPr>
              <p:grpSpPr>
                <a:xfrm>
                  <a:off x="190500" y="533400"/>
                  <a:ext cx="3606800" cy="1384300"/>
                  <a:chOff x="0" y="0"/>
                  <a:chExt cx="3606800" cy="1384300"/>
                </a:xfrm>
              </p:grpSpPr>
              <p:sp>
                <p:nvSpPr>
                  <p:cNvPr name="TextBox 9" id="9"/>
                  <p:cNvSpPr txBox="true"/>
                  <p:nvPr/>
                </p:nvSpPr>
                <p:spPr>
                  <a:xfrm>
                    <a:off x="0" y="0"/>
                    <a:ext cx="36068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• Revenue grew 33% quarter-over-quarter</a:t>
                    </a:r>
                  </a:p>
                </p:txBody>
              </p:sp>
              <p:sp>
                <p:nvSpPr>
                  <p:cNvPr name="TextBox 10" id="10"/>
                  <p:cNvSpPr txBox="true"/>
                  <p:nvPr/>
                </p:nvSpPr>
                <p:spPr>
                  <a:xfrm>
                    <a:off x="0" y="457200"/>
                    <a:ext cx="36068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• User base expanded to 48K+ active users</a:t>
                    </a:r>
                  </a:p>
                </p:txBody>
              </p:sp>
              <p:sp>
                <p:nvSpPr>
                  <p:cNvPr name="TextBox 11" id="11"/>
                  <p:cNvSpPr txBox="true"/>
                  <p:nvPr/>
                </p:nvSpPr>
                <p:spPr>
                  <a:xfrm>
                    <a:off x="0" y="914400"/>
                    <a:ext cx="3606800" cy="4699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• System reliability improved to 99.99%</a:t>
                    </a:r>
                  </a:p>
                </p:txBody>
              </p:sp>
            </p:grpSp>
          </p:grpSp>
          <p:sp>
            <p:nvSpPr>
              <p:cNvPr name="AutoShape 12" id="12"/>
              <p:cNvSpPr/>
              <p:nvPr/>
            </p:nvSpPr>
            <p:spPr>
              <a:xfrm>
                <a:off x="4140200" y="0"/>
                <a:ext cx="3987800" cy="3289300"/>
              </a:xfrm>
              <a:prstGeom prst="roundRect">
                <a:avLst/>
              </a:prstGeom>
              <a:solidFill>
                <a:srgbClr val="F3E5F5"/>
              </a:solidFill>
              <a:ln>
                <a:noFill/>
              </a:ln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4140200" y="0"/>
                <a:ext cx="3987800" cy="3289300"/>
                <a:chOff x="0" y="0"/>
                <a:chExt cx="3987800" cy="32893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190500" y="190500"/>
                  <a:ext cx="3606800" cy="304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latin typeface="Microsoft YaHei"/>
                    </a:rPr>
                    <a:t>Next Steps</a:t>
                  </a:r>
                </a:p>
              </p:txBody>
            </p:sp>
            <p:grpSp>
              <p:nvGrpSpPr>
                <p:cNvPr name="Group 15" id="15"/>
                <p:cNvGrpSpPr/>
                <p:nvPr/>
              </p:nvGrpSpPr>
              <p:grpSpPr>
                <a:xfrm>
                  <a:off x="190500" y="533400"/>
                  <a:ext cx="3606800" cy="698500"/>
                  <a:chOff x="0" y="0"/>
                  <a:chExt cx="3606800" cy="698500"/>
                </a:xfrm>
              </p:grpSpPr>
              <p:sp>
                <p:nvSpPr>
                  <p:cNvPr name="TextBox 16" id="16"/>
                  <p:cNvSpPr txBox="true"/>
                  <p:nvPr/>
                </p:nvSpPr>
                <p:spPr>
                  <a:xfrm>
                    <a:off x="0" y="0"/>
                    <a:ext cx="3606800" cy="2413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1. Finalize Q1 2025 roadmap</a:t>
                    </a:r>
                  </a:p>
                </p:txBody>
              </p:sp>
              <p:sp>
                <p:nvSpPr>
                  <p:cNvPr name="TextBox 17" id="17"/>
                  <p:cNvSpPr txBox="true"/>
                  <p:nvPr/>
                </p:nvSpPr>
                <p:spPr>
                  <a:xfrm>
                    <a:off x="0" y="228600"/>
                    <a:ext cx="3606800" cy="2413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2. Hire 3 additional engineers</a:t>
                    </a:r>
                  </a:p>
                </p:txBody>
              </p:sp>
              <p:sp>
                <p:nvSpPr>
                  <p:cNvPr name="TextBox 18" id="18"/>
                  <p:cNvSpPr txBox="true"/>
                  <p:nvPr/>
                </p:nvSpPr>
                <p:spPr>
                  <a:xfrm>
                    <a:off x="0" y="457200"/>
                    <a:ext cx="3606800" cy="2413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300">
                        <a:latin typeface="Microsoft YaHei"/>
                      </a:rPr>
                      <a:t>3. Launch mobile app beta</a:t>
                    </a:r>
                  </a:p>
                </p:txBody>
              </p:sp>
            </p:grpSp>
          </p:grpSp>
        </p:grpSp>
        <p:grpSp>
          <p:nvGrpSpPr>
            <p:cNvPr name="Group 19" id="19"/>
            <p:cNvGrpSpPr/>
            <p:nvPr/>
          </p:nvGrpSpPr>
          <p:grpSpPr>
            <a:xfrm>
              <a:off x="0" y="3441700"/>
              <a:ext cx="8128000" cy="393700"/>
              <a:chOff x="0" y="0"/>
              <a:chExt cx="8128000" cy="393700"/>
            </a:xfrm>
          </p:grpSpPr>
          <p:sp>
            <p:nvSpPr>
              <p:cNvPr name="TextBox 20" id="20"/>
              <p:cNvSpPr txBox="true"/>
              <p:nvPr/>
            </p:nvSpPr>
            <p:spPr>
              <a:xfrm>
                <a:off x="0" y="101600"/>
                <a:ext cx="2705100" cy="203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100">
                    <a:solidFill>
                      <a:srgbClr val="9E9E9E"/>
                    </a:solidFill>
                    <a:latin typeface="Microsoft YaHei"/>
                  </a:rPr>
                  <a:t>Confidential — Internal Use Only</a:t>
                </a:r>
              </a:p>
            </p:txBody>
          </p:sp>
          <p:sp>
            <p:nvSpPr>
              <p:cNvPr name="TextBox 21" id="21"/>
              <p:cNvSpPr txBox="true"/>
              <p:nvPr/>
            </p:nvSpPr>
            <p:spPr>
              <a:xfrm>
                <a:off x="3759200" y="101600"/>
                <a:ext cx="2120900" cy="203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100">
                    <a:solidFill>
                      <a:srgbClr val="9E9E9E"/>
                    </a:solidFill>
                    <a:latin typeface="Microsoft YaHei"/>
                  </a:rPr>
                  <a:t>Contact: team@company.com</a:t>
                </a:r>
              </a:p>
            </p:txBody>
          </p:sp>
          <p:sp>
            <p:nvSpPr>
              <p:cNvPr name="TextBox 22" id="22"/>
              <p:cNvSpPr txBox="true"/>
              <p:nvPr/>
            </p:nvSpPr>
            <p:spPr>
              <a:xfrm>
                <a:off x="6934200" y="101600"/>
                <a:ext cx="1193800" cy="2032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100">
                    <a:solidFill>
                      <a:srgbClr val="9E9E9E"/>
                    </a:solidFill>
                    <a:latin typeface="Microsoft YaHei"/>
                  </a:rPr>
                  <a:t>Q4 2024 Report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