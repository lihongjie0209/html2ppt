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358900" y="1955800"/>
            <a:ext cx="64262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Opacity &amp; RGBA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397000" y="2857500"/>
            <a:ext cx="6350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Testing transparency in backgrounds and colors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CSS Opacity Property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473200" cy="3759200"/>
              <a:chOff x="0" y="0"/>
              <a:chExt cx="14732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opacity: 1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42900"/>
                <a:ext cx="1473200" cy="800100"/>
              </a:xfrm>
              <a:prstGeom prst="roundRect">
                <a:avLst/>
              </a:prstGeom>
              <a:solidFill>
                <a:srgbClr val="2196F3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42900"/>
                <a:ext cx="1473200" cy="800100"/>
                <a:chOff x="0" y="0"/>
                <a:chExt cx="1473200" cy="8001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9652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FFFFFF"/>
                      </a:solidFill>
                      <a:latin typeface="Microsoft YaHei"/>
                    </a:rPr>
                    <a:t>100%</a:t>
                  </a:r>
                </a:p>
              </p:txBody>
            </p:sp>
          </p:grpSp>
        </p:grpSp>
        <p:grpSp>
          <p:nvGrpSpPr>
            <p:cNvPr name="Group 9" id="9"/>
            <p:cNvGrpSpPr/>
            <p:nvPr/>
          </p:nvGrpSpPr>
          <p:grpSpPr>
            <a:xfrm>
              <a:off x="1663700" y="0"/>
              <a:ext cx="1473200" cy="3759200"/>
              <a:chOff x="0" y="0"/>
              <a:chExt cx="1473200" cy="37592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opacity: 0.75</a:t>
                </a:r>
              </a:p>
            </p:txBody>
          </p:sp>
          <p:sp>
            <p:nvSpPr>
              <p:cNvPr name="AutoShape 11" id="11"/>
              <p:cNvSpPr/>
              <p:nvPr/>
            </p:nvSpPr>
            <p:spPr>
              <a:xfrm>
                <a:off x="0" y="342900"/>
                <a:ext cx="1473200" cy="800100"/>
              </a:xfrm>
              <a:prstGeom prst="roundRect">
                <a:avLst/>
              </a:prstGeom>
              <a:solidFill>
                <a:srgbClr val="2196F3">
                  <a:alpha val="74902"/>
                </a:srgbClr>
              </a:solidFill>
              <a:ln>
                <a:noFill/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342900"/>
                <a:ext cx="1473200" cy="800100"/>
                <a:chOff x="0" y="0"/>
                <a:chExt cx="1473200" cy="8001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254000" y="254000"/>
                  <a:ext cx="9652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FFFFFF"/>
                      </a:solidFill>
                      <a:latin typeface="Microsoft YaHei"/>
                    </a:rPr>
                    <a:t>75%</a:t>
                  </a:r>
                </a:p>
              </p:txBody>
            </p:sp>
          </p:grpSp>
        </p:grpSp>
        <p:grpSp>
          <p:nvGrpSpPr>
            <p:cNvPr name="Group 14" id="14"/>
            <p:cNvGrpSpPr/>
            <p:nvPr/>
          </p:nvGrpSpPr>
          <p:grpSpPr>
            <a:xfrm>
              <a:off x="3327400" y="0"/>
              <a:ext cx="1473200" cy="3759200"/>
              <a:chOff x="0" y="0"/>
              <a:chExt cx="1473200" cy="37592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opacity: 0.5</a:t>
                </a:r>
              </a:p>
            </p:txBody>
          </p:sp>
          <p:sp>
            <p:nvSpPr>
              <p:cNvPr name="AutoShape 16" id="16"/>
              <p:cNvSpPr/>
              <p:nvPr/>
            </p:nvSpPr>
            <p:spPr>
              <a:xfrm>
                <a:off x="0" y="342900"/>
                <a:ext cx="1473200" cy="800100"/>
              </a:xfrm>
              <a:prstGeom prst="roundRect">
                <a:avLst/>
              </a:prstGeom>
              <a:solidFill>
                <a:srgbClr val="2196F3">
                  <a:alpha val="50196"/>
                </a:srgbClr>
              </a:solidFill>
              <a:ln>
                <a:noFill/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342900"/>
                <a:ext cx="1473200" cy="800100"/>
                <a:chOff x="0" y="0"/>
                <a:chExt cx="1473200" cy="800100"/>
              </a:xfrm>
            </p:grpSpPr>
            <p:sp>
              <p:nvSpPr>
                <p:cNvPr name="TextBox 18" id="18"/>
                <p:cNvSpPr txBox="true"/>
                <p:nvPr/>
              </p:nvSpPr>
              <p:spPr>
                <a:xfrm>
                  <a:off x="254000" y="254000"/>
                  <a:ext cx="9652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FFFFFF"/>
                      </a:solidFill>
                      <a:latin typeface="Microsoft YaHei"/>
                    </a:rPr>
                    <a:t>50%</a:t>
                  </a:r>
                </a:p>
              </p:txBody>
            </p:sp>
          </p:grpSp>
        </p:grpSp>
        <p:grpSp>
          <p:nvGrpSpPr>
            <p:cNvPr name="Group 19" id="19"/>
            <p:cNvGrpSpPr/>
            <p:nvPr/>
          </p:nvGrpSpPr>
          <p:grpSpPr>
            <a:xfrm>
              <a:off x="4991100" y="0"/>
              <a:ext cx="1473200" cy="3759200"/>
              <a:chOff x="0" y="0"/>
              <a:chExt cx="1473200" cy="3759200"/>
            </a:xfrm>
          </p:grpSpPr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opacity: 0.25</a:t>
                </a:r>
              </a:p>
            </p:txBody>
          </p:sp>
          <p:sp>
            <p:nvSpPr>
              <p:cNvPr name="AutoShape 21" id="21"/>
              <p:cNvSpPr/>
              <p:nvPr/>
            </p:nvSpPr>
            <p:spPr>
              <a:xfrm>
                <a:off x="0" y="342900"/>
                <a:ext cx="1473200" cy="800100"/>
              </a:xfrm>
              <a:prstGeom prst="roundRect">
                <a:avLst/>
              </a:prstGeom>
              <a:solidFill>
                <a:srgbClr val="2196F3">
                  <a:alpha val="25098"/>
                </a:srgbClr>
              </a:solidFill>
              <a:ln>
                <a:noFill/>
              </a:ln>
            </p:spPr>
          </p:sp>
          <p:grpSp>
            <p:nvGrpSpPr>
              <p:cNvPr name="Group 22" id="22"/>
              <p:cNvGrpSpPr/>
              <p:nvPr/>
            </p:nvGrpSpPr>
            <p:grpSpPr>
              <a:xfrm>
                <a:off x="0" y="342900"/>
                <a:ext cx="1473200" cy="800100"/>
                <a:chOff x="0" y="0"/>
                <a:chExt cx="1473200" cy="800100"/>
              </a:xfrm>
            </p:grpSpPr>
            <p:sp>
              <p:nvSpPr>
                <p:cNvPr name="TextBox 23" id="23"/>
                <p:cNvSpPr txBox="true"/>
                <p:nvPr/>
              </p:nvSpPr>
              <p:spPr>
                <a:xfrm>
                  <a:off x="254000" y="254000"/>
                  <a:ext cx="9652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333333"/>
                      </a:solidFill>
                      <a:latin typeface="Microsoft YaHei"/>
                    </a:rPr>
                    <a:t>25%</a:t>
                  </a:r>
                </a:p>
              </p:txBody>
            </p:sp>
          </p:grpSp>
        </p:grpSp>
        <p:grpSp>
          <p:nvGrpSpPr>
            <p:cNvPr name="Group 24" id="24"/>
            <p:cNvGrpSpPr/>
            <p:nvPr/>
          </p:nvGrpSpPr>
          <p:grpSpPr>
            <a:xfrm>
              <a:off x="6654800" y="0"/>
              <a:ext cx="1473200" cy="3759200"/>
              <a:chOff x="0" y="0"/>
              <a:chExt cx="1473200" cy="3759200"/>
            </a:xfrm>
          </p:grpSpPr>
          <p:sp>
            <p:nvSpPr>
              <p:cNvPr name="TextBox 25" id="25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opacity: 0.1</a:t>
                </a:r>
              </a:p>
            </p:txBody>
          </p:sp>
          <p:sp>
            <p:nvSpPr>
              <p:cNvPr name="AutoShape 26" id="26"/>
              <p:cNvSpPr/>
              <p:nvPr/>
            </p:nvSpPr>
            <p:spPr>
              <a:xfrm>
                <a:off x="0" y="342900"/>
                <a:ext cx="1473200" cy="800100"/>
              </a:xfrm>
              <a:prstGeom prst="roundRect">
                <a:avLst/>
              </a:prstGeom>
              <a:solidFill>
                <a:srgbClr val="2196F3">
                  <a:alpha val="10196"/>
                </a:srgbClr>
              </a:solidFill>
              <a:ln>
                <a:noFill/>
              </a:ln>
            </p:spPr>
          </p:sp>
          <p:grpSp>
            <p:nvGrpSpPr>
              <p:cNvPr name="Group 27" id="27"/>
              <p:cNvGrpSpPr/>
              <p:nvPr/>
            </p:nvGrpSpPr>
            <p:grpSpPr>
              <a:xfrm>
                <a:off x="0" y="342900"/>
                <a:ext cx="1473200" cy="800100"/>
                <a:chOff x="0" y="0"/>
                <a:chExt cx="1473200" cy="800100"/>
              </a:xfrm>
            </p:grpSpPr>
            <p:sp>
              <p:nvSpPr>
                <p:cNvPr name="TextBox 28" id="28"/>
                <p:cNvSpPr txBox="true"/>
                <p:nvPr/>
              </p:nvSpPr>
              <p:spPr>
                <a:xfrm>
                  <a:off x="254000" y="254000"/>
                  <a:ext cx="9652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333333"/>
                      </a:solidFill>
                      <a:latin typeface="Microsoft YaHei"/>
                    </a:rPr>
                    <a:t>10%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RGBA Background Colors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473200" cy="3759200"/>
              <a:chOff x="0" y="0"/>
              <a:chExt cx="14732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473200" cy="4445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rgba(76,175,80,1)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558800"/>
                <a:ext cx="1473200" cy="1079500"/>
              </a:xfrm>
              <a:prstGeom prst="roundRect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558800"/>
                <a:ext cx="1473200" cy="1079500"/>
                <a:chOff x="0" y="0"/>
                <a:chExt cx="1473200" cy="10795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9652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FFFFFF"/>
                      </a:solidFill>
                      <a:latin typeface="Microsoft YaHei"/>
                    </a:rPr>
                    <a:t>Alpha 1.0</a:t>
                  </a:r>
                </a:p>
              </p:txBody>
            </p:sp>
          </p:grpSp>
        </p:grpSp>
        <p:grpSp>
          <p:nvGrpSpPr>
            <p:cNvPr name="Group 9" id="9"/>
            <p:cNvGrpSpPr/>
            <p:nvPr/>
          </p:nvGrpSpPr>
          <p:grpSpPr>
            <a:xfrm>
              <a:off x="1663700" y="0"/>
              <a:ext cx="1473200" cy="3759200"/>
              <a:chOff x="0" y="0"/>
              <a:chExt cx="1473200" cy="37592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rgba(...,0.75)</a:t>
                </a:r>
              </a:p>
            </p:txBody>
          </p:sp>
          <p:sp>
            <p:nvSpPr>
              <p:cNvPr name="AutoShape 11" id="11"/>
              <p:cNvSpPr/>
              <p:nvPr/>
            </p:nvSpPr>
            <p:spPr>
              <a:xfrm>
                <a:off x="0" y="342900"/>
                <a:ext cx="1473200" cy="1079500"/>
              </a:xfrm>
              <a:prstGeom prst="roundRect">
                <a:avLst/>
              </a:prstGeom>
              <a:solidFill>
                <a:srgbClr val="4CAF50">
                  <a:alpha val="74902"/>
                </a:srgbClr>
              </a:solidFill>
              <a:ln>
                <a:noFill/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342900"/>
                <a:ext cx="1473200" cy="1079500"/>
                <a:chOff x="0" y="0"/>
                <a:chExt cx="1473200" cy="10795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254000" y="254000"/>
                  <a:ext cx="9652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FFFFFF"/>
                      </a:solidFill>
                      <a:latin typeface="Microsoft YaHei"/>
                    </a:rPr>
                    <a:t>Alpha 0.75</a:t>
                  </a:r>
                </a:p>
              </p:txBody>
            </p:sp>
          </p:grpSp>
        </p:grpSp>
        <p:grpSp>
          <p:nvGrpSpPr>
            <p:cNvPr name="Group 14" id="14"/>
            <p:cNvGrpSpPr/>
            <p:nvPr/>
          </p:nvGrpSpPr>
          <p:grpSpPr>
            <a:xfrm>
              <a:off x="3327400" y="0"/>
              <a:ext cx="1473200" cy="3759200"/>
              <a:chOff x="0" y="0"/>
              <a:chExt cx="1473200" cy="37592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rgba(...,0.5)</a:t>
                </a:r>
              </a:p>
            </p:txBody>
          </p:sp>
          <p:sp>
            <p:nvSpPr>
              <p:cNvPr name="AutoShape 16" id="16"/>
              <p:cNvSpPr/>
              <p:nvPr/>
            </p:nvSpPr>
            <p:spPr>
              <a:xfrm>
                <a:off x="0" y="342900"/>
                <a:ext cx="1473200" cy="1079500"/>
              </a:xfrm>
              <a:prstGeom prst="roundRect">
                <a:avLst/>
              </a:prstGeom>
              <a:solidFill>
                <a:srgbClr val="4CAF50">
                  <a:alpha val="50196"/>
                </a:srgbClr>
              </a:solidFill>
              <a:ln>
                <a:noFill/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342900"/>
                <a:ext cx="1473200" cy="1079500"/>
                <a:chOff x="0" y="0"/>
                <a:chExt cx="1473200" cy="1079500"/>
              </a:xfrm>
            </p:grpSpPr>
            <p:sp>
              <p:nvSpPr>
                <p:cNvPr name="TextBox 18" id="18"/>
                <p:cNvSpPr txBox="true"/>
                <p:nvPr/>
              </p:nvSpPr>
              <p:spPr>
                <a:xfrm>
                  <a:off x="254000" y="254000"/>
                  <a:ext cx="9652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333333"/>
                      </a:solidFill>
                      <a:latin typeface="Microsoft YaHei"/>
                    </a:rPr>
                    <a:t>Alpha 0.5</a:t>
                  </a:r>
                </a:p>
              </p:txBody>
            </p:sp>
          </p:grpSp>
        </p:grpSp>
        <p:grpSp>
          <p:nvGrpSpPr>
            <p:cNvPr name="Group 19" id="19"/>
            <p:cNvGrpSpPr/>
            <p:nvPr/>
          </p:nvGrpSpPr>
          <p:grpSpPr>
            <a:xfrm>
              <a:off x="4991100" y="0"/>
              <a:ext cx="1473200" cy="3759200"/>
              <a:chOff x="0" y="0"/>
              <a:chExt cx="1473200" cy="3759200"/>
            </a:xfrm>
          </p:grpSpPr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rgba(...,0.25)</a:t>
                </a:r>
              </a:p>
            </p:txBody>
          </p:sp>
          <p:sp>
            <p:nvSpPr>
              <p:cNvPr name="AutoShape 21" id="21"/>
              <p:cNvSpPr/>
              <p:nvPr/>
            </p:nvSpPr>
            <p:spPr>
              <a:xfrm>
                <a:off x="0" y="342900"/>
                <a:ext cx="1473200" cy="1079500"/>
              </a:xfrm>
              <a:prstGeom prst="roundRect">
                <a:avLst/>
              </a:prstGeom>
              <a:solidFill>
                <a:srgbClr val="4CAF50">
                  <a:alpha val="25098"/>
                </a:srgbClr>
              </a:solidFill>
              <a:ln>
                <a:noFill/>
              </a:ln>
            </p:spPr>
          </p:sp>
          <p:grpSp>
            <p:nvGrpSpPr>
              <p:cNvPr name="Group 22" id="22"/>
              <p:cNvGrpSpPr/>
              <p:nvPr/>
            </p:nvGrpSpPr>
            <p:grpSpPr>
              <a:xfrm>
                <a:off x="0" y="342900"/>
                <a:ext cx="1473200" cy="1079500"/>
                <a:chOff x="0" y="0"/>
                <a:chExt cx="1473200" cy="1079500"/>
              </a:xfrm>
            </p:grpSpPr>
            <p:sp>
              <p:nvSpPr>
                <p:cNvPr name="TextBox 23" id="23"/>
                <p:cNvSpPr txBox="true"/>
                <p:nvPr/>
              </p:nvSpPr>
              <p:spPr>
                <a:xfrm>
                  <a:off x="254000" y="254000"/>
                  <a:ext cx="9652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333333"/>
                      </a:solidFill>
                      <a:latin typeface="Microsoft YaHei"/>
                    </a:rPr>
                    <a:t>Alpha 0.25</a:t>
                  </a:r>
                </a:p>
              </p:txBody>
            </p:sp>
          </p:grpSp>
        </p:grpSp>
        <p:grpSp>
          <p:nvGrpSpPr>
            <p:cNvPr name="Group 24" id="24"/>
            <p:cNvGrpSpPr/>
            <p:nvPr/>
          </p:nvGrpSpPr>
          <p:grpSpPr>
            <a:xfrm>
              <a:off x="6654800" y="0"/>
              <a:ext cx="1473200" cy="3759200"/>
              <a:chOff x="0" y="0"/>
              <a:chExt cx="1473200" cy="3759200"/>
            </a:xfrm>
          </p:grpSpPr>
          <p:sp>
            <p:nvSpPr>
              <p:cNvPr name="TextBox 25" id="25"/>
              <p:cNvSpPr txBox="true"/>
              <p:nvPr/>
            </p:nvSpPr>
            <p:spPr>
              <a:xfrm>
                <a:off x="0" y="0"/>
                <a:ext cx="14732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rgba(...,0.1)</a:t>
                </a:r>
              </a:p>
            </p:txBody>
          </p:sp>
          <p:sp>
            <p:nvSpPr>
              <p:cNvPr name="AutoShape 26" id="26"/>
              <p:cNvSpPr/>
              <p:nvPr/>
            </p:nvSpPr>
            <p:spPr>
              <a:xfrm>
                <a:off x="0" y="342900"/>
                <a:ext cx="1473200" cy="1079500"/>
              </a:xfrm>
              <a:prstGeom prst="roundRect">
                <a:avLst/>
              </a:prstGeom>
              <a:solidFill>
                <a:srgbClr val="4CAF50">
                  <a:alpha val="10196"/>
                </a:srgbClr>
              </a:solidFill>
              <a:ln>
                <a:noFill/>
              </a:ln>
            </p:spPr>
          </p:sp>
          <p:grpSp>
            <p:nvGrpSpPr>
              <p:cNvPr name="Group 27" id="27"/>
              <p:cNvGrpSpPr/>
              <p:nvPr/>
            </p:nvGrpSpPr>
            <p:grpSpPr>
              <a:xfrm>
                <a:off x="0" y="342900"/>
                <a:ext cx="1473200" cy="1079500"/>
                <a:chOff x="0" y="0"/>
                <a:chExt cx="1473200" cy="1079500"/>
              </a:xfrm>
            </p:grpSpPr>
            <p:sp>
              <p:nvSpPr>
                <p:cNvPr name="TextBox 28" id="28"/>
                <p:cNvSpPr txBox="true"/>
                <p:nvPr/>
              </p:nvSpPr>
              <p:spPr>
                <a:xfrm>
                  <a:off x="254000" y="254000"/>
                  <a:ext cx="9652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333333"/>
                      </a:solidFill>
                      <a:latin typeface="Microsoft YaHei"/>
                    </a:rPr>
                    <a:t>Alpha 0.1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Transparent Background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75100" cy="3759200"/>
              <a:chOff x="0" y="0"/>
              <a:chExt cx="39751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9751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background: transparent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42900"/>
                <a:ext cx="3975100" cy="800100"/>
              </a:xfrm>
              <a:prstGeom prst="roundRect">
                <a:avLst/>
              </a:prstGeom>
              <a:noFill/>
              <a:ln w="25400">
                <a:solidFill>
                  <a:srgbClr val="9C27B0"/>
                </a:solidFill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42900"/>
                <a:ext cx="3975100" cy="800100"/>
                <a:chOff x="0" y="0"/>
                <a:chExt cx="3975100" cy="8001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34671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solidFill>
                        <a:srgbClr val="333333"/>
                      </a:solidFill>
                      <a:latin typeface="Microsoft YaHei"/>
                    </a:rPr>
                    <a:t>Border only, no fill</a:t>
                  </a:r>
                </a:p>
              </p:txBody>
            </p:sp>
          </p:grpSp>
        </p:grpSp>
        <p:grpSp>
          <p:nvGrpSpPr>
            <p:cNvPr name="Group 9" id="9"/>
            <p:cNvGrpSpPr/>
            <p:nvPr/>
          </p:nvGrpSpPr>
          <p:grpSpPr>
            <a:xfrm>
              <a:off x="4165600" y="0"/>
              <a:ext cx="3962400" cy="3759200"/>
              <a:chOff x="0" y="0"/>
              <a:chExt cx="3962400" cy="37592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39751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Overlay with rgba(0,0,0,0.5)</a:t>
                </a:r>
              </a:p>
            </p:txBody>
          </p:sp>
          <p:grpSp>
            <p:nvGrpSpPr>
              <p:cNvPr name="Group 11" id="11"/>
              <p:cNvGrpSpPr/>
              <p:nvPr/>
            </p:nvGrpSpPr>
            <p:grpSpPr>
              <a:xfrm>
                <a:off x="0" y="342900"/>
                <a:ext cx="3962400" cy="3429000"/>
                <a:chOff x="0" y="0"/>
                <a:chExt cx="3962400" cy="3429000"/>
              </a:xfrm>
            </p:grpSpPr>
            <p:sp>
              <p:nvSpPr>
                <p:cNvPr name="AutoShape 12" id="12"/>
                <p:cNvSpPr/>
                <p:nvPr/>
              </p:nvSpPr>
              <p:spPr>
                <a:xfrm>
                  <a:off x="0" y="0"/>
                  <a:ext cx="2222500" cy="3429000"/>
                </a:xfrm>
                <a:prstGeom prst="roundRect">
                  <a:avLst/>
                </a:prstGeom>
                <a:solidFill>
                  <a:srgbClr val="000000">
                    <a:alpha val="50196"/>
                  </a:srgbClr>
                </a:solidFill>
                <a:ln>
                  <a:noFill/>
                </a:ln>
              </p:spPr>
            </p:sp>
            <p:grpSp>
              <p:nvGrpSpPr>
                <p:cNvPr name="Group 13" id="13"/>
                <p:cNvGrpSpPr/>
                <p:nvPr/>
              </p:nvGrpSpPr>
              <p:grpSpPr>
                <a:xfrm>
                  <a:off x="0" y="0"/>
                  <a:ext cx="2222500" cy="3429000"/>
                  <a:chOff x="0" y="0"/>
                  <a:chExt cx="2222500" cy="3429000"/>
                </a:xfrm>
              </p:grpSpPr>
              <p:sp>
                <p:nvSpPr>
                  <p:cNvPr name="TextBox 14" id="14"/>
                  <p:cNvSpPr txBox="true"/>
                  <p:nvPr/>
                </p:nvSpPr>
                <p:spPr>
                  <a:xfrm>
                    <a:off x="368300" y="1460500"/>
                    <a:ext cx="1498600" cy="2921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600">
                        <a:solidFill>
                          <a:srgbClr val="FFFFFF"/>
                        </a:solidFill>
                        <a:latin typeface="Microsoft YaHei"/>
                      </a:rPr>
                      <a:t>Dark Overlay</a:t>
                    </a:r>
                  </a:p>
                </p:txBody>
              </p:sp>
              <p:sp>
                <p:nvSpPr>
                  <p:cNvPr name="TextBox 15" id="15"/>
                  <p:cNvSpPr txBox="true"/>
                  <p:nvPr/>
                </p:nvSpPr>
                <p:spPr>
                  <a:xfrm>
                    <a:off x="190500" y="1739900"/>
                    <a:ext cx="1854200" cy="215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50% black background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Practical Use Cases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75100" cy="3759200"/>
              <a:chOff x="0" y="0"/>
              <a:chExt cx="39751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9751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Shadow Effect with RGBA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342900"/>
                <a:ext cx="3975100" cy="3429000"/>
                <a:chOff x="0" y="0"/>
                <a:chExt cx="3975100" cy="3429000"/>
              </a:xfrm>
            </p:grpSpPr>
            <p:sp>
              <p:nvSpPr>
                <p:cNvPr name="AutoShape 7" id="7"/>
                <p:cNvSpPr/>
                <p:nvPr/>
              </p:nvSpPr>
              <p:spPr>
                <a:xfrm>
                  <a:off x="0" y="0"/>
                  <a:ext cx="3975100" cy="1397000"/>
                </a:xfrm>
                <a:prstGeom prst="roundRect">
                  <a:avLst/>
                </a:prstGeom>
                <a:solidFill>
                  <a:srgbClr val="000000">
                    <a:alpha val="10196"/>
                  </a:srgbClr>
                </a:solidFill>
                <a:ln>
                  <a:noFill/>
                </a:ln>
              </p:spPr>
            </p:sp>
            <p:grpSp>
              <p:nvGrpSpPr>
                <p:cNvPr name="Group 8" id="8"/>
                <p:cNvGrpSpPr/>
                <p:nvPr/>
              </p:nvGrpSpPr>
              <p:grpSpPr>
                <a:xfrm>
                  <a:off x="0" y="0"/>
                  <a:ext cx="3975100" cy="1397000"/>
                  <a:chOff x="0" y="0"/>
                  <a:chExt cx="3975100" cy="1397000"/>
                </a:xfrm>
              </p:grpSpPr>
              <p:sp>
                <p:nvSpPr>
                  <p:cNvPr name="AutoShape 9" id="9"/>
                  <p:cNvSpPr/>
                  <p:nvPr/>
                </p:nvSpPr>
                <p:spPr>
                  <a:xfrm>
                    <a:off x="254000" y="254000"/>
                    <a:ext cx="3467100" cy="889000"/>
                  </a:xfrm>
                  <a:prstGeom prst="round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E0E0E0"/>
                    </a:solidFill>
                  </a:ln>
                </p:spPr>
              </p:sp>
              <p:grpSp>
                <p:nvGrpSpPr>
                  <p:cNvPr name="Group 10" id="10"/>
                  <p:cNvGrpSpPr/>
                  <p:nvPr/>
                </p:nvGrpSpPr>
                <p:grpSpPr>
                  <a:xfrm>
                    <a:off x="254000" y="254000"/>
                    <a:ext cx="3467100" cy="889000"/>
                    <a:chOff x="0" y="0"/>
                    <a:chExt cx="3467100" cy="889000"/>
                  </a:xfrm>
                </p:grpSpPr>
                <p:sp>
                  <p:nvSpPr>
                    <p:cNvPr name="TextBox 11" id="11"/>
                    <p:cNvSpPr txBox="true"/>
                    <p:nvPr/>
                  </p:nvSpPr>
                  <p:spPr>
                    <a:xfrm>
                      <a:off x="190500" y="190500"/>
                      <a:ext cx="3086100" cy="2921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600">
                          <a:solidFill>
                            <a:srgbClr val="333333"/>
                          </a:solidFill>
                          <a:latin typeface="Microsoft YaHei"/>
                        </a:rPr>
                        <a:t>Card with Shadow</a:t>
                      </a:r>
                    </a:p>
                  </p:txBody>
                </p:sp>
                <p:sp>
                  <p:nvSpPr>
                    <p:cNvPr name="TextBox 12" id="12"/>
                    <p:cNvSpPr txBox="true"/>
                    <p:nvPr/>
                  </p:nvSpPr>
                  <p:spPr>
                    <a:xfrm>
                      <a:off x="190500" y="469900"/>
                      <a:ext cx="3086100" cy="2286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 sz="1200">
                          <a:solidFill>
                            <a:srgbClr val="757575"/>
                          </a:solidFill>
                          <a:latin typeface="Microsoft YaHei"/>
                        </a:rPr>
                        <a:t>The rgba shadow creates depth</a:t>
                      </a:r>
                    </a:p>
                  </p:txBody>
                </p:sp>
              </p:grpSp>
            </p:grpSp>
          </p:grpSp>
        </p:grpSp>
        <p:grpSp>
          <p:nvGrpSpPr>
            <p:cNvPr name="Group 13" id="13"/>
            <p:cNvGrpSpPr/>
            <p:nvPr/>
          </p:nvGrpSpPr>
          <p:grpSpPr>
            <a:xfrm>
              <a:off x="4165600" y="0"/>
              <a:ext cx="3962400" cy="3759200"/>
              <a:chOff x="0" y="0"/>
              <a:chExt cx="3962400" cy="37592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39751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Gradient-like Effect</a:t>
                </a:r>
              </a:p>
            </p:txBody>
          </p:sp>
          <p:grpSp>
            <p:nvGrpSpPr>
              <p:cNvPr name="Group 15" id="15"/>
              <p:cNvGrpSpPr/>
              <p:nvPr/>
            </p:nvGrpSpPr>
            <p:grpSpPr>
              <a:xfrm>
                <a:off x="0" y="342900"/>
                <a:ext cx="3962400" cy="3429000"/>
                <a:chOff x="0" y="0"/>
                <a:chExt cx="3962400" cy="3429000"/>
              </a:xfrm>
            </p:grpSpPr>
            <p:sp>
              <p:nvSpPr>
                <p:cNvPr name="AutoShape 16" id="16"/>
                <p:cNvSpPr/>
                <p:nvPr/>
              </p:nvSpPr>
              <p:spPr>
                <a:xfrm>
                  <a:off x="0" y="0"/>
                  <a:ext cx="3962400" cy="762000"/>
                </a:xfrm>
                <a:prstGeom prst="rect">
                  <a:avLst/>
                </a:prstGeom>
                <a:solidFill>
                  <a:srgbClr val="9C27B0">
                    <a:alpha val="90196"/>
                  </a:srgbClr>
                </a:solidFill>
                <a:ln>
                  <a:noFill/>
                </a:ln>
              </p:spPr>
            </p:sp>
            <p:grpSp>
              <p:nvGrpSpPr>
                <p:cNvPr name="Group 17" id="17"/>
                <p:cNvGrpSpPr/>
                <p:nvPr/>
              </p:nvGrpSpPr>
              <p:grpSpPr>
                <a:xfrm>
                  <a:off x="0" y="0"/>
                  <a:ext cx="3962400" cy="762000"/>
                  <a:chOff x="0" y="0"/>
                  <a:chExt cx="3962400" cy="762000"/>
                </a:xfrm>
              </p:grpSpPr>
              <p:sp>
                <p:nvSpPr>
                  <p:cNvPr name="TextBox 18" id="18"/>
                  <p:cNvSpPr txBox="true"/>
                  <p:nvPr/>
                </p:nvSpPr>
                <p:spPr>
                  <a:xfrm>
                    <a:off x="254000" y="254000"/>
                    <a:ext cx="34671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pPr algn="ctr"/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90% Opacity</a:t>
                    </a:r>
                  </a:p>
                </p:txBody>
              </p:sp>
            </p:grpSp>
            <p:sp>
              <p:nvSpPr>
                <p:cNvPr name="AutoShape 19" id="19"/>
                <p:cNvSpPr/>
                <p:nvPr/>
              </p:nvSpPr>
              <p:spPr>
                <a:xfrm>
                  <a:off x="0" y="762000"/>
                  <a:ext cx="3962400" cy="762000"/>
                </a:xfrm>
                <a:prstGeom prst="rect">
                  <a:avLst/>
                </a:prstGeom>
                <a:solidFill>
                  <a:srgbClr val="9C27B0">
                    <a:alpha val="50196"/>
                  </a:srgbClr>
                </a:solidFill>
                <a:ln>
                  <a:noFill/>
                </a:ln>
              </p:spPr>
            </p:sp>
            <p:grpSp>
              <p:nvGrpSpPr>
                <p:cNvPr name="Group 20" id="20"/>
                <p:cNvGrpSpPr/>
                <p:nvPr/>
              </p:nvGrpSpPr>
              <p:grpSpPr>
                <a:xfrm>
                  <a:off x="0" y="762000"/>
                  <a:ext cx="3962400" cy="762000"/>
                  <a:chOff x="0" y="0"/>
                  <a:chExt cx="3962400" cy="762000"/>
                </a:xfrm>
              </p:grpSpPr>
              <p:sp>
                <p:nvSpPr>
                  <p:cNvPr name="TextBox 21" id="21"/>
                  <p:cNvSpPr txBox="true"/>
                  <p:nvPr/>
                </p:nvSpPr>
                <p:spPr>
                  <a:xfrm>
                    <a:off x="254000" y="254000"/>
                    <a:ext cx="34671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pPr algn="ctr"/>
                    <a:r>
                      <a:rPr lang="en-US" b="false" i="false" u="none" sz="1400">
                        <a:solidFill>
                          <a:srgbClr val="333333"/>
                        </a:solidFill>
                        <a:latin typeface="Microsoft YaHei"/>
                      </a:rPr>
                      <a:t>50% Opacity</a:t>
                    </a:r>
                  </a:p>
                </p:txBody>
              </p:sp>
            </p:grpSp>
            <p:sp>
              <p:nvSpPr>
                <p:cNvPr name="AutoShape 22" id="22"/>
                <p:cNvSpPr/>
                <p:nvPr/>
              </p:nvSpPr>
              <p:spPr>
                <a:xfrm>
                  <a:off x="0" y="1511300"/>
                  <a:ext cx="3962400" cy="749300"/>
                </a:xfrm>
                <a:prstGeom prst="rect">
                  <a:avLst/>
                </a:prstGeom>
                <a:solidFill>
                  <a:srgbClr val="9C27B0">
                    <a:alpha val="20000"/>
                  </a:srgbClr>
                </a:solidFill>
                <a:ln>
                  <a:noFill/>
                </a:ln>
              </p:spPr>
            </p:sp>
            <p:grpSp>
              <p:nvGrpSpPr>
                <p:cNvPr name="Group 23" id="23"/>
                <p:cNvGrpSpPr/>
                <p:nvPr/>
              </p:nvGrpSpPr>
              <p:grpSpPr>
                <a:xfrm>
                  <a:off x="0" y="1511300"/>
                  <a:ext cx="3962400" cy="749300"/>
                  <a:chOff x="0" y="0"/>
                  <a:chExt cx="3962400" cy="749300"/>
                </a:xfrm>
              </p:grpSpPr>
              <p:sp>
                <p:nvSpPr>
                  <p:cNvPr name="TextBox 24" id="24"/>
                  <p:cNvSpPr txBox="true"/>
                  <p:nvPr/>
                </p:nvSpPr>
                <p:spPr>
                  <a:xfrm>
                    <a:off x="254000" y="254000"/>
                    <a:ext cx="34671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pPr algn="ctr"/>
                    <a:r>
                      <a:rPr lang="en-US" b="false" i="false" u="none" sz="1400">
                        <a:solidFill>
                          <a:srgbClr val="666666"/>
                        </a:solidFill>
                        <a:latin typeface="Microsoft YaHei"/>
                      </a:rPr>
                      <a:t>20% Opacity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