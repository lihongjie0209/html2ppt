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854200" y="1955800"/>
            <a:ext cx="5435600" cy="711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4000">
                <a:solidFill>
                  <a:srgbClr val="FFFFFF"/>
                </a:solidFill>
                <a:latin typeface="Microsoft YaHei"/>
              </a:rPr>
              <a:t>Code Blocks Test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600200" y="2857500"/>
            <a:ext cx="59436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solidFill>
                  <a:srgbClr val="90A4AE"/>
                </a:solidFill>
                <a:latin typeface="Microsoft YaHei"/>
              </a:rPr>
              <a:t>Testing &lt;pre&gt;&lt;code&gt; rendering in PowerPoint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JavaScript Example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990600"/>
            <a:ext cx="8128000" cy="2095500"/>
          </a:xfrm>
          <a:prstGeom prst="rect">
            <a:avLst/>
          </a:prstGeom>
          <a:solidFill>
            <a:srgbClr val="282C34"/>
          </a:solidFill>
        </p:spPr>
        <p:txBody>
          <a:bodyPr anchor="t" rtlCol="false" lIns="0" rIns="0" tIns="0" bIns="0" wrap="square"/>
          <a:lstStyle/>
          <a:p>
            <a:r>
              <a:rPr lang="en-US" b="false" i="false" u="none" sz="1200">
                <a:latin typeface="Consolas"/>
              </a:rPr>
              <a:t>function greet(name) {
    const message = `Hello, ${name}!`;
    console.log(message);
    return message;
}
// Call the function
greet("World");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Python Example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990600"/>
            <a:ext cx="8128000" cy="2311400"/>
          </a:xfrm>
          <a:prstGeom prst="rect">
            <a:avLst/>
          </a:prstGeom>
          <a:solidFill>
            <a:srgbClr val="282C34"/>
          </a:solidFill>
        </p:spPr>
        <p:txBody>
          <a:bodyPr anchor="t" rtlCol="false" lIns="0" rIns="0" tIns="0" bIns="0" wrap="square"/>
          <a:lstStyle/>
          <a:p>
            <a:r>
              <a:rPr lang="en-US" b="false" i="false" u="none" sz="1200">
                <a:latin typeface="Consolas"/>
              </a:rPr>
              <a:t>def calculate_fibonacci(n):
    """Calculate the nth Fibonacci number."""
    if n &lt;= 1:
        return n
    return calculate_fibonacci(n-1) + calculate_fibonacci(n-2)
# Print first 10 numbers
for i in range(10):
    print(calculate_fibonacci(i))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Comparison: Before &amp; After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03300"/>
            <a:ext cx="8128000" cy="3759200"/>
            <a:chOff x="0" y="0"/>
            <a:chExt cx="8128000" cy="37592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3937000" cy="3759200"/>
              <a:chOff x="0" y="0"/>
              <a:chExt cx="3937000" cy="37592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39370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Before (verbose)</a:t>
                </a:r>
              </a:p>
            </p:txBody>
          </p:sp>
          <p:sp>
            <p:nvSpPr>
              <p:cNvPr name="TextBox 6" id="6"/>
              <p:cNvSpPr txBox="true"/>
              <p:nvPr/>
            </p:nvSpPr>
            <p:spPr>
              <a:xfrm>
                <a:off x="0" y="368300"/>
                <a:ext cx="3937000" cy="1879600"/>
              </a:xfrm>
              <a:prstGeom prst="rect">
                <a:avLst/>
              </a:prstGeom>
              <a:solidFill>
                <a:srgbClr val="282C34"/>
              </a:solidFill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latin typeface="Consolas"/>
                  </a:rPr>
                  <a:t>const numbers = [1, 2, 3, 4, 5];
const doubled = [];
for (let i = 0; i &lt; numbers.length; i++) {
    doubled.push(numbers[i] * 2);
}
console.log(doubled);</a:t>
                </a: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>
              <a:off x="4191000" y="0"/>
              <a:ext cx="3937000" cy="3759200"/>
              <a:chOff x="0" y="0"/>
              <a:chExt cx="3937000" cy="3759200"/>
            </a:xfrm>
          </p:grpSpPr>
          <p:sp>
            <p:nvSpPr>
              <p:cNvPr name="TextBox 8" id="8"/>
              <p:cNvSpPr txBox="true"/>
              <p:nvPr/>
            </p:nvSpPr>
            <p:spPr>
              <a:xfrm>
                <a:off x="0" y="0"/>
                <a:ext cx="39370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After (concise)</a:t>
                </a:r>
              </a:p>
            </p:txBody>
          </p:sp>
          <p:sp>
            <p:nvSpPr>
              <p:cNvPr name="TextBox 9" id="9"/>
              <p:cNvSpPr txBox="true"/>
              <p:nvPr/>
            </p:nvSpPr>
            <p:spPr>
              <a:xfrm>
                <a:off x="0" y="368300"/>
                <a:ext cx="3937000" cy="1244600"/>
              </a:xfrm>
              <a:prstGeom prst="rect">
                <a:avLst/>
              </a:prstGeom>
              <a:solidFill>
                <a:srgbClr val="282C34"/>
              </a:solidFill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latin typeface="Consolas"/>
                  </a:rPr>
                  <a:t>const numbers = [1, 2, 3, 4, 5];
const doubled = numbers.map(n =&gt; n * 2);
console.log(doubled);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SQL Query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990600"/>
            <a:ext cx="8128000" cy="2514600"/>
          </a:xfrm>
          <a:prstGeom prst="rect">
            <a:avLst/>
          </a:prstGeom>
          <a:solidFill>
            <a:srgbClr val="F8F8F8"/>
          </a:solidFill>
        </p:spPr>
        <p:txBody>
          <a:bodyPr anchor="t" rtlCol="false" lIns="0" rIns="0" tIns="0" bIns="0" wrap="square"/>
          <a:lstStyle/>
          <a:p>
            <a:r>
              <a:rPr lang="en-US" b="false" i="false" u="none" sz="1200">
                <a:latin typeface="Consolas"/>
              </a:rPr>
              <a:t>SELECT 
    users.name,
    COUNT(orders.id) as order_count,
    SUM(orders.total) as total_spent
FROM users
LEFT JOIN orders ON users.id = orders.user_id
WHERE users.created_at &gt; '2024-01-01'
GROUP BY users.id
ORDER BY total_spent DESC
LIMIT 10;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API Documentation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990600"/>
            <a:ext cx="8128000" cy="2921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600">
                <a:solidFill>
                  <a:srgbClr val="333333"/>
                </a:solidFill>
                <a:latin typeface="Microsoft YaHei"/>
              </a:rPr>
              <a:t>To authenticate, include your API key in the header: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508000" y="1473200"/>
            <a:ext cx="8128000" cy="1028700"/>
          </a:xfrm>
          <a:prstGeom prst="rect">
            <a:avLst/>
          </a:prstGeom>
          <a:solidFill>
            <a:srgbClr val="282C34"/>
          </a:solidFill>
        </p:spPr>
        <p:txBody>
          <a:bodyPr anchor="t" rtlCol="false" lIns="0" rIns="0" tIns="0" bIns="0" wrap="square"/>
          <a:lstStyle/>
          <a:p>
            <a:r>
              <a:rPr lang="en-US" b="false" i="false" u="none" sz="1200">
                <a:latin typeface="Consolas"/>
              </a:rPr>
              <a:t>curl -X GET "https://api.example.com/v1/users" \
     -H "Authorization: Bearer YOUR_API_KEY" \
     -H "Content-Type: application/json"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508000" y="2679700"/>
            <a:ext cx="8128000" cy="2921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600">
                <a:solidFill>
                  <a:srgbClr val="333333"/>
                </a:solidFill>
                <a:latin typeface="Microsoft YaHei"/>
              </a:rPr>
              <a:t>The response will include a JSON object with user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