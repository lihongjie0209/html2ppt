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333333"/>
                </a:solidFill>
                <a:latin typeface="Microsoft YaHei"/>
              </a:rPr>
              <a:t>Simple Shadow Test</a:t>
            </a:r>
          </a:p>
        </p:txBody>
      </p:sp>
      <p:sp>
        <p:nvSpPr>
          <p:cNvPr name="AutoShape 3" id="3"/>
          <p:cNvSpPr/>
          <p:nvPr/>
        </p:nvSpPr>
        <p:spPr>
          <a:xfrm>
            <a:off x="508000" y="1193800"/>
            <a:ext cx="2540000" cy="1397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dist="89803" dir="2700000" blurRad="127000">
              <a:srgbClr val="000000">
                <a:alpha val="30000"/>
              </a:srgbClr>
            </a:outerShdw>
          </a:effectLst>
        </p:spPr>
      </p:sp>
      <p:grpSp>
        <p:nvGrpSpPr>
          <p:cNvPr name="Group 4" id="4"/>
          <p:cNvGrpSpPr/>
          <p:nvPr/>
        </p:nvGrpSpPr>
        <p:grpSpPr>
          <a:xfrm>
            <a:off x="508000" y="1193800"/>
            <a:ext cx="2540000" cy="1397000"/>
            <a:chOff x="0" y="0"/>
            <a:chExt cx="2540000" cy="1397000"/>
          </a:xfrm>
        </p:grpSpPr>
        <p:sp>
          <p:nvSpPr>
            <p:cNvPr name="TextBox 5" id="5"/>
            <p:cNvSpPr txBox="true"/>
            <p:nvPr/>
          </p:nvSpPr>
          <p:spPr>
            <a:xfrm>
              <a:off x="381000" y="381000"/>
              <a:ext cx="1778000" cy="6477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800">
                  <a:latin typeface="Microsoft YaHei"/>
                </a:rPr>
                <a:t>Box with shadow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