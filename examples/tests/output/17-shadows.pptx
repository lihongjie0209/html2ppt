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2032000" y="1917700"/>
            <a:ext cx="5080000" cy="711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000">
                <a:solidFill>
                  <a:srgbClr val="FFFFFF"/>
                </a:solidFill>
                <a:latin typeface="Microsoft YaHei"/>
              </a:rPr>
              <a:t>Box Shadow Test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397000" y="2882900"/>
            <a:ext cx="6350000" cy="3429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90CAF9"/>
                </a:solidFill>
                <a:latin typeface="Microsoft YaHei"/>
              </a:rPr>
              <a:t>Testing CSS box-shadow rendering in PowerPoint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Shadow Sizes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66800"/>
            <a:ext cx="8128000" cy="3695700"/>
            <a:chOff x="0" y="0"/>
            <a:chExt cx="8128000" cy="36957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1841500" cy="3695700"/>
              <a:chOff x="0" y="0"/>
              <a:chExt cx="1841500" cy="36957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18415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Small (2px 2px 4px)</a:t>
                </a:r>
              </a:p>
            </p:txBody>
          </p:sp>
          <p:sp>
            <p:nvSpPr>
              <p:cNvPr name="AutoShape 6" id="6"/>
              <p:cNvSpPr/>
              <p:nvPr/>
            </p:nvSpPr>
            <p:spPr>
              <a:xfrm>
                <a:off x="0" y="406400"/>
                <a:ext cx="1841500" cy="1638300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dist="35921" dir="2700000" blurRad="50800">
                  <a:srgbClr val="000000">
                    <a:alpha val="20000"/>
                  </a:srgbClr>
                </a:outerShdw>
              </a:effectLst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406400"/>
                <a:ext cx="1841500" cy="1638300"/>
                <a:chOff x="0" y="0"/>
                <a:chExt cx="1841500" cy="1638300"/>
              </a:xfrm>
            </p:grpSpPr>
            <p:sp>
              <p:nvSpPr>
                <p:cNvPr name="TextBox 8" id="8"/>
                <p:cNvSpPr txBox="true"/>
                <p:nvPr/>
              </p:nvSpPr>
              <p:spPr>
                <a:xfrm>
                  <a:off x="254000" y="254000"/>
                  <a:ext cx="1333500" cy="584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333333"/>
                      </a:solidFill>
                      <a:latin typeface="Microsoft YaHei"/>
                    </a:rPr>
                    <a:t>Small Shadow</a:t>
                  </a:r>
                </a:p>
              </p:txBody>
            </p:sp>
            <p:sp>
              <p:nvSpPr>
                <p:cNvPr name="TextBox 9" id="9"/>
                <p:cNvSpPr txBox="true"/>
                <p:nvPr/>
              </p:nvSpPr>
              <p:spPr>
                <a:xfrm>
                  <a:off x="254000" y="939800"/>
                  <a:ext cx="1333500" cy="4318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solidFill>
                        <a:srgbClr val="666666"/>
                      </a:solidFill>
                      <a:latin typeface="Microsoft YaHei"/>
                    </a:rPr>
                    <a:t>Subtle shadow for cards</a:t>
                  </a:r>
                </a:p>
              </p:txBody>
            </p:sp>
          </p:grpSp>
        </p:grpSp>
        <p:grpSp>
          <p:nvGrpSpPr>
            <p:cNvPr name="Group 10" id="10"/>
            <p:cNvGrpSpPr/>
            <p:nvPr/>
          </p:nvGrpSpPr>
          <p:grpSpPr>
            <a:xfrm>
              <a:off x="2095500" y="0"/>
              <a:ext cx="1841500" cy="3695700"/>
              <a:chOff x="0" y="0"/>
              <a:chExt cx="1841500" cy="36957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1841500" cy="4445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Medium (4px 4px 8px)</a:t>
                </a:r>
              </a:p>
            </p:txBody>
          </p:sp>
          <p:sp>
            <p:nvSpPr>
              <p:cNvPr name="AutoShape 12" id="12"/>
              <p:cNvSpPr/>
              <p:nvPr/>
            </p:nvSpPr>
            <p:spPr>
              <a:xfrm>
                <a:off x="0" y="622300"/>
                <a:ext cx="1841500" cy="1638300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dist="71842" dir="2700000" blurRad="101600">
                  <a:srgbClr val="000000">
                    <a:alpha val="30000"/>
                  </a:srgbClr>
                </a:outerShdw>
              </a:effectLst>
            </p:spPr>
          </p:sp>
          <p:grpSp>
            <p:nvGrpSpPr>
              <p:cNvPr name="Group 13" id="13"/>
              <p:cNvGrpSpPr/>
              <p:nvPr/>
            </p:nvGrpSpPr>
            <p:grpSpPr>
              <a:xfrm>
                <a:off x="0" y="622300"/>
                <a:ext cx="1841500" cy="1638300"/>
                <a:chOff x="0" y="0"/>
                <a:chExt cx="1841500" cy="1638300"/>
              </a:xfrm>
            </p:grpSpPr>
            <p:sp>
              <p:nvSpPr>
                <p:cNvPr name="TextBox 14" id="14"/>
                <p:cNvSpPr txBox="true"/>
                <p:nvPr/>
              </p:nvSpPr>
              <p:spPr>
                <a:xfrm>
                  <a:off x="254000" y="254000"/>
                  <a:ext cx="1333500" cy="5715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333333"/>
                      </a:solidFill>
                      <a:latin typeface="Microsoft YaHei"/>
                    </a:rPr>
                    <a:t>Medium Shadow</a:t>
                  </a:r>
                </a:p>
              </p:txBody>
            </p:sp>
            <p:sp>
              <p:nvSpPr>
                <p:cNvPr name="TextBox 15" id="15"/>
                <p:cNvSpPr txBox="true"/>
                <p:nvPr/>
              </p:nvSpPr>
              <p:spPr>
                <a:xfrm>
                  <a:off x="254000" y="939800"/>
                  <a:ext cx="1333500" cy="4318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solidFill>
                        <a:srgbClr val="666666"/>
                      </a:solidFill>
                      <a:latin typeface="Microsoft YaHei"/>
                    </a:rPr>
                    <a:t>Standard card shadow</a:t>
                  </a:r>
                </a:p>
              </p:txBody>
            </p:sp>
          </p:grpSp>
        </p:grpSp>
        <p:grpSp>
          <p:nvGrpSpPr>
            <p:cNvPr name="Group 16" id="16"/>
            <p:cNvGrpSpPr/>
            <p:nvPr/>
          </p:nvGrpSpPr>
          <p:grpSpPr>
            <a:xfrm>
              <a:off x="4191000" y="0"/>
              <a:ext cx="1841500" cy="3695700"/>
              <a:chOff x="0" y="0"/>
              <a:chExt cx="1841500" cy="3695700"/>
            </a:xfrm>
          </p:grpSpPr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1841500" cy="4445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Large (6px 6px 16px)</a:t>
                </a:r>
              </a:p>
            </p:txBody>
          </p:sp>
          <p:sp>
            <p:nvSpPr>
              <p:cNvPr name="AutoShape 18" id="18"/>
              <p:cNvSpPr/>
              <p:nvPr/>
            </p:nvSpPr>
            <p:spPr>
              <a:xfrm>
                <a:off x="0" y="622300"/>
                <a:ext cx="1841500" cy="1638300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dist="107763" dir="2700000" blurRad="203200">
                  <a:srgbClr val="000000">
                    <a:alpha val="40000"/>
                  </a:srgbClr>
                </a:outerShdw>
              </a:effectLst>
            </p:spPr>
          </p:sp>
          <p:grpSp>
            <p:nvGrpSpPr>
              <p:cNvPr name="Group 19" id="19"/>
              <p:cNvGrpSpPr/>
              <p:nvPr/>
            </p:nvGrpSpPr>
            <p:grpSpPr>
              <a:xfrm>
                <a:off x="0" y="622300"/>
                <a:ext cx="1841500" cy="1638300"/>
                <a:chOff x="0" y="0"/>
                <a:chExt cx="1841500" cy="1638300"/>
              </a:xfrm>
            </p:grpSpPr>
            <p:sp>
              <p:nvSpPr>
                <p:cNvPr name="TextBox 20" id="20"/>
                <p:cNvSpPr txBox="true"/>
                <p:nvPr/>
              </p:nvSpPr>
              <p:spPr>
                <a:xfrm>
                  <a:off x="254000" y="254000"/>
                  <a:ext cx="1333500" cy="5715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333333"/>
                      </a:solidFill>
                      <a:latin typeface="Microsoft YaHei"/>
                    </a:rPr>
                    <a:t>Large Shadow</a:t>
                  </a:r>
                </a:p>
              </p:txBody>
            </p:sp>
            <p:sp>
              <p:nvSpPr>
                <p:cNvPr name="TextBox 21" id="21"/>
                <p:cNvSpPr txBox="true"/>
                <p:nvPr/>
              </p:nvSpPr>
              <p:spPr>
                <a:xfrm>
                  <a:off x="254000" y="939800"/>
                  <a:ext cx="1333500" cy="4318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solidFill>
                        <a:srgbClr val="666666"/>
                      </a:solidFill>
                      <a:latin typeface="Microsoft YaHei"/>
                    </a:rPr>
                    <a:t>Elevated card style</a:t>
                  </a:r>
                </a:p>
              </p:txBody>
            </p:sp>
          </p:grpSp>
        </p:grpSp>
        <p:grpSp>
          <p:nvGrpSpPr>
            <p:cNvPr name="Group 22" id="22"/>
            <p:cNvGrpSpPr/>
            <p:nvPr/>
          </p:nvGrpSpPr>
          <p:grpSpPr>
            <a:xfrm>
              <a:off x="6286500" y="0"/>
              <a:ext cx="1841500" cy="3695700"/>
              <a:chOff x="0" y="0"/>
              <a:chExt cx="1841500" cy="3695700"/>
            </a:xfrm>
          </p:grpSpPr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1841500" cy="4445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Extra Large (10px 10px 30px)</a:t>
                </a:r>
              </a:p>
            </p:txBody>
          </p:sp>
          <p:sp>
            <p:nvSpPr>
              <p:cNvPr name="AutoShape 24" id="24"/>
              <p:cNvSpPr/>
              <p:nvPr/>
            </p:nvSpPr>
            <p:spPr>
              <a:xfrm>
                <a:off x="0" y="622300"/>
                <a:ext cx="1841500" cy="1346200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dist="179605" dir="2700000" blurRad="381000">
                  <a:srgbClr val="000000">
                    <a:alpha val="50000"/>
                  </a:srgbClr>
                </a:outerShdw>
              </a:effectLst>
            </p:spPr>
          </p:sp>
          <p:grpSp>
            <p:nvGrpSpPr>
              <p:cNvPr name="Group 25" id="25"/>
              <p:cNvGrpSpPr/>
              <p:nvPr/>
            </p:nvGrpSpPr>
            <p:grpSpPr>
              <a:xfrm>
                <a:off x="0" y="622300"/>
                <a:ext cx="1841500" cy="1346200"/>
                <a:chOff x="0" y="0"/>
                <a:chExt cx="1841500" cy="1346200"/>
              </a:xfrm>
            </p:grpSpPr>
            <p:sp>
              <p:nvSpPr>
                <p:cNvPr name="TextBox 26" id="26"/>
                <p:cNvSpPr txBox="true"/>
                <p:nvPr/>
              </p:nvSpPr>
              <p:spPr>
                <a:xfrm>
                  <a:off x="254000" y="254000"/>
                  <a:ext cx="13335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333333"/>
                      </a:solidFill>
                      <a:latin typeface="Microsoft YaHei"/>
                    </a:rPr>
                    <a:t>XL Shadow</a:t>
                  </a:r>
                </a:p>
              </p:txBody>
            </p:sp>
            <p:sp>
              <p:nvSpPr>
                <p:cNvPr name="TextBox 27" id="27"/>
                <p:cNvSpPr txBox="true"/>
                <p:nvPr/>
              </p:nvSpPr>
              <p:spPr>
                <a:xfrm>
                  <a:off x="254000" y="660400"/>
                  <a:ext cx="1333500" cy="4445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solidFill>
                        <a:srgbClr val="666666"/>
                      </a:solidFill>
                      <a:latin typeface="Microsoft YaHei"/>
                    </a:rPr>
                    <a:t>Heavy shadow effect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Colored Shadows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66800"/>
            <a:ext cx="8128000" cy="3695700"/>
            <a:chOff x="0" y="0"/>
            <a:chExt cx="8128000" cy="36957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2540000" cy="3695700"/>
              <a:chOff x="0" y="0"/>
              <a:chExt cx="2540000" cy="36957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25400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Blue Shadow</a:t>
                </a:r>
              </a:p>
            </p:txBody>
          </p:sp>
          <p:sp>
            <p:nvSpPr>
              <p:cNvPr name="AutoShape 6" id="6"/>
              <p:cNvSpPr/>
              <p:nvPr/>
            </p:nvSpPr>
            <p:spPr>
              <a:xfrm>
                <a:off x="0" y="406400"/>
                <a:ext cx="2540000" cy="1346200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dist="71842" dir="2700000" blurRad="152400">
                  <a:srgbClr val="2196F3">
                    <a:alpha val="50000"/>
                  </a:srgbClr>
                </a:outerShdw>
              </a:effectLst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406400"/>
                <a:ext cx="2540000" cy="1346200"/>
                <a:chOff x="0" y="0"/>
                <a:chExt cx="2540000" cy="1346200"/>
              </a:xfrm>
            </p:grpSpPr>
            <p:sp>
              <p:nvSpPr>
                <p:cNvPr name="TextBox 8" id="8"/>
                <p:cNvSpPr txBox="true"/>
                <p:nvPr/>
              </p:nvSpPr>
              <p:spPr>
                <a:xfrm>
                  <a:off x="254000" y="254000"/>
                  <a:ext cx="2032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333333"/>
                      </a:solidFill>
                      <a:latin typeface="Microsoft YaHei"/>
                    </a:rPr>
                    <a:t>Blue Glow</a:t>
                  </a:r>
                </a:p>
              </p:txBody>
            </p:sp>
            <p:sp>
              <p:nvSpPr>
                <p:cNvPr name="TextBox 9" id="9"/>
                <p:cNvSpPr txBox="true"/>
                <p:nvPr/>
              </p:nvSpPr>
              <p:spPr>
                <a:xfrm>
                  <a:off x="254000" y="660400"/>
                  <a:ext cx="2032000" cy="4445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solidFill>
                        <a:srgbClr val="666666"/>
                      </a:solidFill>
                      <a:latin typeface="Microsoft YaHei"/>
                    </a:rPr>
                    <a:t>rgba(33, 150, 243, 0.5)</a:t>
                  </a:r>
                </a:p>
              </p:txBody>
            </p:sp>
          </p:grpSp>
        </p:grpSp>
        <p:grpSp>
          <p:nvGrpSpPr>
            <p:cNvPr name="Group 10" id="10"/>
            <p:cNvGrpSpPr/>
            <p:nvPr/>
          </p:nvGrpSpPr>
          <p:grpSpPr>
            <a:xfrm>
              <a:off x="2794000" y="0"/>
              <a:ext cx="2540000" cy="3695700"/>
              <a:chOff x="0" y="0"/>
              <a:chExt cx="2540000" cy="36957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25400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Red Shadow</a:t>
                </a:r>
              </a:p>
            </p:txBody>
          </p:sp>
          <p:sp>
            <p:nvSpPr>
              <p:cNvPr name="AutoShape 12" id="12"/>
              <p:cNvSpPr/>
              <p:nvPr/>
            </p:nvSpPr>
            <p:spPr>
              <a:xfrm>
                <a:off x="0" y="406400"/>
                <a:ext cx="2540000" cy="1143000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dist="71842" dir="2700000" blurRad="152400">
                  <a:srgbClr val="F44336">
                    <a:alpha val="50000"/>
                  </a:srgbClr>
                </a:outerShdw>
              </a:effectLst>
            </p:spPr>
          </p:sp>
          <p:grpSp>
            <p:nvGrpSpPr>
              <p:cNvPr name="Group 13" id="13"/>
              <p:cNvGrpSpPr/>
              <p:nvPr/>
            </p:nvGrpSpPr>
            <p:grpSpPr>
              <a:xfrm>
                <a:off x="0" y="406400"/>
                <a:ext cx="2540000" cy="1143000"/>
                <a:chOff x="0" y="0"/>
                <a:chExt cx="2540000" cy="1143000"/>
              </a:xfrm>
            </p:grpSpPr>
            <p:sp>
              <p:nvSpPr>
                <p:cNvPr name="TextBox 14" id="14"/>
                <p:cNvSpPr txBox="true"/>
                <p:nvPr/>
              </p:nvSpPr>
              <p:spPr>
                <a:xfrm>
                  <a:off x="254000" y="254000"/>
                  <a:ext cx="2032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333333"/>
                      </a:solidFill>
                      <a:latin typeface="Microsoft YaHei"/>
                    </a:rPr>
                    <a:t>Red Glow</a:t>
                  </a:r>
                </a:p>
              </p:txBody>
            </p:sp>
            <p:sp>
              <p:nvSpPr>
                <p:cNvPr name="TextBox 15" id="15"/>
                <p:cNvSpPr txBox="true"/>
                <p:nvPr/>
              </p:nvSpPr>
              <p:spPr>
                <a:xfrm>
                  <a:off x="254000" y="660400"/>
                  <a:ext cx="2032000" cy="228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solidFill>
                        <a:srgbClr val="666666"/>
                      </a:solidFill>
                      <a:latin typeface="Microsoft YaHei"/>
                    </a:rPr>
                    <a:t>rgba(244, 67, 54, 0.5)</a:t>
                  </a:r>
                </a:p>
              </p:txBody>
            </p:sp>
          </p:grpSp>
        </p:grpSp>
        <p:grpSp>
          <p:nvGrpSpPr>
            <p:cNvPr name="Group 16" id="16"/>
            <p:cNvGrpSpPr/>
            <p:nvPr/>
          </p:nvGrpSpPr>
          <p:grpSpPr>
            <a:xfrm>
              <a:off x="5588000" y="0"/>
              <a:ext cx="2540000" cy="3695700"/>
              <a:chOff x="0" y="0"/>
              <a:chExt cx="2540000" cy="3695700"/>
            </a:xfrm>
          </p:grpSpPr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25400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Green Shadow</a:t>
                </a:r>
              </a:p>
            </p:txBody>
          </p:sp>
          <p:sp>
            <p:nvSpPr>
              <p:cNvPr name="AutoShape 18" id="18"/>
              <p:cNvSpPr/>
              <p:nvPr/>
            </p:nvSpPr>
            <p:spPr>
              <a:xfrm>
                <a:off x="0" y="406400"/>
                <a:ext cx="2540000" cy="1143000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dist="71842" dir="2700000" blurRad="152400">
                  <a:srgbClr val="4CAF50">
                    <a:alpha val="50000"/>
                  </a:srgbClr>
                </a:outerShdw>
              </a:effectLst>
            </p:spPr>
          </p:sp>
          <p:grpSp>
            <p:nvGrpSpPr>
              <p:cNvPr name="Group 19" id="19"/>
              <p:cNvGrpSpPr/>
              <p:nvPr/>
            </p:nvGrpSpPr>
            <p:grpSpPr>
              <a:xfrm>
                <a:off x="0" y="406400"/>
                <a:ext cx="2540000" cy="1143000"/>
                <a:chOff x="0" y="0"/>
                <a:chExt cx="2540000" cy="1143000"/>
              </a:xfrm>
            </p:grpSpPr>
            <p:sp>
              <p:nvSpPr>
                <p:cNvPr name="TextBox 20" id="20"/>
                <p:cNvSpPr txBox="true"/>
                <p:nvPr/>
              </p:nvSpPr>
              <p:spPr>
                <a:xfrm>
                  <a:off x="254000" y="254000"/>
                  <a:ext cx="2032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333333"/>
                      </a:solidFill>
                      <a:latin typeface="Microsoft YaHei"/>
                    </a:rPr>
                    <a:t>Green Glow</a:t>
                  </a:r>
                </a:p>
              </p:txBody>
            </p:sp>
            <p:sp>
              <p:nvSpPr>
                <p:cNvPr name="TextBox 21" id="21"/>
                <p:cNvSpPr txBox="true"/>
                <p:nvPr/>
              </p:nvSpPr>
              <p:spPr>
                <a:xfrm>
                  <a:off x="254000" y="660400"/>
                  <a:ext cx="2032000" cy="228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solidFill>
                        <a:srgbClr val="666666"/>
                      </a:solidFill>
                      <a:latin typeface="Microsoft YaHei"/>
                    </a:rPr>
                    <a:t>rgba(76, 175, 80, 0.5)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Shadow with Named/Hex Colors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66800"/>
            <a:ext cx="8128000" cy="3695700"/>
            <a:chOff x="0" y="0"/>
            <a:chExt cx="8128000" cy="36957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2540000" cy="3695700"/>
              <a:chOff x="0" y="0"/>
              <a:chExt cx="2540000" cy="36957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25400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Named Color (black)</a:t>
                </a:r>
              </a:p>
            </p:txBody>
          </p:sp>
          <p:sp>
            <p:nvSpPr>
              <p:cNvPr name="AutoShape 6" id="6"/>
              <p:cNvSpPr/>
              <p:nvPr/>
            </p:nvSpPr>
            <p:spPr>
              <a:xfrm>
                <a:off x="0" y="406400"/>
                <a:ext cx="2540000" cy="1143000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dist="89803" dir="2700000" blurRad="190500">
                  <a:srgbClr val="000000"/>
                </a:outerShdw>
              </a:effectLst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406400"/>
                <a:ext cx="2540000" cy="1143000"/>
                <a:chOff x="0" y="0"/>
                <a:chExt cx="2540000" cy="1143000"/>
              </a:xfrm>
            </p:grpSpPr>
            <p:sp>
              <p:nvSpPr>
                <p:cNvPr name="TextBox 8" id="8"/>
                <p:cNvSpPr txBox="true"/>
                <p:nvPr/>
              </p:nvSpPr>
              <p:spPr>
                <a:xfrm>
                  <a:off x="254000" y="254000"/>
                  <a:ext cx="2032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333333"/>
                      </a:solidFill>
                      <a:latin typeface="Microsoft YaHei"/>
                    </a:rPr>
                    <a:t>Black Shadow</a:t>
                  </a:r>
                </a:p>
              </p:txBody>
            </p:sp>
            <p:sp>
              <p:nvSpPr>
                <p:cNvPr name="TextBox 9" id="9"/>
                <p:cNvSpPr txBox="true"/>
                <p:nvPr/>
              </p:nvSpPr>
              <p:spPr>
                <a:xfrm>
                  <a:off x="254000" y="660400"/>
                  <a:ext cx="2032000" cy="228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solidFill>
                        <a:srgbClr val="666666"/>
                      </a:solidFill>
                      <a:latin typeface="Microsoft YaHei"/>
                    </a:rPr>
                    <a:t>Using "black" keyword</a:t>
                  </a:r>
                </a:p>
              </p:txBody>
            </p:sp>
          </p:grpSp>
        </p:grpSp>
        <p:grpSp>
          <p:nvGrpSpPr>
            <p:cNvPr name="Group 10" id="10"/>
            <p:cNvGrpSpPr/>
            <p:nvPr/>
          </p:nvGrpSpPr>
          <p:grpSpPr>
            <a:xfrm>
              <a:off x="2794000" y="0"/>
              <a:ext cx="2540000" cy="3695700"/>
              <a:chOff x="0" y="0"/>
              <a:chExt cx="2540000" cy="36957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25400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Hex Color (#333)</a:t>
                </a:r>
              </a:p>
            </p:txBody>
          </p:sp>
          <p:sp>
            <p:nvSpPr>
              <p:cNvPr name="AutoShape 12" id="12"/>
              <p:cNvSpPr/>
              <p:nvPr/>
            </p:nvSpPr>
            <p:spPr>
              <a:xfrm>
                <a:off x="0" y="406400"/>
                <a:ext cx="2540000" cy="1143000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dist="89803" dir="2700000" blurRad="190500">
                  <a:srgbClr val="333333"/>
                </a:outerShdw>
              </a:effectLst>
            </p:spPr>
          </p:sp>
          <p:grpSp>
            <p:nvGrpSpPr>
              <p:cNvPr name="Group 13" id="13"/>
              <p:cNvGrpSpPr/>
              <p:nvPr/>
            </p:nvGrpSpPr>
            <p:grpSpPr>
              <a:xfrm>
                <a:off x="0" y="406400"/>
                <a:ext cx="2540000" cy="1143000"/>
                <a:chOff x="0" y="0"/>
                <a:chExt cx="2540000" cy="1143000"/>
              </a:xfrm>
            </p:grpSpPr>
            <p:sp>
              <p:nvSpPr>
                <p:cNvPr name="TextBox 14" id="14"/>
                <p:cNvSpPr txBox="true"/>
                <p:nvPr/>
              </p:nvSpPr>
              <p:spPr>
                <a:xfrm>
                  <a:off x="254000" y="254000"/>
                  <a:ext cx="2032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333333"/>
                      </a:solidFill>
                      <a:latin typeface="Microsoft YaHei"/>
                    </a:rPr>
                    <a:t>Gray Shadow</a:t>
                  </a:r>
                </a:p>
              </p:txBody>
            </p:sp>
            <p:sp>
              <p:nvSpPr>
                <p:cNvPr name="TextBox 15" id="15"/>
                <p:cNvSpPr txBox="true"/>
                <p:nvPr/>
              </p:nvSpPr>
              <p:spPr>
                <a:xfrm>
                  <a:off x="254000" y="660400"/>
                  <a:ext cx="2032000" cy="228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solidFill>
                        <a:srgbClr val="666666"/>
                      </a:solidFill>
                      <a:latin typeface="Microsoft YaHei"/>
                    </a:rPr>
                    <a:t>Using hex #333333</a:t>
                  </a:r>
                </a:p>
              </p:txBody>
            </p:sp>
          </p:grpSp>
        </p:grpSp>
        <p:grpSp>
          <p:nvGrpSpPr>
            <p:cNvPr name="Group 16" id="16"/>
            <p:cNvGrpSpPr/>
            <p:nvPr/>
          </p:nvGrpSpPr>
          <p:grpSpPr>
            <a:xfrm>
              <a:off x="5588000" y="0"/>
              <a:ext cx="2540000" cy="3695700"/>
              <a:chOff x="0" y="0"/>
              <a:chExt cx="2540000" cy="3695700"/>
            </a:xfrm>
          </p:grpSpPr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25400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Long Hex (#FF5722)</a:t>
                </a:r>
              </a:p>
            </p:txBody>
          </p:sp>
          <p:sp>
            <p:nvSpPr>
              <p:cNvPr name="AutoShape 18" id="18"/>
              <p:cNvSpPr/>
              <p:nvPr/>
            </p:nvSpPr>
            <p:spPr>
              <a:xfrm>
                <a:off x="0" y="406400"/>
                <a:ext cx="2540000" cy="1143000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dist="89803" dir="2700000" blurRad="190500">
                  <a:srgbClr val="FF5722"/>
                </a:outerShdw>
              </a:effectLst>
            </p:spPr>
          </p:sp>
          <p:grpSp>
            <p:nvGrpSpPr>
              <p:cNvPr name="Group 19" id="19"/>
              <p:cNvGrpSpPr/>
              <p:nvPr/>
            </p:nvGrpSpPr>
            <p:grpSpPr>
              <a:xfrm>
                <a:off x="0" y="406400"/>
                <a:ext cx="2540000" cy="1143000"/>
                <a:chOff x="0" y="0"/>
                <a:chExt cx="2540000" cy="1143000"/>
              </a:xfrm>
            </p:grpSpPr>
            <p:sp>
              <p:nvSpPr>
                <p:cNvPr name="TextBox 20" id="20"/>
                <p:cNvSpPr txBox="true"/>
                <p:nvPr/>
              </p:nvSpPr>
              <p:spPr>
                <a:xfrm>
                  <a:off x="254000" y="254000"/>
                  <a:ext cx="2032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333333"/>
                      </a:solidFill>
                      <a:latin typeface="Microsoft YaHei"/>
                    </a:rPr>
                    <a:t>Orange Shadow</a:t>
                  </a:r>
                </a:p>
              </p:txBody>
            </p:sp>
            <p:sp>
              <p:nvSpPr>
                <p:cNvPr name="TextBox 21" id="21"/>
                <p:cNvSpPr txBox="true"/>
                <p:nvPr/>
              </p:nvSpPr>
              <p:spPr>
                <a:xfrm>
                  <a:off x="254000" y="660400"/>
                  <a:ext cx="2032000" cy="228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solidFill>
                        <a:srgbClr val="666666"/>
                      </a:solidFill>
                      <a:latin typeface="Microsoft YaHei"/>
                    </a:rPr>
                    <a:t>Deep orange hex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A237E"/>
                </a:solidFill>
                <a:latin typeface="Microsoft YaHei"/>
              </a:rPr>
              <a:t>Shadow Comparison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066800"/>
            <a:ext cx="8128000" cy="3695700"/>
            <a:chOff x="0" y="0"/>
            <a:chExt cx="8128000" cy="36957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3937000" cy="3695700"/>
              <a:chOff x="0" y="0"/>
              <a:chExt cx="3937000" cy="36957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39370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No Shadow</a:t>
                </a:r>
              </a:p>
            </p:txBody>
          </p:sp>
          <p:sp>
            <p:nvSpPr>
              <p:cNvPr name="AutoShape 6" id="6"/>
              <p:cNvSpPr/>
              <p:nvPr/>
            </p:nvSpPr>
            <p:spPr>
              <a:xfrm>
                <a:off x="0" y="406400"/>
                <a:ext cx="3937000" cy="1346200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406400"/>
                <a:ext cx="3937000" cy="1346200"/>
                <a:chOff x="0" y="0"/>
                <a:chExt cx="3937000" cy="1346200"/>
              </a:xfrm>
            </p:grpSpPr>
            <p:sp>
              <p:nvSpPr>
                <p:cNvPr name="TextBox 8" id="8"/>
                <p:cNvSpPr txBox="true"/>
                <p:nvPr/>
              </p:nvSpPr>
              <p:spPr>
                <a:xfrm>
                  <a:off x="254000" y="254000"/>
                  <a:ext cx="3429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333333"/>
                      </a:solidFill>
                      <a:latin typeface="Microsoft YaHei"/>
                    </a:rPr>
                    <a:t>Flat Card</a:t>
                  </a:r>
                </a:p>
              </p:txBody>
            </p:sp>
            <p:sp>
              <p:nvSpPr>
                <p:cNvPr name="TextBox 9" id="9"/>
                <p:cNvSpPr txBox="true"/>
                <p:nvPr/>
              </p:nvSpPr>
              <p:spPr>
                <a:xfrm>
                  <a:off x="254000" y="660400"/>
                  <a:ext cx="3429000" cy="4445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solidFill>
                        <a:srgbClr val="666666"/>
                      </a:solidFill>
                      <a:latin typeface="Microsoft YaHei"/>
                    </a:rPr>
                    <a:t>Without any shadow, the card looks flat and embedded in the background.</a:t>
                  </a:r>
                </a:p>
              </p:txBody>
            </p:sp>
          </p:grpSp>
        </p:grpSp>
        <p:grpSp>
          <p:nvGrpSpPr>
            <p:cNvPr name="Group 10" id="10"/>
            <p:cNvGrpSpPr/>
            <p:nvPr/>
          </p:nvGrpSpPr>
          <p:grpSpPr>
            <a:xfrm>
              <a:off x="4191000" y="0"/>
              <a:ext cx="3937000" cy="3695700"/>
              <a:chOff x="0" y="0"/>
              <a:chExt cx="3937000" cy="36957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0" y="0"/>
                <a:ext cx="3937000" cy="2286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200">
                    <a:solidFill>
                      <a:srgbClr val="666666"/>
                    </a:solidFill>
                    <a:latin typeface="Microsoft YaHei"/>
                  </a:rPr>
                  <a:t>With Shadow</a:t>
                </a:r>
              </a:p>
            </p:txBody>
          </p:sp>
          <p:sp>
            <p:nvSpPr>
              <p:cNvPr name="AutoShape 12" id="12"/>
              <p:cNvSpPr/>
              <p:nvPr/>
            </p:nvSpPr>
            <p:spPr>
              <a:xfrm>
                <a:off x="0" y="406400"/>
                <a:ext cx="3937000" cy="1346200"/>
              </a:xfrm>
              <a:prstGeom prst="roundRect">
                <a:avLst/>
              </a:prstGeom>
              <a:solidFill>
                <a:srgbClr val="FFFFFF"/>
              </a:solidFill>
              <a:ln>
                <a:noFill/>
              </a:ln>
              <a:effectLst>
                <a:outerShdw dist="107763" dir="2700000" blurRad="203200">
                  <a:srgbClr val="000000">
                    <a:alpha val="40000"/>
                  </a:srgbClr>
                </a:outerShdw>
              </a:effectLst>
            </p:spPr>
          </p:sp>
          <p:grpSp>
            <p:nvGrpSpPr>
              <p:cNvPr name="Group 13" id="13"/>
              <p:cNvGrpSpPr/>
              <p:nvPr/>
            </p:nvGrpSpPr>
            <p:grpSpPr>
              <a:xfrm>
                <a:off x="0" y="406400"/>
                <a:ext cx="3937000" cy="1346200"/>
                <a:chOff x="0" y="0"/>
                <a:chExt cx="3937000" cy="1346200"/>
              </a:xfrm>
            </p:grpSpPr>
            <p:sp>
              <p:nvSpPr>
                <p:cNvPr name="TextBox 14" id="14"/>
                <p:cNvSpPr txBox="true"/>
                <p:nvPr/>
              </p:nvSpPr>
              <p:spPr>
                <a:xfrm>
                  <a:off x="254000" y="254000"/>
                  <a:ext cx="34290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solidFill>
                        <a:srgbClr val="333333"/>
                      </a:solidFill>
                      <a:latin typeface="Microsoft YaHei"/>
                    </a:rPr>
                    <a:t>Elevated Card</a:t>
                  </a:r>
                </a:p>
              </p:txBody>
            </p:sp>
            <p:sp>
              <p:nvSpPr>
                <p:cNvPr name="TextBox 15" id="15"/>
                <p:cNvSpPr txBox="true"/>
                <p:nvPr/>
              </p:nvSpPr>
              <p:spPr>
                <a:xfrm>
                  <a:off x="254000" y="660400"/>
                  <a:ext cx="3429000" cy="4445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200">
                      <a:solidFill>
                        <a:srgbClr val="666666"/>
                      </a:solidFill>
                      <a:latin typeface="Microsoft YaHei"/>
                    </a:rPr>
                    <a:t>With shadow, the card appears elevated and floating above the background.</a:t>
                  </a: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