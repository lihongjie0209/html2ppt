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67EEA"/>
            </a:gs>
            <a:gs pos="100000">
              <a:srgbClr val="764BA2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362200" y="1917700"/>
            <a:ext cx="44196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Gradient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914400" y="2882900"/>
            <a:ext cx="7315200" cy="3429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Testing CSS linear-gradient() rendering in PowerPoint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Basic Gradients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66800"/>
            <a:ext cx="8128000" cy="3695700"/>
            <a:chOff x="0" y="0"/>
            <a:chExt cx="8128000" cy="3695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841500" cy="3695700"/>
              <a:chOff x="0" y="0"/>
              <a:chExt cx="1841500" cy="3695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Blue Gradient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406400"/>
                <a:ext cx="1841500" cy="1638300"/>
              </a:xfrm>
              <a:prstGeom prst="roundRect">
                <a:avLst/>
              </a:prstGeom>
              <a:gradFill rotWithShape="true">
                <a:gsLst>
                  <a:gs pos="0">
                    <a:srgbClr val="2196F3"/>
                  </a:gs>
                  <a:gs pos="100000">
                    <a:srgbClr val="21CBF3"/>
                  </a:gs>
                </a:gsLst>
                <a:lin ang="0"/>
              </a:gra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406400"/>
                <a:ext cx="1841500" cy="1638300"/>
                <a:chOff x="0" y="0"/>
                <a:chExt cx="1841500" cy="16383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1333500" cy="584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Ocean Blue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254000" y="939800"/>
                  <a:ext cx="1333500" cy="431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#2196F3 → #21CBF3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2095500" y="0"/>
              <a:ext cx="1841500" cy="3695700"/>
              <a:chOff x="0" y="0"/>
              <a:chExt cx="1841500" cy="36957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Purple Gradient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0" y="406400"/>
                <a:ext cx="1841500" cy="1638300"/>
              </a:xfrm>
              <a:prstGeom prst="roundRect">
                <a:avLst/>
              </a:prstGeom>
              <a:gradFill rotWithShape="true">
                <a:gsLst>
                  <a:gs pos="0">
                    <a:srgbClr val="9C27B0"/>
                  </a:gs>
                  <a:gs pos="100000">
                    <a:srgbClr val="E91E63"/>
                  </a:gs>
                </a:gsLst>
                <a:lin ang="0"/>
              </a:gradFill>
              <a:ln>
                <a:noFill/>
              </a:ln>
            </p:spPr>
          </p:sp>
          <p:grpSp>
            <p:nvGrpSpPr>
              <p:cNvPr name="Group 13" id="13"/>
              <p:cNvGrpSpPr/>
              <p:nvPr/>
            </p:nvGrpSpPr>
            <p:grpSpPr>
              <a:xfrm>
                <a:off x="0" y="406400"/>
                <a:ext cx="1841500" cy="1638300"/>
                <a:chOff x="0" y="0"/>
                <a:chExt cx="1841500" cy="1638300"/>
              </a:xfrm>
            </p:grpSpPr>
            <p:sp>
              <p:nvSpPr>
                <p:cNvPr name="TextBox 14" id="14"/>
                <p:cNvSpPr txBox="true"/>
                <p:nvPr/>
              </p:nvSpPr>
              <p:spPr>
                <a:xfrm>
                  <a:off x="254000" y="254000"/>
                  <a:ext cx="1333500" cy="584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Purple Pink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254000" y="939800"/>
                  <a:ext cx="1333500" cy="431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#9C27B0 → #E91E63</a:t>
                  </a:r>
                </a:p>
              </p:txBody>
            </p:sp>
          </p:grpSp>
        </p:grpSp>
        <p:grpSp>
          <p:nvGrpSpPr>
            <p:cNvPr name="Group 16" id="16"/>
            <p:cNvGrpSpPr/>
            <p:nvPr/>
          </p:nvGrpSpPr>
          <p:grpSpPr>
            <a:xfrm>
              <a:off x="4191000" y="0"/>
              <a:ext cx="1841500" cy="3695700"/>
              <a:chOff x="0" y="0"/>
              <a:chExt cx="1841500" cy="3695700"/>
            </a:xfrm>
          </p:grpSpPr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Green Gradient</a:t>
                </a:r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0" y="406400"/>
                <a:ext cx="1841500" cy="1346200"/>
              </a:xfrm>
              <a:prstGeom prst="roundRect">
                <a:avLst/>
              </a:prstGeom>
              <a:gradFill rotWithShape="true">
                <a:gsLst>
                  <a:gs pos="0">
                    <a:srgbClr val="4CAF50"/>
                  </a:gs>
                  <a:gs pos="100000">
                    <a:srgbClr val="8BC34A"/>
                  </a:gs>
                </a:gsLst>
                <a:lin ang="0"/>
              </a:gradFill>
              <a:ln>
                <a:noFill/>
              </a:ln>
            </p:spPr>
          </p:sp>
          <p:grpSp>
            <p:nvGrpSpPr>
              <p:cNvPr name="Group 19" id="19"/>
              <p:cNvGrpSpPr/>
              <p:nvPr/>
            </p:nvGrpSpPr>
            <p:grpSpPr>
              <a:xfrm>
                <a:off x="0" y="406400"/>
                <a:ext cx="1841500" cy="1346200"/>
                <a:chOff x="0" y="0"/>
                <a:chExt cx="1841500" cy="1346200"/>
              </a:xfrm>
            </p:grpSpPr>
            <p:sp>
              <p:nvSpPr>
                <p:cNvPr name="TextBox 20" id="20"/>
                <p:cNvSpPr txBox="true"/>
                <p:nvPr/>
              </p:nvSpPr>
              <p:spPr>
                <a:xfrm>
                  <a:off x="254000" y="254000"/>
                  <a:ext cx="13335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Forest</a:t>
                  </a:r>
                </a:p>
              </p:txBody>
            </p:sp>
            <p:sp>
              <p:nvSpPr>
                <p:cNvPr name="TextBox 21" id="21"/>
                <p:cNvSpPr txBox="true"/>
                <p:nvPr/>
              </p:nvSpPr>
              <p:spPr>
                <a:xfrm>
                  <a:off x="254000" y="660400"/>
                  <a:ext cx="1333500" cy="444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#4CAF50 → #8BC34A</a:t>
                  </a:r>
                </a:p>
              </p:txBody>
            </p:sp>
          </p:grpSp>
        </p:grpSp>
        <p:grpSp>
          <p:nvGrpSpPr>
            <p:cNvPr name="Group 22" id="22"/>
            <p:cNvGrpSpPr/>
            <p:nvPr/>
          </p:nvGrpSpPr>
          <p:grpSpPr>
            <a:xfrm>
              <a:off x="6286500" y="0"/>
              <a:ext cx="1841500" cy="3695700"/>
              <a:chOff x="0" y="0"/>
              <a:chExt cx="1841500" cy="3695700"/>
            </a:xfrm>
          </p:grpSpPr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Orange Gradient</a:t>
                </a:r>
              </a:p>
            </p:txBody>
          </p:sp>
          <p:sp>
            <p:nvSpPr>
              <p:cNvPr name="AutoShape 24" id="24"/>
              <p:cNvSpPr/>
              <p:nvPr/>
            </p:nvSpPr>
            <p:spPr>
              <a:xfrm>
                <a:off x="0" y="406400"/>
                <a:ext cx="1841500" cy="1346200"/>
              </a:xfrm>
              <a:prstGeom prst="roundRect">
                <a:avLst/>
              </a:prstGeom>
              <a:gradFill rotWithShape="true">
                <a:gsLst>
                  <a:gs pos="0">
                    <a:srgbClr val="FF5722"/>
                  </a:gs>
                  <a:gs pos="100000">
                    <a:srgbClr val="FFC107"/>
                  </a:gs>
                </a:gsLst>
                <a:lin ang="0"/>
              </a:gradFill>
              <a:ln>
                <a:noFill/>
              </a:ln>
            </p:spPr>
          </p:sp>
          <p:grpSp>
            <p:nvGrpSpPr>
              <p:cNvPr name="Group 25" id="25"/>
              <p:cNvGrpSpPr/>
              <p:nvPr/>
            </p:nvGrpSpPr>
            <p:grpSpPr>
              <a:xfrm>
                <a:off x="0" y="406400"/>
                <a:ext cx="1841500" cy="1346200"/>
                <a:chOff x="0" y="0"/>
                <a:chExt cx="1841500" cy="1346200"/>
              </a:xfrm>
            </p:grpSpPr>
            <p:sp>
              <p:nvSpPr>
                <p:cNvPr name="TextBox 26" id="26"/>
                <p:cNvSpPr txBox="true"/>
                <p:nvPr/>
              </p:nvSpPr>
              <p:spPr>
                <a:xfrm>
                  <a:off x="254000" y="254000"/>
                  <a:ext cx="13335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Sunset</a:t>
                  </a:r>
                </a:p>
              </p:txBody>
            </p:sp>
            <p:sp>
              <p:nvSpPr>
                <p:cNvPr name="TextBox 27" id="27"/>
                <p:cNvSpPr txBox="true"/>
                <p:nvPr/>
              </p:nvSpPr>
              <p:spPr>
                <a:xfrm>
                  <a:off x="254000" y="660400"/>
                  <a:ext cx="1333500" cy="444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#FF5722 → #FFC107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Gradient Directions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66800"/>
            <a:ext cx="8128000" cy="3695700"/>
            <a:chOff x="0" y="0"/>
            <a:chExt cx="8128000" cy="3695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841500" cy="3695700"/>
              <a:chOff x="0" y="0"/>
              <a:chExt cx="1841500" cy="3695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To Bottom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406400"/>
                <a:ext cx="1841500" cy="1143000"/>
              </a:xfrm>
              <a:prstGeom prst="roundRect">
                <a:avLst/>
              </a:prstGeom>
              <a:gradFill rotWithShape="true">
                <a:gsLst>
                  <a:gs pos="0">
                    <a:srgbClr val="3F51B5"/>
                  </a:gs>
                  <a:gs pos="100000">
                    <a:srgbClr val="2196F3"/>
                  </a:gs>
                </a:gsLst>
                <a:lin ang="5400000"/>
              </a:gra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406400"/>
                <a:ext cx="1841500" cy="1143000"/>
                <a:chOff x="0" y="0"/>
                <a:chExt cx="1841500" cy="11430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13335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↓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254000" y="660400"/>
                  <a:ext cx="13335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to bottom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2095500" y="0"/>
              <a:ext cx="1841500" cy="3695700"/>
              <a:chOff x="0" y="0"/>
              <a:chExt cx="1841500" cy="36957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To Right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0" y="406400"/>
                <a:ext cx="1841500" cy="1143000"/>
              </a:xfrm>
              <a:prstGeom prst="roundRect">
                <a:avLst/>
              </a:prstGeom>
              <a:gradFill rotWithShape="true">
                <a:gsLst>
                  <a:gs pos="0">
                    <a:srgbClr val="3F51B5"/>
                  </a:gs>
                  <a:gs pos="100000">
                    <a:srgbClr val="2196F3"/>
                  </a:gs>
                </a:gsLst>
                <a:lin ang="0"/>
              </a:gradFill>
              <a:ln>
                <a:noFill/>
              </a:ln>
            </p:spPr>
          </p:sp>
          <p:grpSp>
            <p:nvGrpSpPr>
              <p:cNvPr name="Group 13" id="13"/>
              <p:cNvGrpSpPr/>
              <p:nvPr/>
            </p:nvGrpSpPr>
            <p:grpSpPr>
              <a:xfrm>
                <a:off x="0" y="406400"/>
                <a:ext cx="1841500" cy="1143000"/>
                <a:chOff x="0" y="0"/>
                <a:chExt cx="1841500" cy="1143000"/>
              </a:xfrm>
            </p:grpSpPr>
            <p:sp>
              <p:nvSpPr>
                <p:cNvPr name="TextBox 14" id="14"/>
                <p:cNvSpPr txBox="true"/>
                <p:nvPr/>
              </p:nvSpPr>
              <p:spPr>
                <a:xfrm>
                  <a:off x="254000" y="254000"/>
                  <a:ext cx="13335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→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254000" y="660400"/>
                  <a:ext cx="13335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to right</a:t>
                  </a:r>
                </a:p>
              </p:txBody>
            </p:sp>
          </p:grpSp>
        </p:grpSp>
        <p:grpSp>
          <p:nvGrpSpPr>
            <p:cNvPr name="Group 16" id="16"/>
            <p:cNvGrpSpPr/>
            <p:nvPr/>
          </p:nvGrpSpPr>
          <p:grpSpPr>
            <a:xfrm>
              <a:off x="4191000" y="0"/>
              <a:ext cx="1841500" cy="3695700"/>
              <a:chOff x="0" y="0"/>
              <a:chExt cx="1841500" cy="3695700"/>
            </a:xfrm>
          </p:grpSpPr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To Top</a:t>
                </a:r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0" y="406400"/>
                <a:ext cx="1841500" cy="1143000"/>
              </a:xfrm>
              <a:prstGeom prst="roundRect">
                <a:avLst/>
              </a:prstGeom>
              <a:gradFill rotWithShape="true">
                <a:gsLst>
                  <a:gs pos="0">
                    <a:srgbClr val="3F51B5"/>
                  </a:gs>
                  <a:gs pos="100000">
                    <a:srgbClr val="2196F3"/>
                  </a:gs>
                </a:gsLst>
                <a:lin ang="16200000"/>
              </a:gradFill>
              <a:ln>
                <a:noFill/>
              </a:ln>
            </p:spPr>
          </p:sp>
          <p:grpSp>
            <p:nvGrpSpPr>
              <p:cNvPr name="Group 19" id="19"/>
              <p:cNvGrpSpPr/>
              <p:nvPr/>
            </p:nvGrpSpPr>
            <p:grpSpPr>
              <a:xfrm>
                <a:off x="0" y="406400"/>
                <a:ext cx="1841500" cy="1143000"/>
                <a:chOff x="0" y="0"/>
                <a:chExt cx="1841500" cy="1143000"/>
              </a:xfrm>
            </p:grpSpPr>
            <p:sp>
              <p:nvSpPr>
                <p:cNvPr name="TextBox 20" id="20"/>
                <p:cNvSpPr txBox="true"/>
                <p:nvPr/>
              </p:nvSpPr>
              <p:spPr>
                <a:xfrm>
                  <a:off x="254000" y="254000"/>
                  <a:ext cx="13335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↑</a:t>
                  </a:r>
                </a:p>
              </p:txBody>
            </p:sp>
            <p:sp>
              <p:nvSpPr>
                <p:cNvPr name="TextBox 21" id="21"/>
                <p:cNvSpPr txBox="true"/>
                <p:nvPr/>
              </p:nvSpPr>
              <p:spPr>
                <a:xfrm>
                  <a:off x="254000" y="660400"/>
                  <a:ext cx="13335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to top</a:t>
                  </a:r>
                </a:p>
              </p:txBody>
            </p:sp>
          </p:grpSp>
        </p:grpSp>
        <p:grpSp>
          <p:nvGrpSpPr>
            <p:cNvPr name="Group 22" id="22"/>
            <p:cNvGrpSpPr/>
            <p:nvPr/>
          </p:nvGrpSpPr>
          <p:grpSpPr>
            <a:xfrm>
              <a:off x="6286500" y="0"/>
              <a:ext cx="1841500" cy="3695700"/>
              <a:chOff x="0" y="0"/>
              <a:chExt cx="1841500" cy="3695700"/>
            </a:xfrm>
          </p:grpSpPr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To Left</a:t>
                </a:r>
              </a:p>
            </p:txBody>
          </p:sp>
          <p:sp>
            <p:nvSpPr>
              <p:cNvPr name="AutoShape 24" id="24"/>
              <p:cNvSpPr/>
              <p:nvPr/>
            </p:nvSpPr>
            <p:spPr>
              <a:xfrm>
                <a:off x="0" y="406400"/>
                <a:ext cx="1841500" cy="1143000"/>
              </a:xfrm>
              <a:prstGeom prst="roundRect">
                <a:avLst/>
              </a:prstGeom>
              <a:gradFill rotWithShape="true">
                <a:gsLst>
                  <a:gs pos="0">
                    <a:srgbClr val="3F51B5"/>
                  </a:gs>
                  <a:gs pos="100000">
                    <a:srgbClr val="2196F3"/>
                  </a:gs>
                </a:gsLst>
                <a:lin ang="10800000"/>
              </a:gradFill>
              <a:ln>
                <a:noFill/>
              </a:ln>
            </p:spPr>
          </p:sp>
          <p:grpSp>
            <p:nvGrpSpPr>
              <p:cNvPr name="Group 25" id="25"/>
              <p:cNvGrpSpPr/>
              <p:nvPr/>
            </p:nvGrpSpPr>
            <p:grpSpPr>
              <a:xfrm>
                <a:off x="0" y="406400"/>
                <a:ext cx="1841500" cy="1143000"/>
                <a:chOff x="0" y="0"/>
                <a:chExt cx="1841500" cy="1143000"/>
              </a:xfrm>
            </p:grpSpPr>
            <p:sp>
              <p:nvSpPr>
                <p:cNvPr name="TextBox 26" id="26"/>
                <p:cNvSpPr txBox="true"/>
                <p:nvPr/>
              </p:nvSpPr>
              <p:spPr>
                <a:xfrm>
                  <a:off x="254000" y="254000"/>
                  <a:ext cx="13335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←</a:t>
                  </a:r>
                </a:p>
              </p:txBody>
            </p:sp>
            <p:sp>
              <p:nvSpPr>
                <p:cNvPr name="TextBox 27" id="27"/>
                <p:cNvSpPr txBox="true"/>
                <p:nvPr/>
              </p:nvSpPr>
              <p:spPr>
                <a:xfrm>
                  <a:off x="254000" y="660400"/>
                  <a:ext cx="13335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to left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Angle Gradients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66800"/>
            <a:ext cx="8128000" cy="3695700"/>
            <a:chOff x="0" y="0"/>
            <a:chExt cx="8128000" cy="3695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2540000" cy="3695700"/>
              <a:chOff x="0" y="0"/>
              <a:chExt cx="2540000" cy="3695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45 Degrees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406400"/>
                <a:ext cx="2540000" cy="1143000"/>
              </a:xfrm>
              <a:prstGeom prst="roundRect">
                <a:avLst/>
              </a:prstGeom>
              <a:gradFill rotWithShape="true">
                <a:gsLst>
                  <a:gs pos="0">
                    <a:srgbClr val="FF9800"/>
                  </a:gs>
                  <a:gs pos="100000">
                    <a:srgbClr val="F44336"/>
                  </a:gs>
                </a:gsLst>
                <a:lin ang="18900000"/>
              </a:gra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406400"/>
                <a:ext cx="2540000" cy="1143000"/>
                <a:chOff x="0" y="0"/>
                <a:chExt cx="2540000" cy="11430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45°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254000" y="660400"/>
                  <a:ext cx="20320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Diagonal up-right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2794000" y="0"/>
              <a:ext cx="2540000" cy="3695700"/>
              <a:chOff x="0" y="0"/>
              <a:chExt cx="2540000" cy="36957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135 Degrees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0" y="406400"/>
                <a:ext cx="2540000" cy="1143000"/>
              </a:xfrm>
              <a:prstGeom prst="roundRect">
                <a:avLst/>
              </a:prstGeom>
              <a:gradFill rotWithShape="true">
                <a:gsLst>
                  <a:gs pos="0">
                    <a:srgbClr val="00BCD4"/>
                  </a:gs>
                  <a:gs pos="100000">
                    <a:srgbClr val="009688"/>
                  </a:gs>
                </a:gsLst>
                <a:lin ang="2700000"/>
              </a:gradFill>
              <a:ln>
                <a:noFill/>
              </a:ln>
            </p:spPr>
          </p:sp>
          <p:grpSp>
            <p:nvGrpSpPr>
              <p:cNvPr name="Group 13" id="13"/>
              <p:cNvGrpSpPr/>
              <p:nvPr/>
            </p:nvGrpSpPr>
            <p:grpSpPr>
              <a:xfrm>
                <a:off x="0" y="406400"/>
                <a:ext cx="2540000" cy="1143000"/>
                <a:chOff x="0" y="0"/>
                <a:chExt cx="2540000" cy="1143000"/>
              </a:xfrm>
            </p:grpSpPr>
            <p:sp>
              <p:nvSpPr>
                <p:cNvPr name="TextBox 14" id="14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135°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254000" y="660400"/>
                  <a:ext cx="20320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Diagonal down-right</a:t>
                  </a:r>
                </a:p>
              </p:txBody>
            </p:sp>
          </p:grpSp>
        </p:grpSp>
        <p:grpSp>
          <p:nvGrpSpPr>
            <p:cNvPr name="Group 16" id="16"/>
            <p:cNvGrpSpPr/>
            <p:nvPr/>
          </p:nvGrpSpPr>
          <p:grpSpPr>
            <a:xfrm>
              <a:off x="5588000" y="0"/>
              <a:ext cx="2540000" cy="3695700"/>
              <a:chOff x="0" y="0"/>
              <a:chExt cx="2540000" cy="3695700"/>
            </a:xfrm>
          </p:grpSpPr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To Bottom Right</a:t>
                </a:r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0" y="406400"/>
                <a:ext cx="2540000" cy="1143000"/>
              </a:xfrm>
              <a:prstGeom prst="roundRect">
                <a:avLst/>
              </a:prstGeom>
              <a:gradFill rotWithShape="true">
                <a:gsLst>
                  <a:gs pos="0">
                    <a:srgbClr val="673AB7"/>
                  </a:gs>
                  <a:gs pos="100000">
                    <a:srgbClr val="3F51B5"/>
                  </a:gs>
                </a:gsLst>
                <a:lin ang="2700000"/>
              </a:gradFill>
              <a:ln>
                <a:noFill/>
              </a:ln>
            </p:spPr>
          </p:sp>
          <p:grpSp>
            <p:nvGrpSpPr>
              <p:cNvPr name="Group 19" id="19"/>
              <p:cNvGrpSpPr/>
              <p:nvPr/>
            </p:nvGrpSpPr>
            <p:grpSpPr>
              <a:xfrm>
                <a:off x="0" y="406400"/>
                <a:ext cx="2540000" cy="1143000"/>
                <a:chOff x="0" y="0"/>
                <a:chExt cx="2540000" cy="1143000"/>
              </a:xfrm>
            </p:grpSpPr>
            <p:sp>
              <p:nvSpPr>
                <p:cNvPr name="TextBox 20" id="20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FFFFFF"/>
                      </a:solidFill>
                      <a:latin typeface="Microsoft YaHei"/>
                    </a:rPr>
                    <a:t>↘</a:t>
                  </a:r>
                </a:p>
              </p:txBody>
            </p:sp>
            <p:sp>
              <p:nvSpPr>
                <p:cNvPr name="TextBox 21" id="21"/>
                <p:cNvSpPr txBox="true"/>
                <p:nvPr/>
              </p:nvSpPr>
              <p:spPr>
                <a:xfrm>
                  <a:off x="254000" y="660400"/>
                  <a:ext cx="20320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latin typeface="Microsoft YaHei"/>
                    </a:rPr>
                    <a:t>to bottom right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Multi-Stop Gradients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66800"/>
            <a:ext cx="8128000" cy="1714500"/>
            <a:chOff x="0" y="0"/>
            <a:chExt cx="8128000" cy="17145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8128000" cy="1714500"/>
            </a:xfrm>
            <a:prstGeom prst="roundRect">
              <a:avLst/>
            </a:prstGeom>
            <a:gradFill rotWithShape="true">
              <a:gsLst>
                <a:gs pos="0">
                  <a:srgbClr val="FF0000"/>
                </a:gs>
                <a:gs pos="16667">
                  <a:srgbClr val="FF7F00"/>
                </a:gs>
                <a:gs pos="33333">
                  <a:srgbClr val="FFFF00"/>
                </a:gs>
                <a:gs pos="50000">
                  <a:srgbClr val="00FF00"/>
                </a:gs>
                <a:gs pos="66667">
                  <a:srgbClr val="0000FF"/>
                </a:gs>
                <a:gs pos="83333">
                  <a:srgbClr val="4B0082"/>
                </a:gs>
                <a:gs pos="100000">
                  <a:srgbClr val="9400D3"/>
                </a:gs>
              </a:gsLst>
              <a:lin ang="0"/>
            </a:gra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8128000" cy="1714500"/>
              <a:chOff x="0" y="0"/>
              <a:chExt cx="8128000" cy="17145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381000" y="381000"/>
                <a:ext cx="73660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true" i="false" u="none" sz="1600">
                    <a:solidFill>
                      <a:srgbClr val="FFFFFF"/>
                    </a:solidFill>
                    <a:latin typeface="Microsoft YaHei"/>
                  </a:rPr>
                  <a:t>Rainbow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381000" y="787400"/>
                <a:ext cx="7366000" cy="2159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false" i="false" u="none" sz="1200">
                    <a:latin typeface="Microsoft YaHei"/>
                  </a:rPr>
                  <a:t>7 color stops</a:t>
                </a: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>
            <a:off x="508000" y="3035300"/>
            <a:ext cx="8128000" cy="1727200"/>
            <a:chOff x="0" y="0"/>
            <a:chExt cx="8128000" cy="1727200"/>
          </a:xfrm>
        </p:grpSpPr>
        <p:sp>
          <p:nvSpPr>
            <p:cNvPr name="AutoShape 9" id="9"/>
            <p:cNvSpPr/>
            <p:nvPr/>
          </p:nvSpPr>
          <p:spPr>
            <a:xfrm>
              <a:off x="0" y="0"/>
              <a:ext cx="8128000" cy="1727200"/>
            </a:xfrm>
            <a:prstGeom prst="roundRect">
              <a:avLst/>
            </a:prstGeom>
            <a:gradFill rotWithShape="true">
              <a:gsLst>
                <a:gs pos="0">
                  <a:srgbClr val="FF512F"/>
                </a:gs>
                <a:gs pos="50000">
                  <a:srgbClr val="F09819"/>
                </a:gs>
                <a:gs pos="100000">
                  <a:srgbClr val="DD2476"/>
                </a:gs>
              </a:gsLst>
              <a:lin ang="5400000"/>
            </a:gradFill>
            <a:ln>
              <a:noFill/>
            </a:ln>
          </p:spPr>
        </p:sp>
        <p:grpSp>
          <p:nvGrpSpPr>
            <p:cNvPr name="Group 10" id="10"/>
            <p:cNvGrpSpPr/>
            <p:nvPr/>
          </p:nvGrpSpPr>
          <p:grpSpPr>
            <a:xfrm>
              <a:off x="0" y="0"/>
              <a:ext cx="8128000" cy="1727200"/>
              <a:chOff x="0" y="0"/>
              <a:chExt cx="8128000" cy="17272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381000" y="381000"/>
                <a:ext cx="7366000" cy="2921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true" i="false" u="none" sz="1600">
                    <a:solidFill>
                      <a:srgbClr val="FFFFFF"/>
                    </a:solidFill>
                    <a:latin typeface="Microsoft YaHei"/>
                  </a:rPr>
                  <a:t>Sunset</a:t>
                </a:r>
              </a:p>
            </p:txBody>
          </p:sp>
          <p:sp>
            <p:nvSpPr>
              <p:cNvPr name="TextBox 12" id="12"/>
              <p:cNvSpPr txBox="true"/>
              <p:nvPr/>
            </p:nvSpPr>
            <p:spPr>
              <a:xfrm>
                <a:off x="381000" y="787400"/>
                <a:ext cx="7366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false" i="false" u="none" sz="1200">
                    <a:latin typeface="Microsoft YaHei"/>
                  </a:rPr>
                  <a:t>3 color stops (vertical)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