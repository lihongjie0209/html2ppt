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Table Colspan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solidFill>
                  <a:srgbClr val="666666"/>
                </a:solidFill>
                <a:latin typeface="Microsoft YaHei"/>
              </a:rPr>
              <a:t>Basic colspan spanning multiple columns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803400"/>
          <a:ext cx="8128000" cy="1778000"/>
        </p:xfrm>
        <a:graphic>
          <a:graphicData uri="http://schemas.openxmlformats.org/drawingml/2006/table">
            <a:tbl>
              <a:tblPr/>
              <a:tblGrid>
                <a:gridCol w="2709333"/>
                <a:gridCol w="2709333"/>
                <a:gridCol w="2709333"/>
              </a:tblGrid>
              <a:tr h="254000">
                <a:tc gridSpan="3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Q1 2026 Sales Report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January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February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March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$10,000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$12,500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$15,000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grid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Jan-Feb Total: $22,500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March: $15,000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gridSpan="3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Q1 Total: $37,500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853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Table Rowspan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solidFill>
                  <a:srgbClr val="666666"/>
                </a:solidFill>
                <a:latin typeface="Microsoft YaHei"/>
              </a:rPr>
              <a:t>Basic rowspan spanning multiple rows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803400"/>
          <a:ext cx="8128000" cy="1778000"/>
        </p:xfrm>
        <a:graphic>
          <a:graphicData uri="http://schemas.openxmlformats.org/drawingml/2006/table">
            <a:tbl>
              <a:tblPr/>
              <a:tblGrid>
                <a:gridCol w="2709333"/>
                <a:gridCol w="2709333"/>
                <a:gridCol w="2709333"/>
              </a:tblGrid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Category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Product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Price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</a:tr>
              <a:tr h="254000">
                <a:tc row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latin typeface="Microsoft YaHei"/>
                        </a:rPr>
                        <a:t>Electronics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C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Laptop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$999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Phone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$699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row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latin typeface="Microsoft YaHei"/>
                        </a:rPr>
                        <a:t>Furniture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C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Desk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$299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Chair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$149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Combined Colspan + Rowspan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solidFill>
                  <a:srgbClr val="666666"/>
                </a:solidFill>
                <a:latin typeface="Microsoft YaHei"/>
              </a:rPr>
              <a:t>Complex table with both spanning types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803400"/>
          <a:ext cx="8128000" cy="24892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254000">
                <a:tc gridSpan="4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Annual Performance Review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Department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Q1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Q2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Total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</a:tr>
              <a:tr h="254000">
                <a:tc row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latin typeface="Microsoft YaHei"/>
                        </a:rPr>
                        <a:t>Sales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C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North: $50K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North: $60K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$240K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</a:tr>
              <a:tr h="2540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South: $55K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South: $75K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row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latin typeface="Microsoft YaHei"/>
                        </a:rPr>
                        <a:t>Marketing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C0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Online: $30K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Online: $35K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$140K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</a:tr>
              <a:tr h="254000"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Events: $40K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Events: $35K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gridSpan="3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Grand Total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853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$380K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8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Schedule Timetable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solidFill>
                  <a:srgbClr val="666666"/>
                </a:solidFill>
                <a:latin typeface="Microsoft YaHei"/>
              </a:rPr>
              <a:t>Using colspan for time blocks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803400"/>
          <a:ext cx="8128000" cy="17780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Time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Monday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Tuesday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Wednesday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9:00 AM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Team Meeting (2 days)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Design Review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11:00 AM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Code Review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Sprint Planning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Code Review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2:00 PM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Development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latin typeface="Microsoft YaHei"/>
                        </a:rPr>
                        <a:t>Client Workshop (2 days)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BC05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4:00 PM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Daily Standup (All Hands)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853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Invoice Table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solidFill>
                  <a:srgbClr val="666666"/>
                </a:solidFill>
                <a:latin typeface="Microsoft YaHei"/>
              </a:rPr>
              <a:t>Professional invoice with merged cells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803400"/>
          <a:ext cx="8128000" cy="2844800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  <a:gridCol w="2032000"/>
              </a:tblGrid>
              <a:tr h="254000">
                <a:tc gridSpan="4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Invoice #2026-001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285F4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Item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Qty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Unit Price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Amount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0FE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Web Development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40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$4,000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UI Design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20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$80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$1,600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Testing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10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$60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$600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gridSpan="3">
                  <a:txBody>
                    <a:bodyPr anchor="t" rtlCol="false"/>
                    <a:lstStyle/>
                    <a:p>
                      <a:pPr algn="r">
                        <a:defRPr/>
                      </a:pPr>
                      <a:r>
                        <a:rPr lang="en-US">
                          <a:latin typeface="Microsoft YaHei"/>
                        </a:rPr>
                        <a:t>Subtotal: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$6,200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gridSpan="3">
                  <a:txBody>
                    <a:bodyPr anchor="t" rtlCol="false"/>
                    <a:lstStyle/>
                    <a:p>
                      <a:pPr algn="r">
                        <a:defRPr/>
                      </a:pPr>
                      <a:r>
                        <a:rPr lang="en-US">
                          <a:latin typeface="Microsoft YaHei"/>
                        </a:rPr>
                        <a:t>Tax (10%):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>
                          <a:latin typeface="Microsoft YaHei"/>
                        </a:rPr>
                        <a:t>$620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 gridSpan="3">
                  <a:txBody>
                    <a:bodyPr anchor="t" rtlCol="false"/>
                    <a:lstStyle/>
                    <a:p>
                      <a:pPr algn="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Total: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853"/>
                    </a:solidFill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true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 b="true">
                          <a:solidFill>
                            <a:srgbClr val="FFFFFF"/>
                          </a:solidFill>
                          <a:latin typeface="Microsoft YaHei"/>
                        </a:rPr>
                        <a:t>$6,820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4A8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