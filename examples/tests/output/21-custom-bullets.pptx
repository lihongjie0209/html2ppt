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Default Bullet Styles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257300"/>
            <a:ext cx="8128000" cy="2006600"/>
            <a:chOff x="0" y="0"/>
            <a:chExt cx="8128000" cy="20066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810000" cy="2006600"/>
              <a:chOff x="0" y="0"/>
              <a:chExt cx="3810000" cy="20066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810000" cy="355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000">
                    <a:solidFill>
                      <a:srgbClr val="666666"/>
                    </a:solidFill>
                    <a:latin typeface="Microsoft YaHei"/>
                  </a:rPr>
                  <a:t>Unordered List (disc)</a:t>
                </a:r>
              </a:p>
            </p:txBody>
          </p:sp>
          <p:grpSp>
            <p:nvGrpSpPr>
              <p:cNvPr name="Group 6" id="6"/>
              <p:cNvGrpSpPr/>
              <p:nvPr/>
            </p:nvGrpSpPr>
            <p:grpSpPr>
              <a:xfrm>
                <a:off x="0" y="482600"/>
                <a:ext cx="3810000" cy="1270000"/>
                <a:chOff x="0" y="0"/>
                <a:chExt cx="3810000" cy="12700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0" y="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• First item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0" y="4191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• Second item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0" y="8382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• Third item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4318000" y="0"/>
              <a:ext cx="3810000" cy="2006600"/>
              <a:chOff x="0" y="0"/>
              <a:chExt cx="3810000" cy="20066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3810000" cy="355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000">
                    <a:solidFill>
                      <a:srgbClr val="666666"/>
                    </a:solidFill>
                    <a:latin typeface="Microsoft YaHei"/>
                  </a:rPr>
                  <a:t>Ordered List</a:t>
                </a:r>
              </a:p>
            </p:txBody>
          </p:sp>
          <p:grpSp>
            <p:nvGrpSpPr>
              <p:cNvPr name="Group 12" id="12"/>
              <p:cNvGrpSpPr/>
              <p:nvPr/>
            </p:nvGrpSpPr>
            <p:grpSpPr>
              <a:xfrm>
                <a:off x="0" y="482600"/>
                <a:ext cx="3810000" cy="1270000"/>
                <a:chOff x="0" y="0"/>
                <a:chExt cx="3810000" cy="1270000"/>
              </a:xfrm>
            </p:grpSpPr>
            <p:sp>
              <p:nvSpPr>
                <p:cNvPr name="TextBox 13" id="13"/>
                <p:cNvSpPr txBox="true"/>
                <p:nvPr/>
              </p:nvSpPr>
              <p:spPr>
                <a:xfrm>
                  <a:off x="0" y="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1. Step one</a:t>
                  </a:r>
                </a:p>
              </p:txBody>
            </p:sp>
            <p:sp>
              <p:nvSpPr>
                <p:cNvPr name="TextBox 14" id="14"/>
                <p:cNvSpPr txBox="true"/>
                <p:nvPr/>
              </p:nvSpPr>
              <p:spPr>
                <a:xfrm>
                  <a:off x="0" y="4191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2. Step two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0" y="8382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3. Step three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Circle and Square Bullets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257300"/>
            <a:ext cx="8128000" cy="2006600"/>
            <a:chOff x="0" y="0"/>
            <a:chExt cx="8128000" cy="20066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810000" cy="2006600"/>
              <a:chOff x="0" y="0"/>
              <a:chExt cx="3810000" cy="20066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810000" cy="355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000">
                    <a:solidFill>
                      <a:srgbClr val="666666"/>
                    </a:solidFill>
                    <a:latin typeface="Microsoft YaHei"/>
                  </a:rPr>
                  <a:t>Circle (○)</a:t>
                </a:r>
              </a:p>
            </p:txBody>
          </p:sp>
          <p:grpSp>
            <p:nvGrpSpPr>
              <p:cNvPr name="Group 6" id="6"/>
              <p:cNvGrpSpPr/>
              <p:nvPr/>
            </p:nvGrpSpPr>
            <p:grpSpPr>
              <a:xfrm>
                <a:off x="0" y="482600"/>
                <a:ext cx="3810000" cy="1270000"/>
                <a:chOff x="0" y="0"/>
                <a:chExt cx="3810000" cy="12700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0" y="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○ Hollow circle bullet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0" y="4191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○ Lighter visual weight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0" y="8382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○ Good for sub-items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4318000" y="0"/>
              <a:ext cx="3810000" cy="2006600"/>
              <a:chOff x="0" y="0"/>
              <a:chExt cx="3810000" cy="20066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3810000" cy="355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000">
                    <a:solidFill>
                      <a:srgbClr val="666666"/>
                    </a:solidFill>
                    <a:latin typeface="Microsoft YaHei"/>
                  </a:rPr>
                  <a:t>Square (▪)</a:t>
                </a:r>
              </a:p>
            </p:txBody>
          </p:sp>
          <p:grpSp>
            <p:nvGrpSpPr>
              <p:cNvPr name="Group 12" id="12"/>
              <p:cNvGrpSpPr/>
              <p:nvPr/>
            </p:nvGrpSpPr>
            <p:grpSpPr>
              <a:xfrm>
                <a:off x="0" y="482600"/>
                <a:ext cx="3810000" cy="1270000"/>
                <a:chOff x="0" y="0"/>
                <a:chExt cx="3810000" cy="1270000"/>
              </a:xfrm>
            </p:grpSpPr>
            <p:sp>
              <p:nvSpPr>
                <p:cNvPr name="TextBox 13" id="13"/>
                <p:cNvSpPr txBox="true"/>
                <p:nvPr/>
              </p:nvSpPr>
              <p:spPr>
                <a:xfrm>
                  <a:off x="0" y="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▪ Square bullet</a:t>
                  </a:r>
                </a:p>
              </p:txBody>
            </p:sp>
            <p:sp>
              <p:nvSpPr>
                <p:cNvPr name="TextBox 14" id="14"/>
                <p:cNvSpPr txBox="true"/>
                <p:nvPr/>
              </p:nvSpPr>
              <p:spPr>
                <a:xfrm>
                  <a:off x="0" y="4191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▪ More prominent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0" y="8382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▪ Professional look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Special Bullet Characters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257300"/>
            <a:ext cx="8128000" cy="2006600"/>
            <a:chOff x="0" y="0"/>
            <a:chExt cx="8128000" cy="20066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810000" cy="2006600"/>
              <a:chOff x="0" y="0"/>
              <a:chExt cx="3810000" cy="20066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810000" cy="355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000">
                    <a:solidFill>
                      <a:srgbClr val="666666"/>
                    </a:solidFill>
                    <a:latin typeface="Microsoft YaHei"/>
                  </a:rPr>
                  <a:t>Dash (—)</a:t>
                </a:r>
              </a:p>
            </p:txBody>
          </p:sp>
          <p:grpSp>
            <p:nvGrpSpPr>
              <p:cNvPr name="Group 6" id="6"/>
              <p:cNvGrpSpPr/>
              <p:nvPr/>
            </p:nvGrpSpPr>
            <p:grpSpPr>
              <a:xfrm>
                <a:off x="0" y="482600"/>
                <a:ext cx="3810000" cy="1270000"/>
                <a:chOff x="0" y="0"/>
                <a:chExt cx="3810000" cy="12700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0" y="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— Minimalist style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0" y="4191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— Clean and modern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0" y="8382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— Less visual clutter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4318000" y="0"/>
              <a:ext cx="3810000" cy="2006600"/>
              <a:chOff x="0" y="0"/>
              <a:chExt cx="3810000" cy="20066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3810000" cy="355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000">
                    <a:solidFill>
                      <a:srgbClr val="666666"/>
                    </a:solidFill>
                    <a:latin typeface="Microsoft YaHei"/>
                  </a:rPr>
                  <a:t>Arrow (→)</a:t>
                </a:r>
              </a:p>
            </p:txBody>
          </p:sp>
          <p:grpSp>
            <p:nvGrpSpPr>
              <p:cNvPr name="Group 12" id="12"/>
              <p:cNvGrpSpPr/>
              <p:nvPr/>
            </p:nvGrpSpPr>
            <p:grpSpPr>
              <a:xfrm>
                <a:off x="0" y="482600"/>
                <a:ext cx="3810000" cy="1270000"/>
                <a:chOff x="0" y="0"/>
                <a:chExt cx="3810000" cy="1270000"/>
              </a:xfrm>
            </p:grpSpPr>
            <p:sp>
              <p:nvSpPr>
                <p:cNvPr name="TextBox 13" id="13"/>
                <p:cNvSpPr txBox="true"/>
                <p:nvPr/>
              </p:nvSpPr>
              <p:spPr>
                <a:xfrm>
                  <a:off x="0" y="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→ Direction indicator</a:t>
                  </a:r>
                </a:p>
              </p:txBody>
            </p:sp>
            <p:sp>
              <p:nvSpPr>
                <p:cNvPr name="TextBox 14" id="14"/>
                <p:cNvSpPr txBox="true"/>
                <p:nvPr/>
              </p:nvSpPr>
              <p:spPr>
                <a:xfrm>
                  <a:off x="0" y="4191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→ Action items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0" y="8382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→ Next steps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Icons as Bullets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257300"/>
            <a:ext cx="8128000" cy="2006600"/>
            <a:chOff x="0" y="0"/>
            <a:chExt cx="8128000" cy="20066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810000" cy="2006600"/>
              <a:chOff x="0" y="0"/>
              <a:chExt cx="3810000" cy="20066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810000" cy="355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000">
                    <a:solidFill>
                      <a:srgbClr val="666666"/>
                    </a:solidFill>
                    <a:latin typeface="Microsoft YaHei"/>
                  </a:rPr>
                  <a:t>Checkmarks (✓)</a:t>
                </a:r>
              </a:p>
            </p:txBody>
          </p:sp>
          <p:grpSp>
            <p:nvGrpSpPr>
              <p:cNvPr name="Group 6" id="6"/>
              <p:cNvGrpSpPr/>
              <p:nvPr/>
            </p:nvGrpSpPr>
            <p:grpSpPr>
              <a:xfrm>
                <a:off x="0" y="482600"/>
                <a:ext cx="3810000" cy="1270000"/>
                <a:chOff x="0" y="0"/>
                <a:chExt cx="3810000" cy="12700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0" y="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✓ Completed task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0" y="4191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✓ Feature available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0" y="8382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✓ Requirement met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4318000" y="0"/>
              <a:ext cx="3810000" cy="2006600"/>
              <a:chOff x="0" y="0"/>
              <a:chExt cx="3810000" cy="20066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3810000" cy="355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true" i="false" u="none" sz="2000">
                    <a:solidFill>
                      <a:srgbClr val="666666"/>
                    </a:solidFill>
                    <a:latin typeface="Microsoft YaHei"/>
                  </a:rPr>
                  <a:t>Stars (★)</a:t>
                </a:r>
              </a:p>
            </p:txBody>
          </p:sp>
          <p:grpSp>
            <p:nvGrpSpPr>
              <p:cNvPr name="Group 12" id="12"/>
              <p:cNvGrpSpPr/>
              <p:nvPr/>
            </p:nvGrpSpPr>
            <p:grpSpPr>
              <a:xfrm>
                <a:off x="0" y="482600"/>
                <a:ext cx="3810000" cy="1270000"/>
                <a:chOff x="0" y="0"/>
                <a:chExt cx="3810000" cy="1270000"/>
              </a:xfrm>
            </p:grpSpPr>
            <p:sp>
              <p:nvSpPr>
                <p:cNvPr name="TextBox 13" id="13"/>
                <p:cNvSpPr txBox="true"/>
                <p:nvPr/>
              </p:nvSpPr>
              <p:spPr>
                <a:xfrm>
                  <a:off x="0" y="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★ Important point</a:t>
                  </a:r>
                </a:p>
              </p:txBody>
            </p:sp>
            <p:sp>
              <p:nvSpPr>
                <p:cNvPr name="TextBox 14" id="14"/>
                <p:cNvSpPr txBox="true"/>
                <p:nvPr/>
              </p:nvSpPr>
              <p:spPr>
                <a:xfrm>
                  <a:off x="0" y="4191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★ Key feature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0" y="838200"/>
                  <a:ext cx="38100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ea typeface="Microsoft YaHei"/>
                    </a:rPr>
                    <a:t>★ Highlight item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333333"/>
                </a:solidFill>
                <a:latin typeface="Microsoft YaHei"/>
              </a:rPr>
              <a:t>No Bullets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257300"/>
            <a:ext cx="8128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000">
                <a:solidFill>
                  <a:srgbClr val="666666"/>
                </a:solidFill>
                <a:latin typeface="Microsoft YaHei"/>
              </a:rPr>
              <a:t>list-style-type: none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508000" y="1739900"/>
            <a:ext cx="8128000" cy="1689100"/>
            <a:chOff x="0" y="0"/>
            <a:chExt cx="8128000" cy="1689100"/>
          </a:xfrm>
        </p:grpSpPr>
        <p:sp>
          <p:nvSpPr>
            <p:cNvPr name="TextBox 5" id="5"/>
            <p:cNvSpPr txBox="true"/>
            <p:nvPr/>
          </p:nvSpPr>
          <p:spPr>
            <a:xfrm>
              <a:off x="0" y="0"/>
              <a:ext cx="8128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800">
                  <a:latin typeface="Microsoft YaHei"/>
                </a:rPr>
                <a:t>Clean text without bullets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>
              <a:off x="0" y="419100"/>
              <a:ext cx="8128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800">
                  <a:latin typeface="Microsoft YaHei"/>
                </a:rPr>
                <a:t>Useful for custom layouts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>
              <a:off x="0" y="838200"/>
              <a:ext cx="8128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800">
                  <a:latin typeface="Microsoft YaHei"/>
                </a:rPr>
                <a:t>Or when bullets are distracting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>
              <a:off x="0" y="1257300"/>
              <a:ext cx="8128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800">
                  <a:latin typeface="Microsoft YaHei"/>
                </a:rPr>
                <a:t>Items still properly spaced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