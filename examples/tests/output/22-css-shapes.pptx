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CSS Circles (border-radius: 50%)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257300"/>
            <a:ext cx="8128000" cy="1651000"/>
            <a:chOff x="0" y="0"/>
            <a:chExt cx="8128000" cy="16510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270000" cy="1651000"/>
              <a:chOff x="0" y="0"/>
              <a:chExt cx="1270000" cy="16510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1270000" cy="12700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1397000"/>
                <a:ext cx="1193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Blue Circle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>
              <a:off x="1651000" y="0"/>
              <a:ext cx="1295400" cy="1651000"/>
              <a:chOff x="0" y="0"/>
              <a:chExt cx="1295400" cy="1651000"/>
            </a:xfrm>
          </p:grpSpPr>
          <p:sp>
            <p:nvSpPr>
              <p:cNvPr name="AutoShape 8" id="8"/>
              <p:cNvSpPr/>
              <p:nvPr/>
            </p:nvSpPr>
            <p:spPr>
              <a:xfrm>
                <a:off x="12700" y="0"/>
                <a:ext cx="1270000" cy="1270000"/>
              </a:xfrm>
              <a:prstGeom prst="ellipse">
                <a:avLst/>
              </a:prstGeom>
              <a:solidFill>
                <a:srgbClr val="34A853"/>
              </a:solidFill>
              <a:ln>
                <a:noFill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397000"/>
                <a:ext cx="13081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Green Circle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3327400" y="0"/>
              <a:ext cx="1409700" cy="1651000"/>
              <a:chOff x="0" y="0"/>
              <a:chExt cx="1409700" cy="16510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63500" y="0"/>
                <a:ext cx="1270000" cy="1270000"/>
              </a:xfrm>
              <a:prstGeom prst="ellipse">
                <a:avLst/>
              </a:prstGeom>
              <a:solidFill>
                <a:srgbClr val="FBBC05"/>
              </a:solidFill>
              <a:ln>
                <a:noFill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397000"/>
                <a:ext cx="14097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Yellow Circle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>
              <a:off x="5118100" y="0"/>
              <a:ext cx="1270000" cy="1651000"/>
              <a:chOff x="0" y="0"/>
              <a:chExt cx="1270000" cy="1651000"/>
            </a:xfrm>
          </p:grpSpPr>
          <p:sp>
            <p:nvSpPr>
              <p:cNvPr name="AutoShape 14" id="14"/>
              <p:cNvSpPr/>
              <p:nvPr/>
            </p:nvSpPr>
            <p:spPr>
              <a:xfrm>
                <a:off x="0" y="0"/>
                <a:ext cx="1270000" cy="1270000"/>
              </a:xfrm>
              <a:prstGeom prst="ellipse">
                <a:avLst/>
              </a:prstGeom>
              <a:solidFill>
                <a:srgbClr val="EA4335"/>
              </a:solidFill>
              <a:ln>
                <a:noFill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88900" y="1397000"/>
                <a:ext cx="10922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Red Circle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10033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CSS Ellipses (border-radius: 50% on rectangles)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752600"/>
            <a:ext cx="8128000" cy="2286000"/>
            <a:chOff x="0" y="0"/>
            <a:chExt cx="8128000" cy="22860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444500"/>
              <a:ext cx="1943100" cy="1397000"/>
              <a:chOff x="0" y="0"/>
              <a:chExt cx="1943100" cy="13970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12700" y="0"/>
                <a:ext cx="1905000" cy="1016000"/>
              </a:xfrm>
              <a:prstGeom prst="ellipse">
                <a:avLst/>
              </a:prstGeom>
              <a:solidFill>
                <a:srgbClr val="667EEA"/>
              </a:solidFill>
              <a:ln>
                <a:noFill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143000"/>
                <a:ext cx="19431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Horizontal Ellipse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>
              <a:off x="2324100" y="0"/>
              <a:ext cx="1714500" cy="2286000"/>
              <a:chOff x="0" y="0"/>
              <a:chExt cx="1714500" cy="2286000"/>
            </a:xfrm>
          </p:grpSpPr>
          <p:sp>
            <p:nvSpPr>
              <p:cNvPr name="AutoShape 8" id="8"/>
              <p:cNvSpPr/>
              <p:nvPr/>
            </p:nvSpPr>
            <p:spPr>
              <a:xfrm>
                <a:off x="355600" y="0"/>
                <a:ext cx="1016000" cy="1905000"/>
              </a:xfrm>
              <a:prstGeom prst="ellipse">
                <a:avLst/>
              </a:prstGeom>
              <a:solidFill>
                <a:srgbClr val="764BA2"/>
              </a:solidFill>
              <a:ln>
                <a:noFill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2032000"/>
                <a:ext cx="17399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Vertical Ellipse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4419600" y="317500"/>
              <a:ext cx="2540000" cy="1651000"/>
              <a:chOff x="0" y="0"/>
              <a:chExt cx="2540000" cy="16510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0" y="0"/>
                <a:ext cx="2540000" cy="1270000"/>
              </a:xfrm>
              <a:prstGeom prst="ellipse">
                <a:avLst/>
              </a:prstGeom>
              <a:gradFill rotWithShape="true">
                <a:gsLst>
                  <a:gs pos="0">
                    <a:srgbClr val="FF6B6B"/>
                  </a:gs>
                  <a:gs pos="100000">
                    <a:srgbClr val="FECA57"/>
                  </a:gs>
                </a:gsLst>
                <a:lin ang="0"/>
              </a:gradFill>
              <a:ln>
                <a:noFill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406400" y="1397000"/>
                <a:ext cx="17399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Gradient Ellipse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Rounded Rectangles (various radii)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257300"/>
            <a:ext cx="8128000" cy="1397000"/>
            <a:chOff x="0" y="0"/>
            <a:chExt cx="8128000" cy="13970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524000" cy="1397000"/>
              <a:chOff x="0" y="0"/>
              <a:chExt cx="1524000" cy="13970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1524000" cy="1016000"/>
              </a:xfrm>
              <a:prstGeom prst="roundRect">
                <a:avLst/>
              </a:prstGeom>
              <a:solidFill>
                <a:srgbClr val="4285F4"/>
              </a:solidFill>
              <a:ln>
                <a:noFill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215900" y="1143000"/>
                <a:ext cx="10922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8px radius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>
              <a:off x="1905000" y="0"/>
              <a:ext cx="1524000" cy="1397000"/>
              <a:chOff x="0" y="0"/>
              <a:chExt cx="1524000" cy="1397000"/>
            </a:xfrm>
          </p:grpSpPr>
          <p:sp>
            <p:nvSpPr>
              <p:cNvPr name="AutoShape 8" id="8"/>
              <p:cNvSpPr/>
              <p:nvPr/>
            </p:nvSpPr>
            <p:spPr>
              <a:xfrm>
                <a:off x="0" y="0"/>
                <a:ext cx="1524000" cy="1016000"/>
              </a:xfrm>
              <a:prstGeom prst="roundRect">
                <a:avLst/>
              </a:prstGeom>
              <a:solidFill>
                <a:srgbClr val="34A853"/>
              </a:solidFill>
              <a:ln>
                <a:noFill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65100" y="1143000"/>
                <a:ext cx="1193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16px radius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3810000" y="0"/>
              <a:ext cx="1524000" cy="1397000"/>
              <a:chOff x="0" y="0"/>
              <a:chExt cx="1524000" cy="13970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0" y="0"/>
                <a:ext cx="1524000" cy="1016000"/>
              </a:xfrm>
              <a:prstGeom prst="roundRect">
                <a:avLst/>
              </a:prstGeom>
              <a:solidFill>
                <a:srgbClr val="FBBC05"/>
              </a:solidFill>
              <a:ln>
                <a:noFill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65100" y="1143000"/>
                <a:ext cx="1193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24px radius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>
              <a:off x="5715000" y="0"/>
              <a:ext cx="1524000" cy="1397000"/>
              <a:chOff x="0" y="0"/>
              <a:chExt cx="1524000" cy="1397000"/>
            </a:xfrm>
          </p:grpSpPr>
          <p:sp>
            <p:nvSpPr>
              <p:cNvPr name="AutoShape 14" id="14"/>
              <p:cNvSpPr/>
              <p:nvPr/>
            </p:nvSpPr>
            <p:spPr>
              <a:xfrm>
                <a:off x="0" y="0"/>
                <a:ext cx="1524000" cy="1016000"/>
              </a:xfrm>
              <a:prstGeom prst="ellipse">
                <a:avLst/>
              </a:prstGeom>
              <a:solidFill>
                <a:srgbClr val="EA4335"/>
              </a:solidFill>
              <a:ln>
                <a:noFill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65100" y="1143000"/>
                <a:ext cx="1193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40px radius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Pills and Badges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257300"/>
            <a:ext cx="8128000" cy="889000"/>
            <a:chOff x="0" y="0"/>
            <a:chExt cx="8128000" cy="8890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270000" cy="889000"/>
              <a:chOff x="0" y="0"/>
              <a:chExt cx="1270000" cy="8890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1270000" cy="5080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1270000" cy="508000"/>
                <a:chOff x="0" y="0"/>
                <a:chExt cx="1270000" cy="5080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304800" y="127000"/>
                  <a:ext cx="660400" cy="254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solidFill>
                        <a:srgbClr val="FFFFFF"/>
                      </a:solidFill>
                      <a:latin typeface="Microsoft YaHei"/>
                    </a:rPr>
                    <a:t>Button</a:t>
                  </a:r>
                </a:p>
              </p:txBody>
            </p:sp>
          </p:grpSp>
          <p:sp>
            <p:nvSpPr>
              <p:cNvPr name="TextBox 8" id="8"/>
              <p:cNvSpPr txBox="true"/>
              <p:nvPr/>
            </p:nvSpPr>
            <p:spPr>
              <a:xfrm>
                <a:off x="38100" y="635000"/>
                <a:ext cx="1193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Pill Button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>
              <a:off x="1651000" y="63500"/>
              <a:ext cx="546100" cy="762000"/>
              <a:chOff x="0" y="0"/>
              <a:chExt cx="546100" cy="762000"/>
            </a:xfrm>
          </p:grpSpPr>
          <p:sp>
            <p:nvSpPr>
              <p:cNvPr name="AutoShape 10" id="10"/>
              <p:cNvSpPr/>
              <p:nvPr/>
            </p:nvSpPr>
            <p:spPr>
              <a:xfrm>
                <a:off x="88900" y="0"/>
                <a:ext cx="381000" cy="381000"/>
              </a:xfrm>
              <a:prstGeom prst="ellipse">
                <a:avLst/>
              </a:prstGeom>
              <a:solidFill>
                <a:srgbClr val="EA4335"/>
              </a:solidFill>
              <a:ln>
                <a:noFill/>
              </a:ln>
            </p:spPr>
          </p:sp>
          <p:grpSp>
            <p:nvGrpSpPr>
              <p:cNvPr name="Group 11" id="11"/>
              <p:cNvGrpSpPr/>
              <p:nvPr/>
            </p:nvGrpSpPr>
            <p:grpSpPr>
              <a:xfrm>
                <a:off x="88900" y="0"/>
                <a:ext cx="381000" cy="381000"/>
                <a:chOff x="0" y="0"/>
                <a:chExt cx="381000" cy="381000"/>
              </a:xfrm>
            </p:grpSpPr>
            <p:sp>
              <p:nvSpPr>
                <p:cNvPr name="TextBox 12" id="12"/>
                <p:cNvSpPr txBox="true"/>
                <p:nvPr/>
              </p:nvSpPr>
              <p:spPr>
                <a:xfrm>
                  <a:off x="127000" y="63500"/>
                  <a:ext cx="139700" cy="254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solidFill>
                        <a:srgbClr val="FFFFFF"/>
                      </a:solidFill>
                      <a:latin typeface="Microsoft YaHei"/>
                    </a:rPr>
                    <a:t>5</a:t>
                  </a:r>
                </a:p>
              </p:txBody>
            </p:sp>
          </p:grpSp>
          <p:sp>
            <p:nvSpPr>
              <p:cNvPr name="TextBox 13" id="13"/>
              <p:cNvSpPr txBox="true"/>
              <p:nvPr/>
            </p:nvSpPr>
            <p:spPr>
              <a:xfrm>
                <a:off x="0" y="508000"/>
                <a:ext cx="558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Badge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>
              <a:off x="2578100" y="101600"/>
              <a:ext cx="1092200" cy="685800"/>
              <a:chOff x="0" y="0"/>
              <a:chExt cx="1092200" cy="685800"/>
            </a:xfrm>
          </p:grpSpPr>
          <p:sp>
            <p:nvSpPr>
              <p:cNvPr name="AutoShape 15" id="15"/>
              <p:cNvSpPr/>
              <p:nvPr/>
            </p:nvSpPr>
            <p:spPr>
              <a:xfrm>
                <a:off x="38100" y="0"/>
                <a:ext cx="1016000" cy="304800"/>
              </a:xfrm>
              <a:prstGeom prst="ellipse">
                <a:avLst/>
              </a:prstGeom>
              <a:solidFill>
                <a:srgbClr val="34A853"/>
              </a:solidFill>
              <a:ln>
                <a:noFill/>
              </a:ln>
            </p:spPr>
          </p:sp>
          <p:grpSp>
            <p:nvGrpSpPr>
              <p:cNvPr name="Group 16" id="16"/>
              <p:cNvGrpSpPr/>
              <p:nvPr/>
            </p:nvGrpSpPr>
            <p:grpSpPr>
              <a:xfrm>
                <a:off x="38100" y="0"/>
                <a:ext cx="1016000" cy="304800"/>
                <a:chOff x="0" y="0"/>
                <a:chExt cx="1016000" cy="304800"/>
              </a:xfrm>
            </p:grpSpPr>
            <p:sp>
              <p:nvSpPr>
                <p:cNvPr name="TextBox 17" id="17"/>
                <p:cNvSpPr txBox="true"/>
                <p:nvPr/>
              </p:nvSpPr>
              <p:spPr>
                <a:xfrm>
                  <a:off x="215900" y="38100"/>
                  <a:ext cx="5842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FFFFFF"/>
                      </a:solidFill>
                      <a:latin typeface="Microsoft YaHei"/>
                    </a:rPr>
                    <a:t>Active</a:t>
                  </a:r>
                </a:p>
              </p:txBody>
            </p:sp>
          </p:grpSp>
          <p:sp>
            <p:nvSpPr>
              <p:cNvPr name="TextBox 18" id="18"/>
              <p:cNvSpPr txBox="true"/>
              <p:nvPr/>
            </p:nvSpPr>
            <p:spPr>
              <a:xfrm>
                <a:off x="0" y="431800"/>
                <a:ext cx="10922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Status Tag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Styled Circles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257300"/>
            <a:ext cx="8128000" cy="1651000"/>
            <a:chOff x="0" y="0"/>
            <a:chExt cx="8128000" cy="16510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612900" cy="1651000"/>
              <a:chOff x="0" y="0"/>
              <a:chExt cx="1612900" cy="16510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177800" y="0"/>
                <a:ext cx="1270000" cy="12700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4285F4"/>
                </a:solidFill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397000"/>
                <a:ext cx="16256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Bordered Circle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>
              <a:off x="1993900" y="0"/>
              <a:ext cx="1409700" cy="1651000"/>
              <a:chOff x="0" y="0"/>
              <a:chExt cx="1409700" cy="1651000"/>
            </a:xfrm>
          </p:grpSpPr>
          <p:sp>
            <p:nvSpPr>
              <p:cNvPr name="AutoShape 8" id="8"/>
              <p:cNvSpPr/>
              <p:nvPr/>
            </p:nvSpPr>
            <p:spPr>
              <a:xfrm>
                <a:off x="63500" y="0"/>
                <a:ext cx="1270000" cy="1270000"/>
              </a:xfrm>
              <a:prstGeom prst="ellipse">
                <a:avLst/>
              </a:prstGeom>
              <a:solidFill>
                <a:srgbClr val="667EEA"/>
              </a:solidFill>
              <a:ln>
                <a:noFill/>
              </a:ln>
              <a:effectLst>
                <a:outerShdw dist="71842" dir="2700000" blurRad="15240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397000"/>
                <a:ext cx="14097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Shadow Circle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3784600" y="0"/>
              <a:ext cx="1727200" cy="1651000"/>
              <a:chOff x="0" y="0"/>
              <a:chExt cx="1727200" cy="16510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228600" y="0"/>
                <a:ext cx="1270000" cy="1270000"/>
              </a:xfrm>
              <a:prstGeom prst="ellipse">
                <a:avLst/>
              </a:prstGeom>
              <a:solidFill>
                <a:srgbClr val="4285F4">
                  <a:alpha val="50196"/>
                </a:srgbClr>
              </a:solidFill>
              <a:ln>
                <a:noFill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397000"/>
                <a:ext cx="17272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Semi-transparent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>
              <a:off x="5892800" y="0"/>
              <a:ext cx="1828800" cy="1651000"/>
              <a:chOff x="0" y="0"/>
              <a:chExt cx="1828800" cy="1651000"/>
            </a:xfrm>
          </p:grpSpPr>
          <p:sp>
            <p:nvSpPr>
              <p:cNvPr name="AutoShape 14" id="14"/>
              <p:cNvSpPr/>
              <p:nvPr/>
            </p:nvSpPr>
            <p:spPr>
              <a:xfrm>
                <a:off x="279400" y="0"/>
                <a:ext cx="1270000" cy="1270000"/>
              </a:xfrm>
              <a:prstGeom prst="ellipse">
                <a:avLst/>
              </a:prstGeom>
              <a:gradFill rotWithShape="true">
                <a:gsLst>
                  <a:gs pos="0">
                    <a:srgbClr val="F093FB"/>
                  </a:gs>
                  <a:gs pos="100000">
                    <a:srgbClr val="F5576C"/>
                  </a:gs>
                </a:gsLst>
                <a:lin ang="2700000"/>
              </a:gradFill>
              <a:ln>
                <a:noFill/>
              </a:ln>
              <a:effectLst>
                <a:outerShdw dist="50800" dir="5400000" blurRad="190500">
                  <a:srgbClr val="F5576C">
                    <a:alpha val="40000"/>
                  </a:srgbClr>
                </a:outerShdw>
              </a:effectLst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397000"/>
                <a:ext cx="1841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999999"/>
                    </a:solidFill>
                    <a:latin typeface="Microsoft YaHei"/>
                  </a:rPr>
                  <a:t>Gradient + Shadow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